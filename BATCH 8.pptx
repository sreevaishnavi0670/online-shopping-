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 /><Relationship Id="rId2" Type="http://schemas.openxmlformats.org/package/2006/relationships/metadata/core-properties" Target="docProps/core.xml" /><Relationship Id="rId1"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7"/>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 /><Relationship Id="rId13" Type="http://schemas.openxmlformats.org/officeDocument/2006/relationships/slide" Target="slides/slide12.xml" /><Relationship Id="rId18" Type="http://schemas.openxmlformats.org/officeDocument/2006/relationships/presProps" Target="presProps.xml" /><Relationship Id="rId3" Type="http://schemas.openxmlformats.org/officeDocument/2006/relationships/slide" Target="slides/slide2.xml" /><Relationship Id="rId21" Type="http://schemas.openxmlformats.org/officeDocument/2006/relationships/tableStyles" Target="tableStyles.xml" /><Relationship Id="rId7" Type="http://schemas.openxmlformats.org/officeDocument/2006/relationships/slide" Target="slides/slide6.xml" /><Relationship Id="rId12" Type="http://schemas.openxmlformats.org/officeDocument/2006/relationships/slide" Target="slides/slide11.xml" /><Relationship Id="rId17" Type="http://schemas.openxmlformats.org/officeDocument/2006/relationships/notesMaster" Target="notesMasters/notesMaster1.xml" /><Relationship Id="rId2" Type="http://schemas.openxmlformats.org/officeDocument/2006/relationships/slide" Target="slides/slide1.xml" /><Relationship Id="rId16" Type="http://schemas.openxmlformats.org/officeDocument/2006/relationships/slide" Target="slides/slide15.xml" /><Relationship Id="rId20" Type="http://schemas.openxmlformats.org/officeDocument/2006/relationships/theme" Target="theme/theme1.xml" /><Relationship Id="rId1" Type="http://schemas.openxmlformats.org/officeDocument/2006/relationships/slideMaster" Target="slideMasters/slideMaster1.xml" /><Relationship Id="rId6" Type="http://schemas.openxmlformats.org/officeDocument/2006/relationships/slide" Target="slides/slide5.xml" /><Relationship Id="rId11" Type="http://schemas.openxmlformats.org/officeDocument/2006/relationships/slide" Target="slides/slide10.xml" /><Relationship Id="rId5" Type="http://schemas.openxmlformats.org/officeDocument/2006/relationships/slide" Target="slides/slide4.xml" /><Relationship Id="rId15" Type="http://schemas.openxmlformats.org/officeDocument/2006/relationships/slide" Target="slides/slide14.xml" /><Relationship Id="rId10" Type="http://schemas.openxmlformats.org/officeDocument/2006/relationships/slide" Target="slides/slide9.xml" /><Relationship Id="rId19" Type="http://schemas.openxmlformats.org/officeDocument/2006/relationships/viewProps" Target="viewProps.xml" /><Relationship Id="rId4" Type="http://schemas.openxmlformats.org/officeDocument/2006/relationships/slide" Target="slides/slide3.xml" /><Relationship Id="rId9" Type="http://schemas.openxmlformats.org/officeDocument/2006/relationships/slide" Target="slides/slide8.xml" /><Relationship Id="rId14" Type="http://schemas.openxmlformats.org/officeDocument/2006/relationships/slide" Target="slides/slide13.xml" /></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22885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2913063" y="0"/>
            <a:ext cx="2228850" cy="458788"/>
          </a:xfrm>
          <a:prstGeom prst="rect">
            <a:avLst/>
          </a:prstGeom>
        </p:spPr>
        <p:txBody>
          <a:bodyPr vert="horz" lIns="91440" tIns="45720" rIns="91440" bIns="45720" rtlCol="0"/>
          <a:lstStyle>
            <a:lvl1pPr algn="r">
              <a:defRPr sz="1200"/>
            </a:lvl1pPr>
          </a:lstStyle>
          <a:p>
            <a:fld id="{7D3FCC97-7733-474D-AEAC-63CD61950AAD}" type="datetimeFigureOut">
              <a:rPr lang="en-US" smtClean="0"/>
              <a:t>10/5/2026</a:t>
            </a:fld>
            <a:endParaRPr lang="en-US"/>
          </a:p>
        </p:txBody>
      </p:sp>
      <p:sp>
        <p:nvSpPr>
          <p:cNvPr id="4" name="Slide Image Placeholder 3"/>
          <p:cNvSpPr>
            <a:spLocks noGrp="1" noRot="1" noChangeAspect="1"/>
          </p:cNvSpPr>
          <p:nvPr>
            <p:ph type="sldImg" idx="2"/>
          </p:nvPr>
        </p:nvSpPr>
        <p:spPr>
          <a:xfrm>
            <a:off x="-17145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514350" y="4400550"/>
            <a:ext cx="41148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22885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2913063" y="8685213"/>
            <a:ext cx="2228850" cy="458787"/>
          </a:xfrm>
          <a:prstGeom prst="rect">
            <a:avLst/>
          </a:prstGeom>
        </p:spPr>
        <p:txBody>
          <a:bodyPr vert="horz" lIns="91440" tIns="45720" rIns="91440" bIns="45720" rtlCol="0" anchor="b"/>
          <a:lstStyle>
            <a:lvl1pPr algn="r">
              <a:defRPr sz="1200"/>
            </a:lvl1pPr>
          </a:lstStyle>
          <a:p>
            <a:fld id="{A516C0CB-8211-414B-AB95-2B5E81EAF2F3}" type="slidenum">
              <a:rPr lang="en-US" smtClean="0"/>
              <a:t>‹#›</a:t>
            </a:fld>
            <a:endParaRPr lang="en-US"/>
          </a:p>
        </p:txBody>
      </p:sp>
    </p:spTree>
    <p:extLst>
      <p:ext uri="{BB962C8B-B14F-4D97-AF65-F5344CB8AC3E}">
        <p14:creationId xmlns:p14="http://schemas.microsoft.com/office/powerpoint/2010/main" val="252402379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 /><Relationship Id="rId1" Type="http://schemas.openxmlformats.org/officeDocument/2006/relationships/notesMaster" Target="../notesMasters/notesMaster1.xml" /></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 /><Relationship Id="rId1" Type="http://schemas.openxmlformats.org/officeDocument/2006/relationships/notesMaster" Target="../notesMasters/notesMaster1.xml" /></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 /><Relationship Id="rId1" Type="http://schemas.openxmlformats.org/officeDocument/2006/relationships/notesMaster" Target="../notesMasters/notesMaster1.xml" /></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 /><Relationship Id="rId1" Type="http://schemas.openxmlformats.org/officeDocument/2006/relationships/notesMaster" Target="../notesMasters/notesMaster1.xml" /></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 /><Relationship Id="rId1" Type="http://schemas.openxmlformats.org/officeDocument/2006/relationships/notesMaster" Target="../notesMasters/notesMaster1.xml" /></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 /><Relationship Id="rId1" Type="http://schemas.openxmlformats.org/officeDocument/2006/relationships/notesMaster" Target="../notesMasters/notesMaster1.xml" /></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 /><Relationship Id="rId1" Type="http://schemas.openxmlformats.org/officeDocument/2006/relationships/notesMaster" Target="../notesMasters/notesMaster1.xml" /></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 /><Relationship Id="rId1" Type="http://schemas.openxmlformats.org/officeDocument/2006/relationships/notesMaster" Target="../notesMasters/notesMaster1.xml" /></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 /><Relationship Id="rId1" Type="http://schemas.openxmlformats.org/officeDocument/2006/relationships/notesMaster" Target="../notesMasters/notesMaster1.xml" /></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 /><Relationship Id="rId1" Type="http://schemas.openxmlformats.org/officeDocument/2006/relationships/notesMaster" Target="../notesMasters/notesMaster1.xml" /></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 /><Relationship Id="rId1" Type="http://schemas.openxmlformats.org/officeDocument/2006/relationships/notesMaster" Target="../notesMasters/notesMaster1.xml" /></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 /><Relationship Id="rId1" Type="http://schemas.openxmlformats.org/officeDocument/2006/relationships/notesMaster" Target="../notesMasters/notesMaster1.xml" /></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 /><Relationship Id="rId1" Type="http://schemas.openxmlformats.org/officeDocument/2006/relationships/notesMaster" Target="../notesMasters/notesMaster1.xml" /></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 /><Relationship Id="rId1" Type="http://schemas.openxmlformats.org/officeDocument/2006/relationships/notesMaster" Target="../notesMasters/notesMaster1.xml" /></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 /><Relationship Id="rId1" Type="http://schemas.openxmlformats.org/officeDocument/2006/relationships/notesMaster" Target="../notesMasters/notesMaster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2.jpeg" /><Relationship Id="rId2" Type="http://schemas.openxmlformats.org/officeDocument/2006/relationships/image" Target="../media/image1.png" /><Relationship Id="rId1" Type="http://schemas.openxmlformats.org/officeDocument/2006/relationships/slideMaster" Target="../slideMasters/slideMaster1.xml" /></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1.png" /><Relationship Id="rId2" Type="http://schemas.openxmlformats.org/officeDocument/2006/relationships/image" Target="../media/image3.jpeg" /><Relationship Id="rId1" Type="http://schemas.openxmlformats.org/officeDocument/2006/relationships/slideMaster" Target="../slideMasters/slideMaster1.xml" /></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CONTENT">
    <p:bg>
      <p:bgPr>
        <a:solidFill>
          <a:srgbClr val="FFFFFF"/>
        </a:solidFill>
        <a:effectLst/>
      </p:bgPr>
    </p:bg>
    <p:spTree>
      <p:nvGrpSpPr>
        <p:cNvPr id="1" name=""/>
        <p:cNvGrpSpPr/>
        <p:nvPr/>
      </p:nvGrpSpPr>
      <p:grpSpPr>
        <a:xfrm>
          <a:off x="0" y="0"/>
          <a:ext cx="0" cy="0"/>
          <a:chOff x="0" y="0"/>
          <a:chExt cx="0" cy="0"/>
        </a:xfrm>
      </p:grpSpPr>
      <p:pic>
        <p:nvPicPr>
          <p:cNvPr id="2" name="Image 0" descr="/home/claude/b7/ppt/media/image2.png"/>
          <p:cNvPicPr>
            <a:picLocks noChangeAspect="1"/>
          </p:cNvPicPr>
          <p:nvPr/>
        </p:nvPicPr>
        <p:blipFill>
          <a:blip r:embed="rId2"/>
          <a:stretch>
            <a:fillRect/>
          </a:stretch>
        </p:blipFill>
        <p:spPr>
          <a:xfrm>
            <a:off x="0" y="0"/>
            <a:ext cx="762610" cy="762610"/>
          </a:xfrm>
          <a:prstGeom prst="rect">
            <a:avLst/>
          </a:prstGeom>
        </p:spPr>
      </p:pic>
      <p:pic>
        <p:nvPicPr>
          <p:cNvPr id="3" name="Image 1" descr="/home/claude/b7/ppt/media/image3.jpeg"/>
          <p:cNvPicPr>
            <a:picLocks noChangeAspect="1"/>
          </p:cNvPicPr>
          <p:nvPr/>
        </p:nvPicPr>
        <p:blipFill>
          <a:blip r:embed="rId3"/>
          <a:stretch>
            <a:fillRect/>
          </a:stretch>
        </p:blipFill>
        <p:spPr>
          <a:xfrm>
            <a:off x="8318297" y="0"/>
            <a:ext cx="822960" cy="795528"/>
          </a:xfrm>
          <a:prstGeom prst="rect">
            <a:avLst/>
          </a:prstGeom>
        </p:spPr>
      </p:pic>
      <p:sp>
        <p:nvSpPr>
          <p:cNvPr id="4" name="Text 0"/>
          <p:cNvSpPr>
            <a:spLocks noGrp="1"/>
          </p:cNvSpPr>
          <p:nvPr>
            <p:ph type="title" idx="102" hasCustomPrompt="1"/>
          </p:nvPr>
        </p:nvSpPr>
        <p:spPr>
          <a:xfrm>
            <a:off x="868680" y="109728"/>
            <a:ext cx="7406640" cy="548640"/>
          </a:xfrm>
          <a:prstGeom prst="rect">
            <a:avLst/>
          </a:prstGeom>
          <a:noFill/>
          <a:ln/>
        </p:spPr>
        <p:txBody>
          <a:bodyPr wrap="square" rtlCol="0"/>
          <a:lstStyle>
            <a:lvl1pPr marL="0" indent="0" algn="ctr">
              <a:buNone/>
              <a:defRPr lang="en-US" sz="2400" b="1" dirty="0">
                <a:solidFill>
                  <a:srgbClr val="FF0000"/>
                </a:solidFill>
                <a:latin typeface="Arial" pitchFamily="34" charset="0"/>
                <a:ea typeface="Arial" pitchFamily="34" charset="-122"/>
                <a:cs typeface="Arial" pitchFamily="34" charset="-120"/>
              </a:defRPr>
            </a:lvl1pPr>
          </a:lstStyle>
          <a:p>
            <a:pPr marL="0" indent="0" algn="ctr">
              <a:buNone/>
            </a:pPr>
            <a:endParaRPr lang="en-US" sz="24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VER">
    <p:bg>
      <p:bgPr>
        <a:solidFill>
          <a:srgbClr val="FFFFFF"/>
        </a:solidFill>
        <a:effectLst/>
      </p:bgPr>
    </p:bg>
    <p:spTree>
      <p:nvGrpSpPr>
        <p:cNvPr id="1" name=""/>
        <p:cNvGrpSpPr/>
        <p:nvPr/>
      </p:nvGrpSpPr>
      <p:grpSpPr>
        <a:xfrm>
          <a:off x="0" y="0"/>
          <a:ext cx="0" cy="0"/>
          <a:chOff x="0" y="0"/>
          <a:chExt cx="0" cy="0"/>
        </a:xfrm>
      </p:grpSpPr>
      <p:pic>
        <p:nvPicPr>
          <p:cNvPr id="2" name="Image 0" descr="/home/claude/b7/ppt/media/image1.jpeg"/>
          <p:cNvPicPr>
            <a:picLocks noChangeAspect="1"/>
          </p:cNvPicPr>
          <p:nvPr/>
        </p:nvPicPr>
        <p:blipFill>
          <a:blip r:embed="rId2"/>
          <a:stretch>
            <a:fillRect/>
          </a:stretch>
        </p:blipFill>
        <p:spPr>
          <a:xfrm>
            <a:off x="0" y="0"/>
            <a:ext cx="4285793" cy="1156716"/>
          </a:xfrm>
          <a:prstGeom prst="rect">
            <a:avLst/>
          </a:prstGeom>
        </p:spPr>
      </p:pic>
      <p:pic>
        <p:nvPicPr>
          <p:cNvPr id="3" name="Image 1" descr="/home/claude/b7/ppt/media/image2.png"/>
          <p:cNvPicPr>
            <a:picLocks noChangeAspect="1"/>
          </p:cNvPicPr>
          <p:nvPr/>
        </p:nvPicPr>
        <p:blipFill>
          <a:blip r:embed="rId3"/>
          <a:stretch>
            <a:fillRect/>
          </a:stretch>
        </p:blipFill>
        <p:spPr>
          <a:xfrm>
            <a:off x="8275320" y="45720"/>
            <a:ext cx="822960" cy="813816"/>
          </a:xfrm>
          <a:prstGeom prst="rect">
            <a:avLst/>
          </a:prstGeom>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PLAIN">
    <p:bg>
      <p:bgPr>
        <a:solidFill>
          <a:srgbClr val="FFFFFF"/>
        </a:solidFill>
        <a:effectLst/>
      </p:bgPr>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 /><Relationship Id="rId2" Type="http://schemas.openxmlformats.org/officeDocument/2006/relationships/slideLayout" Target="../slideLayouts/slideLayout2.xml" /><Relationship Id="rId1" Type="http://schemas.openxmlformats.org/officeDocument/2006/relationships/slideLayout" Target="../slideLayouts/slideLayout1.xml" /><Relationship Id="rId5" Type="http://schemas.openxmlformats.org/officeDocument/2006/relationships/theme" Target="../theme/theme1.xml" /><Relationship Id="rId4" Type="http://schemas.openxmlformats.org/officeDocument/2006/relationships/slideLayout" Target="../slideLayouts/slideLayout4.xml" /></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 /><Relationship Id="rId1" Type="http://schemas.openxmlformats.org/officeDocument/2006/relationships/slideLayout" Target="../slideLayouts/slideLayout3.xml" /></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 /><Relationship Id="rId1" Type="http://schemas.openxmlformats.org/officeDocument/2006/relationships/slideLayout" Target="../slideLayouts/slideLayout2.xml" /></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 /><Relationship Id="rId1" Type="http://schemas.openxmlformats.org/officeDocument/2006/relationships/slideLayout" Target="../slideLayouts/slideLayout2.xml" /></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 /><Relationship Id="rId1" Type="http://schemas.openxmlformats.org/officeDocument/2006/relationships/slideLayout" Target="../slideLayouts/slideLayout2.xml" /></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 /><Relationship Id="rId1" Type="http://schemas.openxmlformats.org/officeDocument/2006/relationships/slideLayout" Target="../slideLayouts/slideLayout2.xml" /></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 /><Relationship Id="rId1" Type="http://schemas.openxmlformats.org/officeDocument/2006/relationships/slideLayout" Target="../slideLayouts/slideLayout2.xml" /></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 /><Relationship Id="rId1" Type="http://schemas.openxmlformats.org/officeDocument/2006/relationships/slideLayout" Target="../slideLayouts/slideLayout2.xml" /></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 /><Relationship Id="rId1" Type="http://schemas.openxmlformats.org/officeDocument/2006/relationships/slideLayout" Target="../slideLayouts/slideLayout2.xml" /></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 /><Relationship Id="rId1" Type="http://schemas.openxmlformats.org/officeDocument/2006/relationships/slideLayout" Target="../slideLayouts/slideLayout2.xml" /></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 /><Relationship Id="rId1" Type="http://schemas.openxmlformats.org/officeDocument/2006/relationships/slideLayout" Target="../slideLayouts/slideLayout2.xml" /></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 /><Relationship Id="rId1" Type="http://schemas.openxmlformats.org/officeDocument/2006/relationships/slideLayout" Target="../slideLayouts/slideLayout2.xml" /></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 /><Relationship Id="rId1" Type="http://schemas.openxmlformats.org/officeDocument/2006/relationships/slideLayout" Target="../slideLayouts/slideLayout2.xml" /></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 /><Relationship Id="rId1" Type="http://schemas.openxmlformats.org/officeDocument/2006/relationships/slideLayout" Target="../slideLayouts/slideLayout2.xml" /></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 /><Relationship Id="rId1" Type="http://schemas.openxmlformats.org/officeDocument/2006/relationships/slideLayout" Target="../slideLayouts/slideLayout2.xml" /></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 /><Relationship Id="rId1" Type="http://schemas.openxmlformats.org/officeDocument/2006/relationships/slideLayout" Target="../slideLayouts/slideLayout4.xml" /></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txBox="1"/>
          <p:nvPr/>
        </p:nvSpPr>
        <p:spPr>
          <a:xfrm>
            <a:off x="274320" y="1298448"/>
            <a:ext cx="8595360" cy="457200"/>
          </a:xfrm>
          <a:prstGeom prst="rect">
            <a:avLst/>
          </a:prstGeom>
          <a:noFill/>
          <a:ln/>
        </p:spPr>
        <p:txBody>
          <a:bodyPr wrap="square" lIns="0" tIns="0" rIns="0" bIns="0" rtlCol="0" anchor="ctr"/>
          <a:lstStyle/>
          <a:p>
            <a:pPr marL="0" indent="0" algn="ctr">
              <a:buNone/>
            </a:pPr>
            <a:r>
              <a:rPr lang="en-US" sz="2400" dirty="0">
                <a:solidFill>
                  <a:srgbClr val="104A9E"/>
                </a:solidFill>
                <a:latin typeface="Arial" pitchFamily="34" charset="0"/>
                <a:ea typeface="Arial" pitchFamily="34" charset="-122"/>
                <a:cs typeface="Arial" pitchFamily="34" charset="-120"/>
              </a:rPr>
              <a:t>AGI1242 – MACHINE LEARNING TECHNIQUES</a:t>
            </a:r>
            <a:endParaRPr lang="en-US" sz="2400" dirty="0"/>
          </a:p>
        </p:txBody>
      </p:sp>
      <p:sp>
        <p:nvSpPr>
          <p:cNvPr id="3" name="Text 1"/>
          <p:cNvSpPr txBox="1"/>
          <p:nvPr/>
        </p:nvSpPr>
        <p:spPr>
          <a:xfrm>
            <a:off x="274320" y="1874520"/>
            <a:ext cx="8595360" cy="731520"/>
          </a:xfrm>
          <a:prstGeom prst="rect">
            <a:avLst/>
          </a:prstGeom>
          <a:noFill/>
          <a:ln/>
        </p:spPr>
        <p:txBody>
          <a:bodyPr wrap="square" lIns="0" tIns="0" rIns="0" bIns="0" rtlCol="0" anchor="ctr"/>
          <a:lstStyle/>
          <a:p>
            <a:pPr marL="0" indent="0" algn="ctr">
              <a:buNone/>
            </a:pPr>
            <a:r>
              <a:rPr lang="en-US" sz="2000" b="1" dirty="0">
                <a:solidFill>
                  <a:srgbClr val="FF0000"/>
                </a:solidFill>
                <a:latin typeface="Times New Roman" pitchFamily="34" charset="0"/>
                <a:ea typeface="Times New Roman" pitchFamily="34" charset="-122"/>
                <a:cs typeface="Times New Roman" pitchFamily="34" charset="-120"/>
              </a:rPr>
              <a:t>Department of Artificial Intelligence and Data Science</a:t>
            </a:r>
            <a:endParaRPr lang="en-US" sz="2000" dirty="0"/>
          </a:p>
          <a:p>
            <a:pPr marL="0" indent="0" algn="ctr">
              <a:buNone/>
            </a:pPr>
            <a:r>
              <a:rPr lang="en-US" sz="2000" b="1" dirty="0">
                <a:solidFill>
                  <a:srgbClr val="FF0000"/>
                </a:solidFill>
                <a:latin typeface="Times New Roman" pitchFamily="34" charset="0"/>
                <a:ea typeface="Times New Roman" pitchFamily="34" charset="-122"/>
                <a:cs typeface="Times New Roman" pitchFamily="34" charset="-120"/>
              </a:rPr>
              <a:t>Academic Year: 2026 – 2027 (Odd Semester)</a:t>
            </a:r>
            <a:endParaRPr lang="en-US" sz="2000" dirty="0"/>
          </a:p>
        </p:txBody>
      </p:sp>
      <p:sp>
        <p:nvSpPr>
          <p:cNvPr id="4" name="Text 2"/>
          <p:cNvSpPr txBox="1"/>
          <p:nvPr/>
        </p:nvSpPr>
        <p:spPr>
          <a:xfrm>
            <a:off x="274320" y="2743200"/>
            <a:ext cx="8595360" cy="411480"/>
          </a:xfrm>
          <a:prstGeom prst="rect">
            <a:avLst/>
          </a:prstGeom>
          <a:noFill/>
          <a:ln/>
        </p:spPr>
        <p:txBody>
          <a:bodyPr wrap="square" lIns="0" tIns="0" rIns="0" bIns="0" rtlCol="0" anchor="ctr"/>
          <a:lstStyle/>
          <a:p>
            <a:pPr marL="0" indent="0" algn="ctr">
              <a:buNone/>
            </a:pPr>
            <a:r>
              <a:rPr lang="en-US" sz="2200" b="1" dirty="0">
                <a:solidFill>
                  <a:srgbClr val="000000"/>
                </a:solidFill>
                <a:latin typeface="Arial" pitchFamily="34" charset="0"/>
                <a:ea typeface="Arial" pitchFamily="34" charset="-122"/>
                <a:cs typeface="Arial" pitchFamily="34" charset="-120"/>
              </a:rPr>
              <a:t>Online Shopping Purchase Prediction</a:t>
            </a:r>
            <a:endParaRPr lang="en-US" sz="2200" dirty="0"/>
          </a:p>
        </p:txBody>
      </p:sp>
      <p:sp>
        <p:nvSpPr>
          <p:cNvPr id="5" name="Text 3"/>
          <p:cNvSpPr txBox="1"/>
          <p:nvPr/>
        </p:nvSpPr>
        <p:spPr>
          <a:xfrm>
            <a:off x="182880" y="3310128"/>
            <a:ext cx="4754880" cy="1737360"/>
          </a:xfrm>
          <a:prstGeom prst="rect">
            <a:avLst/>
          </a:prstGeom>
          <a:noFill/>
          <a:ln/>
        </p:spPr>
        <p:txBody>
          <a:bodyPr wrap="square" lIns="0" tIns="0" rIns="0" bIns="0" rtlCol="0" anchor="t"/>
          <a:lstStyle/>
          <a:p>
            <a:pPr marL="0" indent="0">
              <a:spcAft>
                <a:spcPts val="300"/>
              </a:spcAft>
              <a:buNone/>
            </a:pPr>
            <a:r>
              <a:rPr lang="en-US" sz="1400" b="1" dirty="0">
                <a:solidFill>
                  <a:srgbClr val="000000"/>
                </a:solidFill>
                <a:latin typeface="Arial" pitchFamily="34" charset="0"/>
                <a:ea typeface="Arial" pitchFamily="34" charset="-122"/>
                <a:cs typeface="Arial" pitchFamily="34" charset="-120"/>
              </a:rPr>
              <a:t>PRESENTED BY</a:t>
            </a:r>
            <a:endParaRPr lang="en-US" sz="1400" dirty="0"/>
          </a:p>
          <a:p>
            <a:pPr marL="0" indent="0">
              <a:spcAft>
                <a:spcPts val="300"/>
              </a:spcAft>
              <a:buNone/>
            </a:pPr>
            <a:r>
              <a:rPr lang="en-US" sz="1400" b="1" dirty="0">
                <a:solidFill>
                  <a:srgbClr val="000000"/>
                </a:solidFill>
                <a:latin typeface="Arial" pitchFamily="34" charset="0"/>
                <a:ea typeface="Arial" pitchFamily="34" charset="-122"/>
                <a:cs typeface="Arial" pitchFamily="34" charset="-120"/>
              </a:rPr>
              <a:t>2503811724322064-NABITHRHA R</a:t>
            </a:r>
            <a:endParaRPr lang="en-US" sz="1400" dirty="0"/>
          </a:p>
          <a:p>
            <a:pPr marL="0" indent="0">
              <a:spcAft>
                <a:spcPts val="300"/>
              </a:spcAft>
              <a:buNone/>
            </a:pPr>
            <a:r>
              <a:rPr lang="en-US" sz="1400" b="1" dirty="0">
                <a:solidFill>
                  <a:srgbClr val="000000"/>
                </a:solidFill>
                <a:latin typeface="Arial" pitchFamily="34" charset="0"/>
                <a:ea typeface="Arial" pitchFamily="34" charset="-122"/>
                <a:cs typeface="Arial" pitchFamily="34" charset="-120"/>
              </a:rPr>
              <a:t>2503811724322068-NITHIKA S</a:t>
            </a:r>
            <a:endParaRPr lang="en-US" sz="1400" dirty="0"/>
          </a:p>
          <a:p>
            <a:pPr marL="0" indent="0">
              <a:spcAft>
                <a:spcPts val="300"/>
              </a:spcAft>
              <a:buNone/>
            </a:pPr>
            <a:r>
              <a:rPr lang="en-US" sz="1400" b="1" dirty="0">
                <a:solidFill>
                  <a:srgbClr val="000000"/>
                </a:solidFill>
                <a:latin typeface="Arial" pitchFamily="34" charset="0"/>
                <a:ea typeface="Arial" pitchFamily="34" charset="-122"/>
                <a:cs typeface="Arial" pitchFamily="34" charset="-120"/>
              </a:rPr>
              <a:t>2503811724322078-PRIYA DHARSHINI D</a:t>
            </a:r>
            <a:endParaRPr lang="en-US" sz="1400" dirty="0"/>
          </a:p>
          <a:p>
            <a:pPr marL="0" indent="0">
              <a:spcAft>
                <a:spcPts val="300"/>
              </a:spcAft>
              <a:buNone/>
            </a:pPr>
            <a:r>
              <a:rPr lang="en-US" sz="1400" b="1" dirty="0">
                <a:solidFill>
                  <a:srgbClr val="000000"/>
                </a:solidFill>
                <a:latin typeface="Arial" pitchFamily="34" charset="0"/>
                <a:ea typeface="Arial" pitchFamily="34" charset="-122"/>
                <a:cs typeface="Arial" pitchFamily="34" charset="-120"/>
              </a:rPr>
              <a:t>2503811724322080-PUGAZH A</a:t>
            </a:r>
            <a:endParaRPr lang="en-US" sz="1400" dirty="0"/>
          </a:p>
          <a:p>
            <a:pPr marL="0" indent="0">
              <a:spcAft>
                <a:spcPts val="300"/>
              </a:spcAft>
              <a:buNone/>
            </a:pPr>
            <a:r>
              <a:rPr lang="en-US" sz="1400" b="1" dirty="0">
                <a:solidFill>
                  <a:srgbClr val="000000"/>
                </a:solidFill>
                <a:latin typeface="Arial" pitchFamily="34" charset="0"/>
                <a:ea typeface="Arial" pitchFamily="34" charset="-122"/>
                <a:cs typeface="Arial" pitchFamily="34" charset="-120"/>
              </a:rPr>
              <a:t>2503811724322103-SREEVAISHNAVI V</a:t>
            </a:r>
            <a:endParaRPr lang="en-US" sz="1400" dirty="0"/>
          </a:p>
        </p:txBody>
      </p:sp>
      <p:sp>
        <p:nvSpPr>
          <p:cNvPr id="6" name="Text 4"/>
          <p:cNvSpPr txBox="1"/>
          <p:nvPr/>
        </p:nvSpPr>
        <p:spPr>
          <a:xfrm>
            <a:off x="4846320" y="3611880"/>
            <a:ext cx="4114800" cy="914400"/>
          </a:xfrm>
          <a:prstGeom prst="rect">
            <a:avLst/>
          </a:prstGeom>
          <a:noFill/>
          <a:ln/>
        </p:spPr>
        <p:txBody>
          <a:bodyPr wrap="square" lIns="0" tIns="0" rIns="0" bIns="0" rtlCol="0" anchor="t"/>
          <a:lstStyle/>
          <a:p>
            <a:pPr marL="0" indent="0" algn="ctr">
              <a:spcAft>
                <a:spcPts val="400"/>
              </a:spcAft>
              <a:buNone/>
            </a:pPr>
            <a:r>
              <a:rPr lang="en-US" sz="1400" b="1" dirty="0">
                <a:solidFill>
                  <a:srgbClr val="0000FF"/>
                </a:solidFill>
                <a:latin typeface="Arial" pitchFamily="34" charset="0"/>
                <a:ea typeface="Arial" pitchFamily="34" charset="-122"/>
                <a:cs typeface="Arial" pitchFamily="34" charset="-120"/>
              </a:rPr>
              <a:t>GUIDED BY</a:t>
            </a:r>
            <a:endParaRPr lang="en-US" sz="1400" dirty="0"/>
          </a:p>
          <a:p>
            <a:pPr marL="0" indent="0" algn="ctr">
              <a:spcAft>
                <a:spcPts val="400"/>
              </a:spcAft>
              <a:buNone/>
            </a:pPr>
            <a:r>
              <a:rPr lang="en-US" sz="1400" b="1" dirty="0">
                <a:solidFill>
                  <a:srgbClr val="0000FF"/>
                </a:solidFill>
                <a:latin typeface="Arial" pitchFamily="34" charset="0"/>
                <a:ea typeface="Arial" pitchFamily="34" charset="-122"/>
                <a:cs typeface="Arial" pitchFamily="34" charset="-120"/>
              </a:rPr>
              <a:t>Mr.P.B. ARAVIND PRASAD, B.E., M.Tech.</a:t>
            </a:r>
            <a:endParaRPr lang="en-US" sz="1400" dirty="0"/>
          </a:p>
          <a:p>
            <a:pPr marL="0" indent="0" algn="ctr">
              <a:spcAft>
                <a:spcPts val="400"/>
              </a:spcAft>
              <a:buNone/>
            </a:pPr>
            <a:r>
              <a:rPr lang="en-US" sz="1400" b="1" dirty="0">
                <a:solidFill>
                  <a:srgbClr val="0000FF"/>
                </a:solidFill>
                <a:latin typeface="Arial" pitchFamily="34" charset="0"/>
                <a:ea typeface="Arial" pitchFamily="34" charset="-122"/>
                <a:cs typeface="Arial" pitchFamily="34" charset="-120"/>
              </a:rPr>
              <a:t>Department of AI/DS</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a:spLocks noGrp="1"/>
          </p:cNvSpPr>
          <p:nvPr>
            <p:ph type="title" idx="102" hasCustomPrompt="1"/>
          </p:nvPr>
        </p:nvSpPr>
        <p:spPr>
          <a:xfrm>
            <a:off x="868680" y="109728"/>
            <a:ext cx="7406640" cy="548640"/>
          </a:xfrm>
          <a:prstGeom prst="rect">
            <a:avLst/>
          </a:prstGeom>
          <a:noFill/>
          <a:ln/>
        </p:spPr>
        <p:txBody>
          <a:bodyPr wrap="square" lIns="0" tIns="0" rIns="0" bIns="0" rtlCol="0" anchor="ctr"/>
          <a:lstStyle/>
          <a:p>
            <a:pPr marL="0" indent="0" algn="ctr">
              <a:buNone/>
            </a:pPr>
            <a:r>
              <a:rPr lang="en-US" sz="2400" b="1" dirty="0">
                <a:solidFill>
                  <a:srgbClr val="FF0000"/>
                </a:solidFill>
                <a:latin typeface="Arial" pitchFamily="34" charset="0"/>
                <a:ea typeface="Arial" pitchFamily="34" charset="-122"/>
                <a:cs typeface="Arial" pitchFamily="34" charset="-120"/>
              </a:rPr>
              <a:t>PRESENTATION OVERVIEW</a:t>
            </a:r>
            <a:endParaRPr lang="en-US" sz="2400" dirty="0"/>
          </a:p>
        </p:txBody>
      </p:sp>
      <p:sp>
        <p:nvSpPr>
          <p:cNvPr id="3" name="Text 1"/>
          <p:cNvSpPr txBox="1"/>
          <p:nvPr/>
        </p:nvSpPr>
        <p:spPr>
          <a:xfrm>
            <a:off x="640080" y="1005840"/>
            <a:ext cx="7315200" cy="3840480"/>
          </a:xfrm>
          <a:prstGeom prst="rect">
            <a:avLst/>
          </a:prstGeom>
          <a:noFill/>
          <a:ln/>
        </p:spPr>
        <p:txBody>
          <a:bodyPr wrap="square" rtlCol="0" anchor="t"/>
          <a:lstStyle/>
          <a:p>
            <a:pPr marL="342900" indent="-342900">
              <a:spcAft>
                <a:spcPts val="500"/>
              </a:spcAft>
              <a:buSzPct val="100000"/>
              <a:buChar char="➢"/>
            </a:pPr>
            <a:r>
              <a:rPr lang="en-US" sz="2000" b="1" dirty="0">
                <a:solidFill>
                  <a:srgbClr val="000000"/>
                </a:solidFill>
                <a:latin typeface="Arial" pitchFamily="34" charset="0"/>
                <a:ea typeface="Arial" pitchFamily="34" charset="-122"/>
                <a:cs typeface="Arial" pitchFamily="34" charset="-120"/>
              </a:rPr>
              <a:t>Objective</a:t>
            </a:r>
            <a:endParaRPr lang="en-US" sz="2000" dirty="0"/>
          </a:p>
          <a:p>
            <a:pPr marL="342900" indent="-342900">
              <a:spcAft>
                <a:spcPts val="500"/>
              </a:spcAft>
              <a:buSzPct val="100000"/>
              <a:buChar char="➢"/>
            </a:pPr>
            <a:r>
              <a:rPr lang="en-US" sz="2000" b="1" dirty="0">
                <a:solidFill>
                  <a:srgbClr val="000000"/>
                </a:solidFill>
                <a:latin typeface="Arial" pitchFamily="34" charset="0"/>
                <a:ea typeface="Arial" pitchFamily="34" charset="-122"/>
                <a:cs typeface="Arial" pitchFamily="34" charset="-120"/>
              </a:rPr>
              <a:t>Problem Identification</a:t>
            </a:r>
            <a:endParaRPr lang="en-US" sz="2000" dirty="0"/>
          </a:p>
          <a:p>
            <a:pPr marL="342900" indent="-342900">
              <a:spcAft>
                <a:spcPts val="500"/>
              </a:spcAft>
              <a:buSzPct val="100000"/>
              <a:buChar char="➢"/>
            </a:pPr>
            <a:r>
              <a:rPr lang="en-US" sz="2000" b="1" dirty="0">
                <a:solidFill>
                  <a:srgbClr val="000000"/>
                </a:solidFill>
                <a:latin typeface="Arial" pitchFamily="34" charset="0"/>
                <a:ea typeface="Arial" pitchFamily="34" charset="-122"/>
                <a:cs typeface="Arial" pitchFamily="34" charset="-120"/>
              </a:rPr>
              <a:t>Flow Diagram</a:t>
            </a:r>
            <a:endParaRPr lang="en-US" sz="2000" dirty="0"/>
          </a:p>
          <a:p>
            <a:pPr marL="342900" indent="-342900">
              <a:spcAft>
                <a:spcPts val="500"/>
              </a:spcAft>
              <a:buSzPct val="100000"/>
              <a:buChar char="➢"/>
            </a:pPr>
            <a:r>
              <a:rPr lang="en-US" sz="2000" b="1" dirty="0">
                <a:solidFill>
                  <a:srgbClr val="000000"/>
                </a:solidFill>
                <a:latin typeface="Arial" pitchFamily="34" charset="0"/>
                <a:ea typeface="Arial" pitchFamily="34" charset="-122"/>
                <a:cs typeface="Arial" pitchFamily="34" charset="-120"/>
              </a:rPr>
              <a:t>Literature Survey</a:t>
            </a:r>
            <a:endParaRPr lang="en-US" sz="2000" dirty="0"/>
          </a:p>
          <a:p>
            <a:pPr marL="342900" indent="-342900">
              <a:spcAft>
                <a:spcPts val="500"/>
              </a:spcAft>
              <a:buSzPct val="100000"/>
              <a:buChar char="➢"/>
            </a:pPr>
            <a:r>
              <a:rPr lang="en-US" sz="2000" b="1" dirty="0">
                <a:solidFill>
                  <a:srgbClr val="000000"/>
                </a:solidFill>
                <a:latin typeface="Arial" pitchFamily="34" charset="0"/>
                <a:ea typeface="Arial" pitchFamily="34" charset="-122"/>
                <a:cs typeface="Arial" pitchFamily="34" charset="-120"/>
              </a:rPr>
              <a:t>Research Methodology</a:t>
            </a:r>
            <a:endParaRPr lang="en-US" sz="2000" dirty="0"/>
          </a:p>
          <a:p>
            <a:pPr marL="342900" indent="-342900">
              <a:spcAft>
                <a:spcPts val="500"/>
              </a:spcAft>
              <a:buSzPct val="100000"/>
              <a:buChar char="➢"/>
            </a:pPr>
            <a:r>
              <a:rPr lang="en-US" sz="2000" b="1" dirty="0">
                <a:solidFill>
                  <a:srgbClr val="000000"/>
                </a:solidFill>
                <a:latin typeface="Arial" pitchFamily="34" charset="0"/>
                <a:ea typeface="Arial" pitchFamily="34" charset="-122"/>
                <a:cs typeface="Arial" pitchFamily="34" charset="-120"/>
              </a:rPr>
              <a:t>Compare Algorithms</a:t>
            </a:r>
            <a:endParaRPr lang="en-US" sz="2000" dirty="0"/>
          </a:p>
          <a:p>
            <a:pPr marL="342900" indent="-342900">
              <a:spcAft>
                <a:spcPts val="500"/>
              </a:spcAft>
              <a:buSzPct val="100000"/>
              <a:buChar char="➢"/>
            </a:pPr>
            <a:r>
              <a:rPr lang="en-US" sz="2000" b="1" dirty="0">
                <a:solidFill>
                  <a:srgbClr val="000000"/>
                </a:solidFill>
                <a:latin typeface="Arial" pitchFamily="34" charset="0"/>
                <a:ea typeface="Arial" pitchFamily="34" charset="-122"/>
                <a:cs typeface="Arial" pitchFamily="34" charset="-120"/>
              </a:rPr>
              <a:t>Implementation Idea</a:t>
            </a:r>
            <a:endParaRPr lang="en-US" sz="2000" dirty="0"/>
          </a:p>
          <a:p>
            <a:pPr marL="342900" indent="-342900">
              <a:spcAft>
                <a:spcPts val="500"/>
              </a:spcAft>
              <a:buSzPct val="100000"/>
              <a:buChar char="➢"/>
            </a:pPr>
            <a:r>
              <a:rPr lang="en-US" sz="2000" b="1" dirty="0">
                <a:solidFill>
                  <a:srgbClr val="000000"/>
                </a:solidFill>
                <a:latin typeface="Arial" pitchFamily="34" charset="0"/>
                <a:ea typeface="Arial" pitchFamily="34" charset="-122"/>
                <a:cs typeface="Arial" pitchFamily="34" charset="-120"/>
              </a:rPr>
              <a:t>Modules</a:t>
            </a:r>
            <a:endParaRPr lang="en-US" sz="2000" dirty="0"/>
          </a:p>
          <a:p>
            <a:pPr marL="342900" indent="-342900">
              <a:spcAft>
                <a:spcPts val="500"/>
              </a:spcAft>
              <a:buSzPct val="100000"/>
              <a:buChar char="➢"/>
            </a:pPr>
            <a:r>
              <a:rPr lang="en-US" sz="2000" b="1" dirty="0">
                <a:solidFill>
                  <a:srgbClr val="000000"/>
                </a:solidFill>
                <a:latin typeface="Arial" pitchFamily="34" charset="0"/>
                <a:ea typeface="Arial" pitchFamily="34" charset="-122"/>
                <a:cs typeface="Arial" pitchFamily="34" charset="-120"/>
              </a:rPr>
              <a:t>Conclusion</a:t>
            </a:r>
            <a:endParaRPr lang="en-US" sz="2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a:spLocks noGrp="1"/>
          </p:cNvSpPr>
          <p:nvPr>
            <p:ph type="title" idx="102" hasCustomPrompt="1"/>
          </p:nvPr>
        </p:nvSpPr>
        <p:spPr>
          <a:xfrm>
            <a:off x="868680" y="109728"/>
            <a:ext cx="7406640" cy="548640"/>
          </a:xfrm>
          <a:prstGeom prst="rect">
            <a:avLst/>
          </a:prstGeom>
          <a:noFill/>
          <a:ln/>
        </p:spPr>
        <p:txBody>
          <a:bodyPr wrap="square" lIns="0" tIns="0" rIns="0" bIns="0" rtlCol="0" anchor="ctr"/>
          <a:lstStyle/>
          <a:p>
            <a:pPr marL="0" indent="0" algn="ctr">
              <a:buNone/>
            </a:pPr>
            <a:r>
              <a:rPr lang="en-US" sz="2400" b="1" dirty="0">
                <a:solidFill>
                  <a:srgbClr val="FF0000"/>
                </a:solidFill>
                <a:latin typeface="Arial" pitchFamily="34" charset="0"/>
                <a:ea typeface="Arial" pitchFamily="34" charset="-122"/>
                <a:cs typeface="Arial" pitchFamily="34" charset="-120"/>
              </a:rPr>
              <a:t>OBJECTIVE</a:t>
            </a:r>
            <a:endParaRPr lang="en-US" sz="2400" dirty="0"/>
          </a:p>
        </p:txBody>
      </p:sp>
      <p:sp>
        <p:nvSpPr>
          <p:cNvPr id="3" name="Text 1"/>
          <p:cNvSpPr txBox="1"/>
          <p:nvPr/>
        </p:nvSpPr>
        <p:spPr>
          <a:xfrm>
            <a:off x="502920" y="1005840"/>
            <a:ext cx="7863840" cy="457200"/>
          </a:xfrm>
          <a:prstGeom prst="rect">
            <a:avLst/>
          </a:prstGeom>
          <a:noFill/>
          <a:ln/>
        </p:spPr>
        <p:txBody>
          <a:bodyPr wrap="square" lIns="0" tIns="0" rIns="0" bIns="0" rtlCol="0" anchor="ctr"/>
          <a:lstStyle/>
          <a:p>
            <a:pPr marL="0" indent="0">
              <a:buNone/>
            </a:pPr>
            <a:r>
              <a:rPr lang="en-US" sz="2400" b="1" dirty="0">
                <a:solidFill>
                  <a:srgbClr val="000000"/>
                </a:solidFill>
                <a:latin typeface="Arial" pitchFamily="34" charset="0"/>
                <a:ea typeface="Arial" pitchFamily="34" charset="-122"/>
                <a:cs typeface="Arial" pitchFamily="34" charset="-120"/>
              </a:rPr>
              <a:t>Objective</a:t>
            </a:r>
            <a:endParaRPr lang="en-US" sz="2400" dirty="0"/>
          </a:p>
        </p:txBody>
      </p:sp>
      <p:sp>
        <p:nvSpPr>
          <p:cNvPr id="4" name="Text 2"/>
          <p:cNvSpPr txBox="1"/>
          <p:nvPr/>
        </p:nvSpPr>
        <p:spPr>
          <a:xfrm>
            <a:off x="502920" y="1554480"/>
            <a:ext cx="7955280" cy="3108960"/>
          </a:xfrm>
          <a:prstGeom prst="rect">
            <a:avLst/>
          </a:prstGeom>
          <a:noFill/>
          <a:ln/>
        </p:spPr>
        <p:txBody>
          <a:bodyPr wrap="square" lIns="0" tIns="0" rIns="0" bIns="0" rtlCol="0" anchor="t"/>
          <a:lstStyle/>
          <a:p>
            <a:pPr marL="0" indent="0">
              <a:lnSpc>
                <a:spcPct val="110000"/>
              </a:lnSpc>
              <a:buNone/>
            </a:pPr>
            <a:r>
              <a:rPr lang="en-US" sz="2000" dirty="0">
                <a:solidFill>
                  <a:srgbClr val="000000"/>
                </a:solidFill>
                <a:latin typeface="Arial" pitchFamily="34" charset="0"/>
                <a:ea typeface="Arial" pitchFamily="34" charset="-122"/>
                <a:cs typeface="Arial" pitchFamily="34" charset="-120"/>
              </a:rPr>
              <a:t>The objective of this project is to build a simple machine learning model that reads how a visitor browses an online shop and predicts whether the visit will end in a purchase. We explore pages viewed, time spent, month, visitor type and weekend traffic, then build and compare Logistic Regression, Decision Tree and Random Forest to classify each visit as Will Buy or Won’t Buy. The models are tested on unseen data using accuracy, precision, recall and F1-score.</a:t>
            </a:r>
            <a:endParaRPr lang="en-US" sz="2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a:spLocks noGrp="1"/>
          </p:cNvSpPr>
          <p:nvPr>
            <p:ph type="title" idx="102" hasCustomPrompt="1"/>
          </p:nvPr>
        </p:nvSpPr>
        <p:spPr>
          <a:xfrm>
            <a:off x="868680" y="109728"/>
            <a:ext cx="7406640" cy="548640"/>
          </a:xfrm>
          <a:prstGeom prst="rect">
            <a:avLst/>
          </a:prstGeom>
          <a:noFill/>
          <a:ln/>
        </p:spPr>
        <p:txBody>
          <a:bodyPr wrap="square" lIns="0" tIns="0" rIns="0" bIns="0" rtlCol="0" anchor="ctr"/>
          <a:lstStyle/>
          <a:p>
            <a:pPr marL="0" indent="0" algn="ctr">
              <a:buNone/>
            </a:pPr>
            <a:r>
              <a:rPr lang="en-US" sz="2400" b="1" dirty="0">
                <a:solidFill>
                  <a:srgbClr val="FF0000"/>
                </a:solidFill>
                <a:latin typeface="Arial" pitchFamily="34" charset="0"/>
                <a:ea typeface="Arial" pitchFamily="34" charset="-122"/>
                <a:cs typeface="Arial" pitchFamily="34" charset="-120"/>
              </a:rPr>
              <a:t>PROBLEM IDENTIFICATION</a:t>
            </a:r>
            <a:endParaRPr lang="en-US" sz="2400" dirty="0"/>
          </a:p>
        </p:txBody>
      </p:sp>
      <p:sp>
        <p:nvSpPr>
          <p:cNvPr id="3" name="Text 1"/>
          <p:cNvSpPr txBox="1"/>
          <p:nvPr/>
        </p:nvSpPr>
        <p:spPr>
          <a:xfrm>
            <a:off x="502920" y="914400"/>
            <a:ext cx="7863840" cy="411480"/>
          </a:xfrm>
          <a:prstGeom prst="rect">
            <a:avLst/>
          </a:prstGeom>
          <a:noFill/>
          <a:ln/>
        </p:spPr>
        <p:txBody>
          <a:bodyPr wrap="square" lIns="0" tIns="0" rIns="0" bIns="0" rtlCol="0" anchor="ctr"/>
          <a:lstStyle/>
          <a:p>
            <a:pPr marL="0" indent="0">
              <a:buNone/>
            </a:pPr>
            <a:r>
              <a:rPr lang="en-US" sz="2200" b="1" dirty="0">
                <a:solidFill>
                  <a:srgbClr val="000000"/>
                </a:solidFill>
                <a:latin typeface="Arial" pitchFamily="34" charset="0"/>
                <a:ea typeface="Arial" pitchFamily="34" charset="-122"/>
                <a:cs typeface="Arial" pitchFamily="34" charset="-120"/>
              </a:rPr>
              <a:t>Problem Identification</a:t>
            </a:r>
            <a:endParaRPr lang="en-US" sz="2200" dirty="0"/>
          </a:p>
        </p:txBody>
      </p:sp>
      <p:sp>
        <p:nvSpPr>
          <p:cNvPr id="4" name="Text 2"/>
          <p:cNvSpPr txBox="1"/>
          <p:nvPr/>
        </p:nvSpPr>
        <p:spPr>
          <a:xfrm>
            <a:off x="502920" y="1417320"/>
            <a:ext cx="7955280" cy="3383280"/>
          </a:xfrm>
          <a:prstGeom prst="rect">
            <a:avLst/>
          </a:prstGeom>
          <a:noFill/>
          <a:ln/>
        </p:spPr>
        <p:txBody>
          <a:bodyPr wrap="square" lIns="0" tIns="0" rIns="0" bIns="0" rtlCol="0" anchor="t"/>
          <a:lstStyle/>
          <a:p>
            <a:pPr marL="0" indent="0">
              <a:spcAft>
                <a:spcPts val="800"/>
              </a:spcAft>
              <a:buNone/>
            </a:pPr>
            <a:r>
              <a:rPr lang="en-US" sz="1800" dirty="0">
                <a:solidFill>
                  <a:srgbClr val="000000"/>
                </a:solidFill>
                <a:latin typeface="Arial" pitchFamily="34" charset="0"/>
                <a:ea typeface="Arial" pitchFamily="34" charset="-122"/>
                <a:cs typeface="Arial" pitchFamily="34" charset="-120"/>
              </a:rPr>
              <a:t>1. Store owners cannot tell who is ready to buy while the visitor is still on the site.</a:t>
            </a:r>
            <a:endParaRPr lang="en-US" sz="1800" dirty="0"/>
          </a:p>
          <a:p>
            <a:pPr marL="0" indent="0">
              <a:spcAft>
                <a:spcPts val="800"/>
              </a:spcAft>
              <a:buNone/>
            </a:pPr>
            <a:r>
              <a:rPr lang="en-US" sz="1800" dirty="0">
                <a:solidFill>
                  <a:srgbClr val="000000"/>
                </a:solidFill>
                <a:latin typeface="Arial" pitchFamily="34" charset="0"/>
                <a:ea typeface="Arial" pitchFamily="34" charset="-122"/>
                <a:cs typeface="Arial" pitchFamily="34" charset="-120"/>
              </a:rPr>
              <a:t>2. Only about 15% of online shopping visits end in a purchase; the other 85% leave empty-handed.</a:t>
            </a:r>
            <a:endParaRPr lang="en-US" sz="1800" dirty="0"/>
          </a:p>
          <a:p>
            <a:pPr marL="0" indent="0">
              <a:spcAft>
                <a:spcPts val="800"/>
              </a:spcAft>
              <a:buNone/>
            </a:pPr>
            <a:r>
              <a:rPr lang="en-US" sz="1800" dirty="0">
                <a:solidFill>
                  <a:srgbClr val="000000"/>
                </a:solidFill>
                <a:latin typeface="Arial" pitchFamily="34" charset="0"/>
                <a:ea typeface="Arial" pitchFamily="34" charset="-122"/>
                <a:cs typeface="Arial" pitchFamily="34" charset="-120"/>
              </a:rPr>
              <a:t>3. Everyone sees the same offer, so banners and discounts are often wasted.</a:t>
            </a:r>
            <a:endParaRPr lang="en-US" sz="1800" dirty="0"/>
          </a:p>
          <a:p>
            <a:pPr marL="0" indent="0">
              <a:spcAft>
                <a:spcPts val="800"/>
              </a:spcAft>
              <a:buNone/>
            </a:pPr>
            <a:r>
              <a:rPr lang="en-US" sz="1800" dirty="0">
                <a:solidFill>
                  <a:srgbClr val="000000"/>
                </a:solidFill>
                <a:latin typeface="Arial" pitchFamily="34" charset="0"/>
                <a:ea typeface="Arial" pitchFamily="34" charset="-122"/>
                <a:cs typeface="Arial" pitchFamily="34" charset="-120"/>
              </a:rPr>
              <a:t>4. Buyers are a small minority, so a model can look accurate by always guessing “No”; recall matters.</a:t>
            </a:r>
            <a:endParaRPr lang="en-US" sz="1800" dirty="0"/>
          </a:p>
          <a:p>
            <a:pPr marL="0" indent="0">
              <a:spcAft>
                <a:spcPts val="800"/>
              </a:spcAft>
              <a:buNone/>
            </a:pPr>
            <a:r>
              <a:rPr lang="en-US" sz="1800" dirty="0">
                <a:solidFill>
                  <a:srgbClr val="000000"/>
                </a:solidFill>
                <a:latin typeface="Arial" pitchFamily="34" charset="0"/>
                <a:ea typeface="Arial" pitchFamily="34" charset="-122"/>
                <a:cs typeface="Arial" pitchFamily="34" charset="-120"/>
              </a:rPr>
              <a:t>5. The UCI dataset has 12,330 sessions with imbalanced classes that must be handled carefully.</a:t>
            </a:r>
            <a:endParaRPr lang="en-US" sz="1800" dirty="0"/>
          </a:p>
          <a:p>
            <a:pPr marL="0" indent="0">
              <a:spcAft>
                <a:spcPts val="800"/>
              </a:spcAft>
              <a:buNone/>
            </a:pPr>
            <a:r>
              <a:rPr lang="en-US" sz="1800" dirty="0">
                <a:solidFill>
                  <a:srgbClr val="000000"/>
                </a:solidFill>
                <a:latin typeface="Arial" pitchFamily="34" charset="0"/>
                <a:ea typeface="Arial" pitchFamily="34" charset="-122"/>
                <a:cs typeface="Arial" pitchFamily="34" charset="-120"/>
              </a:rPr>
              <a:t>6. A prediction model is needed to spot likely buyers early so that stores can act in time.</a:t>
            </a:r>
            <a:endParaRPr lang="en-US" sz="18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a:spLocks noGrp="1"/>
          </p:cNvSpPr>
          <p:nvPr>
            <p:ph type="title" idx="102" hasCustomPrompt="1"/>
          </p:nvPr>
        </p:nvSpPr>
        <p:spPr>
          <a:xfrm>
            <a:off x="868680" y="109728"/>
            <a:ext cx="7406640" cy="548640"/>
          </a:xfrm>
          <a:prstGeom prst="rect">
            <a:avLst/>
          </a:prstGeom>
          <a:noFill/>
          <a:ln/>
        </p:spPr>
        <p:txBody>
          <a:bodyPr wrap="square" lIns="0" tIns="0" rIns="0" bIns="0" rtlCol="0" anchor="ctr"/>
          <a:lstStyle/>
          <a:p>
            <a:pPr marL="0" indent="0" algn="ctr">
              <a:buNone/>
            </a:pPr>
            <a:r>
              <a:rPr lang="en-US" sz="2400" b="1" dirty="0">
                <a:solidFill>
                  <a:srgbClr val="FF0000"/>
                </a:solidFill>
                <a:latin typeface="Arial" pitchFamily="34" charset="0"/>
                <a:ea typeface="Arial" pitchFamily="34" charset="-122"/>
                <a:cs typeface="Arial" pitchFamily="34" charset="-120"/>
              </a:rPr>
              <a:t>FLOW DIAGRAM</a:t>
            </a:r>
            <a:endParaRPr lang="en-US" sz="2400" dirty="0"/>
          </a:p>
        </p:txBody>
      </p:sp>
      <p:sp>
        <p:nvSpPr>
          <p:cNvPr id="3" name="Step 1"/>
          <p:cNvSpPr/>
          <p:nvPr/>
        </p:nvSpPr>
        <p:spPr>
          <a:xfrm>
            <a:off x="365760" y="914400"/>
            <a:ext cx="1828800" cy="502920"/>
          </a:xfrm>
          <a:prstGeom prst="roundRect">
            <a:avLst>
              <a:gd name="adj" fmla="val 14545"/>
            </a:avLst>
          </a:prstGeom>
          <a:solidFill>
            <a:srgbClr val="1F3864"/>
          </a:solidFill>
          <a:ln w="12700">
            <a:solidFill>
              <a:srgbClr val="FFFFFF"/>
            </a:solidFill>
            <a:prstDash val="solid"/>
          </a:ln>
        </p:spPr>
      </p:sp>
      <p:sp>
        <p:nvSpPr>
          <p:cNvPr id="4" name="Text 2"/>
          <p:cNvSpPr txBox="1"/>
          <p:nvPr/>
        </p:nvSpPr>
        <p:spPr>
          <a:xfrm>
            <a:off x="365760" y="914400"/>
            <a:ext cx="1828800" cy="502920"/>
          </a:xfrm>
          <a:prstGeom prst="rect">
            <a:avLst/>
          </a:prstGeom>
          <a:noFill/>
          <a:ln/>
        </p:spPr>
        <p:txBody>
          <a:bodyPr wrap="square" lIns="25400" tIns="25400" rIns="25400" bIns="25400" rtlCol="0" anchor="ctr"/>
          <a:lstStyle/>
          <a:p>
            <a:pPr marL="0" indent="0" algn="ctr">
              <a:buNone/>
            </a:pPr>
            <a:r>
              <a:rPr lang="en-US" sz="1400" b="1" dirty="0">
                <a:solidFill>
                  <a:srgbClr val="FFFFFF"/>
                </a:solidFill>
                <a:latin typeface="Arial" pitchFamily="34" charset="0"/>
                <a:ea typeface="Arial" pitchFamily="34" charset="-122"/>
                <a:cs typeface="Arial" pitchFamily="34" charset="-120"/>
              </a:rPr>
              <a:t>1. Data Collection</a:t>
            </a:r>
            <a:endParaRPr lang="en-US" sz="1400" dirty="0"/>
          </a:p>
        </p:txBody>
      </p:sp>
      <p:sp>
        <p:nvSpPr>
          <p:cNvPr id="5" name="Text 3"/>
          <p:cNvSpPr txBox="1"/>
          <p:nvPr/>
        </p:nvSpPr>
        <p:spPr>
          <a:xfrm>
            <a:off x="365760" y="1463040"/>
            <a:ext cx="1828800" cy="731520"/>
          </a:xfrm>
          <a:prstGeom prst="rect">
            <a:avLst/>
          </a:prstGeom>
          <a:noFill/>
          <a:ln/>
        </p:spPr>
        <p:txBody>
          <a:bodyPr wrap="square" lIns="25400" tIns="25400" rIns="25400" bIns="25400" rtlCol="0" anchor="t"/>
          <a:lstStyle/>
          <a:p>
            <a:pPr marL="0" indent="0" algn="ctr">
              <a:buNone/>
            </a:pPr>
            <a:r>
              <a:rPr lang="en-US" sz="1200" dirty="0">
                <a:solidFill>
                  <a:srgbClr val="000000"/>
                </a:solidFill>
                <a:latin typeface="Arial" pitchFamily="34" charset="0"/>
                <a:ea typeface="Arial" pitchFamily="34" charset="-122"/>
                <a:cs typeface="Arial" pitchFamily="34" charset="-120"/>
              </a:rPr>
              <a:t>UCI dataset: 12,330 sessions, 18 features</a:t>
            </a:r>
            <a:endParaRPr lang="en-US" sz="1200" dirty="0"/>
          </a:p>
        </p:txBody>
      </p:sp>
      <p:sp>
        <p:nvSpPr>
          <p:cNvPr id="6" name="Shape 4"/>
          <p:cNvSpPr/>
          <p:nvPr/>
        </p:nvSpPr>
        <p:spPr>
          <a:xfrm>
            <a:off x="2231136" y="1042416"/>
            <a:ext cx="246888" cy="246888"/>
          </a:xfrm>
          <a:prstGeom prst="rightArrow">
            <a:avLst/>
          </a:prstGeom>
          <a:solidFill>
            <a:srgbClr val="104A9E"/>
          </a:solidFill>
          <a:ln w="12700">
            <a:solidFill>
              <a:srgbClr val="104A9E"/>
            </a:solidFill>
            <a:prstDash val="solid"/>
          </a:ln>
        </p:spPr>
      </p:sp>
      <p:sp>
        <p:nvSpPr>
          <p:cNvPr id="7" name="Step 2"/>
          <p:cNvSpPr/>
          <p:nvPr/>
        </p:nvSpPr>
        <p:spPr>
          <a:xfrm>
            <a:off x="2514600" y="914400"/>
            <a:ext cx="1828800" cy="502920"/>
          </a:xfrm>
          <a:prstGeom prst="roundRect">
            <a:avLst>
              <a:gd name="adj" fmla="val 14545"/>
            </a:avLst>
          </a:prstGeom>
          <a:solidFill>
            <a:srgbClr val="1F3864"/>
          </a:solidFill>
          <a:ln w="12700">
            <a:solidFill>
              <a:srgbClr val="FFFFFF"/>
            </a:solidFill>
            <a:prstDash val="solid"/>
          </a:ln>
        </p:spPr>
      </p:sp>
      <p:sp>
        <p:nvSpPr>
          <p:cNvPr id="8" name="Text 6"/>
          <p:cNvSpPr txBox="1"/>
          <p:nvPr/>
        </p:nvSpPr>
        <p:spPr>
          <a:xfrm>
            <a:off x="2514600" y="914400"/>
            <a:ext cx="1828800" cy="502920"/>
          </a:xfrm>
          <a:prstGeom prst="rect">
            <a:avLst/>
          </a:prstGeom>
          <a:noFill/>
          <a:ln/>
        </p:spPr>
        <p:txBody>
          <a:bodyPr wrap="square" lIns="25400" tIns="25400" rIns="25400" bIns="25400" rtlCol="0" anchor="ctr"/>
          <a:lstStyle/>
          <a:p>
            <a:pPr marL="0" indent="0" algn="ctr">
              <a:buNone/>
            </a:pPr>
            <a:r>
              <a:rPr lang="en-US" sz="1400" b="1" dirty="0">
                <a:solidFill>
                  <a:srgbClr val="FFFFFF"/>
                </a:solidFill>
                <a:latin typeface="Arial" pitchFamily="34" charset="0"/>
                <a:ea typeface="Arial" pitchFamily="34" charset="-122"/>
                <a:cs typeface="Arial" pitchFamily="34" charset="-120"/>
              </a:rPr>
              <a:t>2. Pre-processing</a:t>
            </a:r>
            <a:endParaRPr lang="en-US" sz="1400" dirty="0"/>
          </a:p>
        </p:txBody>
      </p:sp>
      <p:sp>
        <p:nvSpPr>
          <p:cNvPr id="9" name="Text 7"/>
          <p:cNvSpPr txBox="1"/>
          <p:nvPr/>
        </p:nvSpPr>
        <p:spPr>
          <a:xfrm>
            <a:off x="2514600" y="1463040"/>
            <a:ext cx="1828800" cy="731520"/>
          </a:xfrm>
          <a:prstGeom prst="rect">
            <a:avLst/>
          </a:prstGeom>
          <a:noFill/>
          <a:ln/>
        </p:spPr>
        <p:txBody>
          <a:bodyPr wrap="square" lIns="25400" tIns="25400" rIns="25400" bIns="25400" rtlCol="0" anchor="t"/>
          <a:lstStyle/>
          <a:p>
            <a:pPr marL="0" indent="0" algn="ctr">
              <a:buNone/>
            </a:pPr>
            <a:r>
              <a:rPr lang="en-US" sz="1200" dirty="0">
                <a:solidFill>
                  <a:srgbClr val="000000"/>
                </a:solidFill>
                <a:latin typeface="Arial" pitchFamily="34" charset="0"/>
                <a:ea typeface="Arial" pitchFamily="34" charset="-122"/>
                <a:cs typeface="Arial" pitchFamily="34" charset="-120"/>
              </a:rPr>
              <a:t>Remove missing values, encode Month and VisitorType</a:t>
            </a:r>
            <a:endParaRPr lang="en-US" sz="1200" dirty="0"/>
          </a:p>
        </p:txBody>
      </p:sp>
      <p:sp>
        <p:nvSpPr>
          <p:cNvPr id="10" name="Shape 8"/>
          <p:cNvSpPr/>
          <p:nvPr/>
        </p:nvSpPr>
        <p:spPr>
          <a:xfrm>
            <a:off x="4379976" y="1042416"/>
            <a:ext cx="246888" cy="246888"/>
          </a:xfrm>
          <a:prstGeom prst="rightArrow">
            <a:avLst/>
          </a:prstGeom>
          <a:solidFill>
            <a:srgbClr val="104A9E"/>
          </a:solidFill>
          <a:ln w="12700">
            <a:solidFill>
              <a:srgbClr val="104A9E"/>
            </a:solidFill>
            <a:prstDash val="solid"/>
          </a:ln>
        </p:spPr>
      </p:sp>
      <p:sp>
        <p:nvSpPr>
          <p:cNvPr id="11" name="Step 3"/>
          <p:cNvSpPr/>
          <p:nvPr/>
        </p:nvSpPr>
        <p:spPr>
          <a:xfrm>
            <a:off x="4663440" y="914400"/>
            <a:ext cx="1828800" cy="502920"/>
          </a:xfrm>
          <a:prstGeom prst="roundRect">
            <a:avLst>
              <a:gd name="adj" fmla="val 14545"/>
            </a:avLst>
          </a:prstGeom>
          <a:solidFill>
            <a:srgbClr val="1F3864"/>
          </a:solidFill>
          <a:ln w="12700">
            <a:solidFill>
              <a:srgbClr val="FFFFFF"/>
            </a:solidFill>
            <a:prstDash val="solid"/>
          </a:ln>
        </p:spPr>
      </p:sp>
      <p:sp>
        <p:nvSpPr>
          <p:cNvPr id="12" name="Text 10"/>
          <p:cNvSpPr txBox="1"/>
          <p:nvPr/>
        </p:nvSpPr>
        <p:spPr>
          <a:xfrm>
            <a:off x="4663440" y="914400"/>
            <a:ext cx="1828800" cy="502920"/>
          </a:xfrm>
          <a:prstGeom prst="rect">
            <a:avLst/>
          </a:prstGeom>
          <a:noFill/>
          <a:ln/>
        </p:spPr>
        <p:txBody>
          <a:bodyPr wrap="square" lIns="25400" tIns="25400" rIns="25400" bIns="25400" rtlCol="0" anchor="ctr"/>
          <a:lstStyle/>
          <a:p>
            <a:pPr marL="0" indent="0" algn="ctr">
              <a:buNone/>
            </a:pPr>
            <a:r>
              <a:rPr lang="en-US" sz="1400" b="1" dirty="0">
                <a:solidFill>
                  <a:srgbClr val="FFFFFF"/>
                </a:solidFill>
                <a:latin typeface="Arial" pitchFamily="34" charset="0"/>
                <a:ea typeface="Arial" pitchFamily="34" charset="-122"/>
                <a:cs typeface="Arial" pitchFamily="34" charset="-120"/>
              </a:rPr>
              <a:t>3. EDA</a:t>
            </a:r>
            <a:endParaRPr lang="en-US" sz="1400" dirty="0"/>
          </a:p>
        </p:txBody>
      </p:sp>
      <p:sp>
        <p:nvSpPr>
          <p:cNvPr id="13" name="Text 11"/>
          <p:cNvSpPr txBox="1"/>
          <p:nvPr/>
        </p:nvSpPr>
        <p:spPr>
          <a:xfrm>
            <a:off x="4663440" y="1463040"/>
            <a:ext cx="1828800" cy="731520"/>
          </a:xfrm>
          <a:prstGeom prst="rect">
            <a:avLst/>
          </a:prstGeom>
          <a:noFill/>
          <a:ln/>
        </p:spPr>
        <p:txBody>
          <a:bodyPr wrap="square" lIns="25400" tIns="25400" rIns="25400" bIns="25400" rtlCol="0" anchor="t"/>
          <a:lstStyle/>
          <a:p>
            <a:pPr marL="0" indent="0" algn="ctr">
              <a:buNone/>
            </a:pPr>
            <a:r>
              <a:rPr lang="en-US" sz="1200" dirty="0">
                <a:solidFill>
                  <a:srgbClr val="000000"/>
                </a:solidFill>
                <a:latin typeface="Arial" pitchFamily="34" charset="0"/>
                <a:ea typeface="Arial" pitchFamily="34" charset="-122"/>
                <a:cs typeface="Arial" pitchFamily="34" charset="-120"/>
              </a:rPr>
              <a:t>Charts, heatmap and buyer vs non-buyer split</a:t>
            </a:r>
            <a:endParaRPr lang="en-US" sz="1200" dirty="0"/>
          </a:p>
        </p:txBody>
      </p:sp>
      <p:sp>
        <p:nvSpPr>
          <p:cNvPr id="14" name="Shape 12"/>
          <p:cNvSpPr/>
          <p:nvPr/>
        </p:nvSpPr>
        <p:spPr>
          <a:xfrm>
            <a:off x="6528816" y="1042416"/>
            <a:ext cx="246888" cy="246888"/>
          </a:xfrm>
          <a:prstGeom prst="rightArrow">
            <a:avLst/>
          </a:prstGeom>
          <a:solidFill>
            <a:srgbClr val="104A9E"/>
          </a:solidFill>
          <a:ln w="12700">
            <a:solidFill>
              <a:srgbClr val="104A9E"/>
            </a:solidFill>
            <a:prstDash val="solid"/>
          </a:ln>
        </p:spPr>
      </p:sp>
      <p:sp>
        <p:nvSpPr>
          <p:cNvPr id="15" name="Step 4"/>
          <p:cNvSpPr/>
          <p:nvPr/>
        </p:nvSpPr>
        <p:spPr>
          <a:xfrm>
            <a:off x="6812280" y="914400"/>
            <a:ext cx="1828800" cy="502920"/>
          </a:xfrm>
          <a:prstGeom prst="roundRect">
            <a:avLst>
              <a:gd name="adj" fmla="val 14545"/>
            </a:avLst>
          </a:prstGeom>
          <a:solidFill>
            <a:srgbClr val="F79646"/>
          </a:solidFill>
          <a:ln w="12700">
            <a:solidFill>
              <a:srgbClr val="FFFFFF"/>
            </a:solidFill>
            <a:prstDash val="solid"/>
          </a:ln>
        </p:spPr>
      </p:sp>
      <p:sp>
        <p:nvSpPr>
          <p:cNvPr id="16" name="Text 14"/>
          <p:cNvSpPr txBox="1"/>
          <p:nvPr/>
        </p:nvSpPr>
        <p:spPr>
          <a:xfrm>
            <a:off x="6812280" y="914400"/>
            <a:ext cx="1828800" cy="502920"/>
          </a:xfrm>
          <a:prstGeom prst="rect">
            <a:avLst/>
          </a:prstGeom>
          <a:noFill/>
          <a:ln/>
        </p:spPr>
        <p:txBody>
          <a:bodyPr wrap="square" lIns="25400" tIns="25400" rIns="25400" bIns="25400" rtlCol="0" anchor="ctr"/>
          <a:lstStyle/>
          <a:p>
            <a:pPr marL="0" indent="0" algn="ctr">
              <a:buNone/>
            </a:pPr>
            <a:r>
              <a:rPr lang="en-US" sz="1400" b="1" dirty="0">
                <a:solidFill>
                  <a:srgbClr val="FFFFFF"/>
                </a:solidFill>
                <a:latin typeface="Arial" pitchFamily="34" charset="0"/>
                <a:ea typeface="Arial" pitchFamily="34" charset="-122"/>
                <a:cs typeface="Arial" pitchFamily="34" charset="-120"/>
              </a:rPr>
              <a:t>4. Balance &amp; Split</a:t>
            </a:r>
            <a:endParaRPr lang="en-US" sz="1400" dirty="0"/>
          </a:p>
        </p:txBody>
      </p:sp>
      <p:sp>
        <p:nvSpPr>
          <p:cNvPr id="17" name="Text 15"/>
          <p:cNvSpPr txBox="1"/>
          <p:nvPr/>
        </p:nvSpPr>
        <p:spPr>
          <a:xfrm>
            <a:off x="6812280" y="1463040"/>
            <a:ext cx="1828800" cy="731520"/>
          </a:xfrm>
          <a:prstGeom prst="rect">
            <a:avLst/>
          </a:prstGeom>
          <a:noFill/>
          <a:ln/>
        </p:spPr>
        <p:txBody>
          <a:bodyPr wrap="square" lIns="25400" tIns="25400" rIns="25400" bIns="25400" rtlCol="0" anchor="t"/>
          <a:lstStyle/>
          <a:p>
            <a:pPr marL="0" indent="0" algn="ctr">
              <a:buNone/>
            </a:pPr>
            <a:r>
              <a:rPr lang="en-US" sz="1200" dirty="0">
                <a:solidFill>
                  <a:srgbClr val="000000"/>
                </a:solidFill>
                <a:latin typeface="Arial" pitchFamily="34" charset="0"/>
                <a:ea typeface="Arial" pitchFamily="34" charset="-122"/>
                <a:cs typeface="Arial" pitchFamily="34" charset="-120"/>
              </a:rPr>
              <a:t>SMOTE on training set, stratified 80/20 split</a:t>
            </a:r>
            <a:endParaRPr lang="en-US" sz="1200" dirty="0"/>
          </a:p>
        </p:txBody>
      </p:sp>
      <p:sp>
        <p:nvSpPr>
          <p:cNvPr id="18" name="Step 5"/>
          <p:cNvSpPr/>
          <p:nvPr/>
        </p:nvSpPr>
        <p:spPr>
          <a:xfrm>
            <a:off x="6812280" y="2743200"/>
            <a:ext cx="1828800" cy="502920"/>
          </a:xfrm>
          <a:prstGeom prst="roundRect">
            <a:avLst>
              <a:gd name="adj" fmla="val 14545"/>
            </a:avLst>
          </a:prstGeom>
          <a:solidFill>
            <a:srgbClr val="F79646"/>
          </a:solidFill>
          <a:ln w="12700">
            <a:solidFill>
              <a:srgbClr val="FFFFFF"/>
            </a:solidFill>
            <a:prstDash val="solid"/>
          </a:ln>
        </p:spPr>
      </p:sp>
      <p:sp>
        <p:nvSpPr>
          <p:cNvPr id="19" name="Text 17"/>
          <p:cNvSpPr txBox="1"/>
          <p:nvPr/>
        </p:nvSpPr>
        <p:spPr>
          <a:xfrm>
            <a:off x="6812280" y="2743200"/>
            <a:ext cx="1828800" cy="502920"/>
          </a:xfrm>
          <a:prstGeom prst="rect">
            <a:avLst/>
          </a:prstGeom>
          <a:noFill/>
          <a:ln/>
        </p:spPr>
        <p:txBody>
          <a:bodyPr wrap="square" lIns="25400" tIns="25400" rIns="25400" bIns="25400" rtlCol="0" anchor="ctr"/>
          <a:lstStyle/>
          <a:p>
            <a:pPr marL="0" indent="0" algn="ctr">
              <a:buNone/>
            </a:pPr>
            <a:r>
              <a:rPr lang="en-US" sz="1400" b="1" dirty="0">
                <a:solidFill>
                  <a:srgbClr val="FFFFFF"/>
                </a:solidFill>
                <a:latin typeface="Arial" pitchFamily="34" charset="0"/>
                <a:ea typeface="Arial" pitchFamily="34" charset="-122"/>
                <a:cs typeface="Arial" pitchFamily="34" charset="-120"/>
              </a:rPr>
              <a:t>5. Model Training</a:t>
            </a:r>
            <a:endParaRPr lang="en-US" sz="1400" dirty="0"/>
          </a:p>
        </p:txBody>
      </p:sp>
      <p:sp>
        <p:nvSpPr>
          <p:cNvPr id="20" name="Text 18"/>
          <p:cNvSpPr txBox="1"/>
          <p:nvPr/>
        </p:nvSpPr>
        <p:spPr>
          <a:xfrm>
            <a:off x="6812280" y="3291840"/>
            <a:ext cx="1828800" cy="731520"/>
          </a:xfrm>
          <a:prstGeom prst="rect">
            <a:avLst/>
          </a:prstGeom>
          <a:noFill/>
          <a:ln/>
        </p:spPr>
        <p:txBody>
          <a:bodyPr wrap="square" lIns="25400" tIns="25400" rIns="25400" bIns="25400" rtlCol="0" anchor="t"/>
          <a:lstStyle/>
          <a:p>
            <a:pPr marL="0" indent="0" algn="ctr">
              <a:buNone/>
            </a:pPr>
            <a:r>
              <a:rPr lang="en-US" sz="1200" dirty="0">
                <a:solidFill>
                  <a:srgbClr val="000000"/>
                </a:solidFill>
                <a:latin typeface="Arial" pitchFamily="34" charset="0"/>
                <a:ea typeface="Arial" pitchFamily="34" charset="-122"/>
                <a:cs typeface="Arial" pitchFamily="34" charset="-120"/>
              </a:rPr>
              <a:t>Logistic Regression, Decision Tree, Random Forest</a:t>
            </a:r>
            <a:endParaRPr lang="en-US" sz="1200" dirty="0"/>
          </a:p>
        </p:txBody>
      </p:sp>
      <p:sp>
        <p:nvSpPr>
          <p:cNvPr id="21" name="Shape 19"/>
          <p:cNvSpPr/>
          <p:nvPr/>
        </p:nvSpPr>
        <p:spPr>
          <a:xfrm flipH="1">
            <a:off x="6528816" y="2871216"/>
            <a:ext cx="246888" cy="246888"/>
          </a:xfrm>
          <a:prstGeom prst="rightArrow">
            <a:avLst/>
          </a:prstGeom>
          <a:solidFill>
            <a:srgbClr val="104A9E"/>
          </a:solidFill>
          <a:ln w="12700">
            <a:solidFill>
              <a:srgbClr val="104A9E"/>
            </a:solidFill>
            <a:prstDash val="solid"/>
          </a:ln>
        </p:spPr>
      </p:sp>
      <p:sp>
        <p:nvSpPr>
          <p:cNvPr id="22" name="Step 6"/>
          <p:cNvSpPr/>
          <p:nvPr/>
        </p:nvSpPr>
        <p:spPr>
          <a:xfrm>
            <a:off x="4663440" y="2743200"/>
            <a:ext cx="1828800" cy="502920"/>
          </a:xfrm>
          <a:prstGeom prst="roundRect">
            <a:avLst>
              <a:gd name="adj" fmla="val 14545"/>
            </a:avLst>
          </a:prstGeom>
          <a:solidFill>
            <a:srgbClr val="F79646"/>
          </a:solidFill>
          <a:ln w="12700">
            <a:solidFill>
              <a:srgbClr val="FFFFFF"/>
            </a:solidFill>
            <a:prstDash val="solid"/>
          </a:ln>
        </p:spPr>
      </p:sp>
      <p:sp>
        <p:nvSpPr>
          <p:cNvPr id="23" name="Text 21"/>
          <p:cNvSpPr txBox="1"/>
          <p:nvPr/>
        </p:nvSpPr>
        <p:spPr>
          <a:xfrm>
            <a:off x="4663440" y="2743200"/>
            <a:ext cx="1828800" cy="502920"/>
          </a:xfrm>
          <a:prstGeom prst="rect">
            <a:avLst/>
          </a:prstGeom>
          <a:noFill/>
          <a:ln/>
        </p:spPr>
        <p:txBody>
          <a:bodyPr wrap="square" lIns="25400" tIns="25400" rIns="25400" bIns="25400" rtlCol="0" anchor="ctr"/>
          <a:lstStyle/>
          <a:p>
            <a:pPr marL="0" indent="0" algn="ctr">
              <a:buNone/>
            </a:pPr>
            <a:r>
              <a:rPr lang="en-US" sz="1400" b="1" dirty="0">
                <a:solidFill>
                  <a:srgbClr val="FFFFFF"/>
                </a:solidFill>
                <a:latin typeface="Arial" pitchFamily="34" charset="0"/>
                <a:ea typeface="Arial" pitchFamily="34" charset="-122"/>
                <a:cs typeface="Arial" pitchFamily="34" charset="-120"/>
              </a:rPr>
              <a:t>6. Evaluation</a:t>
            </a:r>
            <a:endParaRPr lang="en-US" sz="1400" dirty="0"/>
          </a:p>
        </p:txBody>
      </p:sp>
      <p:sp>
        <p:nvSpPr>
          <p:cNvPr id="24" name="Text 22"/>
          <p:cNvSpPr txBox="1"/>
          <p:nvPr/>
        </p:nvSpPr>
        <p:spPr>
          <a:xfrm>
            <a:off x="4663440" y="3291840"/>
            <a:ext cx="1828800" cy="731520"/>
          </a:xfrm>
          <a:prstGeom prst="rect">
            <a:avLst/>
          </a:prstGeom>
          <a:noFill/>
          <a:ln/>
        </p:spPr>
        <p:txBody>
          <a:bodyPr wrap="square" lIns="25400" tIns="25400" rIns="25400" bIns="25400" rtlCol="0" anchor="t"/>
          <a:lstStyle/>
          <a:p>
            <a:pPr marL="0" indent="0" algn="ctr">
              <a:buNone/>
            </a:pPr>
            <a:r>
              <a:rPr lang="en-US" sz="1200" dirty="0">
                <a:solidFill>
                  <a:srgbClr val="000000"/>
                </a:solidFill>
                <a:latin typeface="Arial" pitchFamily="34" charset="0"/>
                <a:ea typeface="Arial" pitchFamily="34" charset="-122"/>
                <a:cs typeface="Arial" pitchFamily="34" charset="-120"/>
              </a:rPr>
              <a:t>Accuracy, precision, recall, F1, confusion matrix</a:t>
            </a:r>
            <a:endParaRPr lang="en-US" sz="1200" dirty="0"/>
          </a:p>
        </p:txBody>
      </p:sp>
      <p:sp>
        <p:nvSpPr>
          <p:cNvPr id="25" name="Shape 23"/>
          <p:cNvSpPr/>
          <p:nvPr/>
        </p:nvSpPr>
        <p:spPr>
          <a:xfrm flipH="1">
            <a:off x="4379976" y="2871216"/>
            <a:ext cx="246888" cy="246888"/>
          </a:xfrm>
          <a:prstGeom prst="rightArrow">
            <a:avLst/>
          </a:prstGeom>
          <a:solidFill>
            <a:srgbClr val="104A9E"/>
          </a:solidFill>
          <a:ln w="12700">
            <a:solidFill>
              <a:srgbClr val="104A9E"/>
            </a:solidFill>
            <a:prstDash val="solid"/>
          </a:ln>
        </p:spPr>
      </p:sp>
      <p:sp>
        <p:nvSpPr>
          <p:cNvPr id="26" name="Step 7"/>
          <p:cNvSpPr/>
          <p:nvPr/>
        </p:nvSpPr>
        <p:spPr>
          <a:xfrm>
            <a:off x="2514600" y="2743200"/>
            <a:ext cx="1828800" cy="502920"/>
          </a:xfrm>
          <a:prstGeom prst="roundRect">
            <a:avLst>
              <a:gd name="adj" fmla="val 14545"/>
            </a:avLst>
          </a:prstGeom>
          <a:solidFill>
            <a:srgbClr val="1F3864"/>
          </a:solidFill>
          <a:ln w="12700">
            <a:solidFill>
              <a:srgbClr val="FFFFFF"/>
            </a:solidFill>
            <a:prstDash val="solid"/>
          </a:ln>
        </p:spPr>
      </p:sp>
      <p:sp>
        <p:nvSpPr>
          <p:cNvPr id="27" name="Text 25"/>
          <p:cNvSpPr txBox="1"/>
          <p:nvPr/>
        </p:nvSpPr>
        <p:spPr>
          <a:xfrm>
            <a:off x="2514600" y="2743200"/>
            <a:ext cx="1828800" cy="502920"/>
          </a:xfrm>
          <a:prstGeom prst="rect">
            <a:avLst/>
          </a:prstGeom>
          <a:noFill/>
          <a:ln/>
        </p:spPr>
        <p:txBody>
          <a:bodyPr wrap="square" lIns="25400" tIns="25400" rIns="25400" bIns="25400" rtlCol="0" anchor="ctr"/>
          <a:lstStyle/>
          <a:p>
            <a:pPr marL="0" indent="0" algn="ctr">
              <a:buNone/>
            </a:pPr>
            <a:r>
              <a:rPr lang="en-US" sz="1400" b="1" dirty="0">
                <a:solidFill>
                  <a:srgbClr val="FFFFFF"/>
                </a:solidFill>
                <a:latin typeface="Arial" pitchFamily="34" charset="0"/>
                <a:ea typeface="Arial" pitchFamily="34" charset="-122"/>
                <a:cs typeface="Arial" pitchFamily="34" charset="-120"/>
              </a:rPr>
              <a:t>7. Prediction</a:t>
            </a:r>
            <a:endParaRPr lang="en-US" sz="1400" dirty="0"/>
          </a:p>
        </p:txBody>
      </p:sp>
      <p:sp>
        <p:nvSpPr>
          <p:cNvPr id="28" name="Text 26"/>
          <p:cNvSpPr txBox="1"/>
          <p:nvPr/>
        </p:nvSpPr>
        <p:spPr>
          <a:xfrm>
            <a:off x="2514600" y="3291840"/>
            <a:ext cx="1828800" cy="731520"/>
          </a:xfrm>
          <a:prstGeom prst="rect">
            <a:avLst/>
          </a:prstGeom>
          <a:noFill/>
          <a:ln/>
        </p:spPr>
        <p:txBody>
          <a:bodyPr wrap="square" lIns="25400" tIns="25400" rIns="25400" bIns="25400" rtlCol="0" anchor="t"/>
          <a:lstStyle/>
          <a:p>
            <a:pPr marL="0" indent="0" algn="ctr">
              <a:buNone/>
            </a:pPr>
            <a:r>
              <a:rPr lang="en-US" sz="1200" dirty="0">
                <a:solidFill>
                  <a:srgbClr val="000000"/>
                </a:solidFill>
                <a:latin typeface="Arial" pitchFamily="34" charset="0"/>
                <a:ea typeface="Arial" pitchFamily="34" charset="-122"/>
                <a:cs typeface="Arial" pitchFamily="34" charset="-120"/>
              </a:rPr>
              <a:t>Output: Will Buy or Won’t Buy for each visit</a:t>
            </a:r>
            <a:endParaRPr lang="en-US" sz="1200" dirty="0"/>
          </a:p>
        </p:txBody>
      </p:sp>
      <p:sp>
        <p:nvSpPr>
          <p:cNvPr id="29" name="Shape 27"/>
          <p:cNvSpPr/>
          <p:nvPr/>
        </p:nvSpPr>
        <p:spPr>
          <a:xfrm>
            <a:off x="7598664" y="2194560"/>
            <a:ext cx="256032" cy="457200"/>
          </a:xfrm>
          <a:prstGeom prst="downArrow">
            <a:avLst/>
          </a:prstGeom>
          <a:solidFill>
            <a:srgbClr val="104A9E"/>
          </a:solidFill>
          <a:ln w="12700">
            <a:solidFill>
              <a:srgbClr val="104A9E"/>
            </a:solidFill>
            <a:prstDash val="solid"/>
          </a:ln>
        </p:spPr>
      </p:sp>
      <p:sp>
        <p:nvSpPr>
          <p:cNvPr id="30" name="Shape 28"/>
          <p:cNvSpPr/>
          <p:nvPr/>
        </p:nvSpPr>
        <p:spPr>
          <a:xfrm>
            <a:off x="365760" y="4160520"/>
            <a:ext cx="8412480" cy="640080"/>
          </a:xfrm>
          <a:prstGeom prst="roundRect">
            <a:avLst>
              <a:gd name="adj" fmla="val 11429"/>
            </a:avLst>
          </a:prstGeom>
          <a:solidFill>
            <a:srgbClr val="FDE9D9"/>
          </a:solidFill>
          <a:ln w="12700">
            <a:solidFill>
              <a:srgbClr val="F79646"/>
            </a:solidFill>
            <a:prstDash val="solid"/>
          </a:ln>
        </p:spPr>
      </p:sp>
      <p:sp>
        <p:nvSpPr>
          <p:cNvPr id="31" name="Text 29"/>
          <p:cNvSpPr txBox="1"/>
          <p:nvPr/>
        </p:nvSpPr>
        <p:spPr>
          <a:xfrm>
            <a:off x="502920" y="4160520"/>
            <a:ext cx="8138160" cy="640080"/>
          </a:xfrm>
          <a:prstGeom prst="rect">
            <a:avLst/>
          </a:prstGeom>
          <a:noFill/>
          <a:ln/>
        </p:spPr>
        <p:txBody>
          <a:bodyPr wrap="square" lIns="0" tIns="0" rIns="0" bIns="0" rtlCol="0" anchor="ctr"/>
          <a:lstStyle/>
          <a:p>
            <a:pPr marL="0" indent="0">
              <a:buNone/>
            </a:pPr>
            <a:r>
              <a:rPr lang="en-US" sz="1400" b="1" dirty="0">
                <a:solidFill>
                  <a:srgbClr val="000000"/>
                </a:solidFill>
                <a:latin typeface="Arial" pitchFamily="34" charset="0"/>
                <a:ea typeface="Arial" pitchFamily="34" charset="-122"/>
                <a:cs typeface="Arial" pitchFamily="34" charset="-120"/>
              </a:rPr>
              <a:t>Steps 4 to 6 repeat: try a model, check the scores, tune it, and keep the best one for the final prediction.</a:t>
            </a:r>
            <a:endParaRPr lang="en-US" sz="14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a:spLocks noGrp="1"/>
          </p:cNvSpPr>
          <p:nvPr>
            <p:ph type="title" idx="102" hasCustomPrompt="1"/>
          </p:nvPr>
        </p:nvSpPr>
        <p:spPr>
          <a:xfrm>
            <a:off x="868680" y="109728"/>
            <a:ext cx="7406640" cy="548640"/>
          </a:xfrm>
          <a:prstGeom prst="rect">
            <a:avLst/>
          </a:prstGeom>
          <a:noFill/>
          <a:ln/>
        </p:spPr>
        <p:txBody>
          <a:bodyPr wrap="square" lIns="0" tIns="0" rIns="0" bIns="0" rtlCol="0" anchor="ctr"/>
          <a:lstStyle/>
          <a:p>
            <a:pPr marL="0" indent="0" algn="ctr">
              <a:buNone/>
            </a:pPr>
            <a:r>
              <a:rPr lang="en-US" sz="2400" b="1" dirty="0">
                <a:solidFill>
                  <a:srgbClr val="FF0000"/>
                </a:solidFill>
                <a:latin typeface="Arial" pitchFamily="34" charset="0"/>
                <a:ea typeface="Arial" pitchFamily="34" charset="-122"/>
                <a:cs typeface="Arial" pitchFamily="34" charset="-120"/>
              </a:rPr>
              <a:t>LITERATURE SURVEY</a:t>
            </a:r>
            <a:endParaRPr lang="en-US" sz="2400" dirty="0"/>
          </a:p>
        </p:txBody>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388620" y="868680"/>
          <a:ext cx="8366760" cy="914400"/>
        </p:xfrm>
        <a:graphic>
          <a:graphicData uri="http://schemas.openxmlformats.org/drawingml/2006/table">
            <a:tbl>
              <a:tblPr/>
              <a:tblGrid>
                <a:gridCol w="502920">
                  <a:extLst>
                    <a:ext uri="{9D8B030D-6E8A-4147-A177-3AD203B41FA5}">
                      <a16:colId xmlns:a16="http://schemas.microsoft.com/office/drawing/2014/main" val="20000"/>
                    </a:ext>
                  </a:extLst>
                </a:gridCol>
                <a:gridCol w="822960">
                  <a:extLst>
                    <a:ext uri="{9D8B030D-6E8A-4147-A177-3AD203B41FA5}">
                      <a16:colId xmlns:a16="http://schemas.microsoft.com/office/drawing/2014/main" val="20001"/>
                    </a:ext>
                  </a:extLst>
                </a:gridCol>
                <a:gridCol w="3108960">
                  <a:extLst>
                    <a:ext uri="{9D8B030D-6E8A-4147-A177-3AD203B41FA5}">
                      <a16:colId xmlns:a16="http://schemas.microsoft.com/office/drawing/2014/main" val="20002"/>
                    </a:ext>
                  </a:extLst>
                </a:gridCol>
                <a:gridCol w="3931920">
                  <a:extLst>
                    <a:ext uri="{9D8B030D-6E8A-4147-A177-3AD203B41FA5}">
                      <a16:colId xmlns:a16="http://schemas.microsoft.com/office/drawing/2014/main" val="20003"/>
                    </a:ext>
                  </a:extLst>
                </a:gridCol>
              </a:tblGrid>
              <a:tr h="0">
                <a:tc>
                  <a:txBody>
                    <a:bodyPr/>
                    <a:lstStyle/>
                    <a:p>
                      <a:pPr marL="0" indent="0" algn="ctr">
                        <a:buNone/>
                      </a:pPr>
                      <a:r>
                        <a:rPr lang="en-US" sz="1400" dirty="0">
                          <a:solidFill>
                            <a:srgbClr val="000000"/>
                          </a:solidFill>
                          <a:latin typeface="Arial" pitchFamily="34" charset="0"/>
                          <a:ea typeface="Arial" pitchFamily="34" charset="-122"/>
                          <a:cs typeface="Arial" pitchFamily="34" charset="-120"/>
                        </a:rPr>
                        <a:t>No.</a:t>
                      </a:r>
                      <a:endParaRPr lang="en-US" sz="1400" dirty="0">
                        <a:latin typeface="Arial" charset="0"/>
                        <a:ea typeface="Arial" charset="0"/>
                        <a:cs typeface="Arial" charset="0"/>
                      </a:endParaRPr>
                    </a:p>
                  </a:txBody>
                  <a:tcPr marL="63500" marR="63500" marT="38100" marB="3810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79646"/>
                    </a:solidFill>
                  </a:tcPr>
                </a:tc>
                <a:tc>
                  <a:txBody>
                    <a:bodyPr/>
                    <a:lstStyle/>
                    <a:p>
                      <a:pPr marL="0" indent="0" algn="ctr">
                        <a:buNone/>
                      </a:pPr>
                      <a:r>
                        <a:rPr lang="en-US" sz="1400" dirty="0">
                          <a:solidFill>
                            <a:srgbClr val="000000"/>
                          </a:solidFill>
                          <a:latin typeface="Arial" pitchFamily="34" charset="0"/>
                          <a:ea typeface="Arial" pitchFamily="34" charset="-122"/>
                          <a:cs typeface="Arial" pitchFamily="34" charset="-120"/>
                        </a:rPr>
                        <a:t>Year</a:t>
                      </a:r>
                      <a:endParaRPr lang="en-US" sz="1400" dirty="0">
                        <a:latin typeface="Arial" charset="0"/>
                        <a:ea typeface="Arial" charset="0"/>
                        <a:cs typeface="Arial" charset="0"/>
                      </a:endParaRPr>
                    </a:p>
                  </a:txBody>
                  <a:tcPr marL="63500" marR="63500" marT="38100" marB="3810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79646"/>
                    </a:solidFill>
                  </a:tcPr>
                </a:tc>
                <a:tc>
                  <a:txBody>
                    <a:bodyPr/>
                    <a:lstStyle/>
                    <a:p>
                      <a:pPr marL="0" indent="0" algn="ctr">
                        <a:buNone/>
                      </a:pPr>
                      <a:r>
                        <a:rPr lang="en-US" sz="1400" dirty="0">
                          <a:solidFill>
                            <a:srgbClr val="000000"/>
                          </a:solidFill>
                          <a:latin typeface="Arial" pitchFamily="34" charset="0"/>
                          <a:ea typeface="Arial" pitchFamily="34" charset="-122"/>
                          <a:cs typeface="Arial" pitchFamily="34" charset="-120"/>
                        </a:rPr>
                        <a:t>Research Work</a:t>
                      </a:r>
                      <a:endParaRPr lang="en-US" sz="1400" dirty="0">
                        <a:latin typeface="Arial" charset="0"/>
                        <a:ea typeface="Arial" charset="0"/>
                        <a:cs typeface="Arial" charset="0"/>
                      </a:endParaRPr>
                    </a:p>
                  </a:txBody>
                  <a:tcPr marL="63500" marR="63500" marT="38100" marB="3810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79646"/>
                    </a:solidFill>
                  </a:tcPr>
                </a:tc>
                <a:tc>
                  <a:txBody>
                    <a:bodyPr/>
                    <a:lstStyle/>
                    <a:p>
                      <a:pPr marL="0" indent="0" algn="ctr">
                        <a:buNone/>
                      </a:pPr>
                      <a:r>
                        <a:rPr lang="en-US" sz="1400" dirty="0">
                          <a:solidFill>
                            <a:srgbClr val="000000"/>
                          </a:solidFill>
                          <a:latin typeface="Arial" pitchFamily="34" charset="0"/>
                          <a:ea typeface="Arial" pitchFamily="34" charset="-122"/>
                          <a:cs typeface="Arial" pitchFamily="34" charset="-120"/>
                        </a:rPr>
                        <a:t>Main Idea / Finding</a:t>
                      </a:r>
                      <a:endParaRPr lang="en-US" sz="1400" dirty="0">
                        <a:latin typeface="Arial" charset="0"/>
                        <a:ea typeface="Arial" charset="0"/>
                        <a:cs typeface="Arial" charset="0"/>
                      </a:endParaRPr>
                    </a:p>
                  </a:txBody>
                  <a:tcPr marL="63500" marR="63500" marT="38100" marB="3810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79646"/>
                    </a:solidFill>
                  </a:tcPr>
                </a:tc>
                <a:extLst>
                  <a:ext uri="{0D108BD9-81ED-4DB2-BD59-A6C34878D82A}">
                    <a16:rowId xmlns:a16="http://schemas.microsoft.com/office/drawing/2014/main" val="10000"/>
                  </a:ext>
                </a:extLst>
              </a:tr>
              <a:tr h="0">
                <a:tc>
                  <a:txBody>
                    <a:bodyPr/>
                    <a:lstStyle/>
                    <a:p>
                      <a:pPr marL="0" indent="0" algn="ctr">
                        <a:buNone/>
                      </a:pPr>
                      <a:r>
                        <a:rPr lang="en-US" sz="1300" dirty="0">
                          <a:solidFill>
                            <a:srgbClr val="000000"/>
                          </a:solidFill>
                          <a:latin typeface="Arial" pitchFamily="34" charset="0"/>
                          <a:ea typeface="Arial" pitchFamily="34" charset="-122"/>
                          <a:cs typeface="Arial" pitchFamily="34" charset="-120"/>
                        </a:rPr>
                        <a:t>1</a:t>
                      </a:r>
                      <a:endParaRPr lang="en-US" sz="1300" dirty="0">
                        <a:latin typeface="Arial" charset="0"/>
                        <a:ea typeface="Arial" charset="0"/>
                        <a:cs typeface="Arial" charset="0"/>
                      </a:endParaRPr>
                    </a:p>
                  </a:txBody>
                  <a:tcPr marL="63500" marR="63500" marT="38100" marB="3810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FFFF"/>
                    </a:solidFill>
                  </a:tcPr>
                </a:tc>
                <a:tc>
                  <a:txBody>
                    <a:bodyPr/>
                    <a:lstStyle/>
                    <a:p>
                      <a:pPr marL="0" indent="0" algn="ctr">
                        <a:buNone/>
                      </a:pPr>
                      <a:r>
                        <a:rPr lang="en-US" sz="1300" dirty="0">
                          <a:solidFill>
                            <a:srgbClr val="000000"/>
                          </a:solidFill>
                          <a:latin typeface="Arial" pitchFamily="34" charset="0"/>
                          <a:ea typeface="Arial" pitchFamily="34" charset="-122"/>
                          <a:cs typeface="Arial" pitchFamily="34" charset="-120"/>
                        </a:rPr>
                        <a:t>2025</a:t>
                      </a:r>
                      <a:endParaRPr lang="en-US" sz="1300" dirty="0">
                        <a:latin typeface="Arial" charset="0"/>
                        <a:ea typeface="Arial" charset="0"/>
                        <a:cs typeface="Arial" charset="0"/>
                      </a:endParaRPr>
                    </a:p>
                  </a:txBody>
                  <a:tcPr marL="63500" marR="63500" marT="38100" marB="3810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FFFF"/>
                    </a:solidFill>
                  </a:tcPr>
                </a:tc>
                <a:tc>
                  <a:txBody>
                    <a:bodyPr/>
                    <a:lstStyle/>
                    <a:p>
                      <a:pPr marL="0" indent="0" algn="ctr">
                        <a:buNone/>
                      </a:pPr>
                      <a:r>
                        <a:rPr lang="en-US" sz="1300" b="1" dirty="0">
                          <a:solidFill>
                            <a:srgbClr val="000000"/>
                          </a:solidFill>
                          <a:latin typeface="Arial" pitchFamily="34" charset="0"/>
                          <a:ea typeface="Arial" pitchFamily="34" charset="-122"/>
                          <a:cs typeface="Arial" pitchFamily="34" charset="-120"/>
                        </a:rPr>
                        <a:t>Predicting E-Commerce Purchase Intention Using Machine Learning</a:t>
                      </a:r>
                      <a:endParaRPr lang="en-US" sz="1300" dirty="0">
                        <a:latin typeface="Arial" charset="0"/>
                        <a:ea typeface="Arial" charset="0"/>
                        <a:cs typeface="Arial" charset="0"/>
                      </a:endParaRPr>
                    </a:p>
                  </a:txBody>
                  <a:tcPr marL="63500" marR="63500" marT="38100" marB="3810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FFFF"/>
                    </a:solidFill>
                  </a:tcPr>
                </a:tc>
                <a:tc>
                  <a:txBody>
                    <a:bodyPr/>
                    <a:lstStyle/>
                    <a:p>
                      <a:pPr marL="0" indent="0" algn="ctr">
                        <a:buNone/>
                      </a:pPr>
                      <a:r>
                        <a:rPr lang="en-US" sz="1300" dirty="0">
                          <a:solidFill>
                            <a:srgbClr val="000000"/>
                          </a:solidFill>
                          <a:latin typeface="Arial" pitchFamily="34" charset="0"/>
                          <a:ea typeface="Arial" pitchFamily="34" charset="-122"/>
                          <a:cs typeface="Arial" pitchFamily="34" charset="-120"/>
                        </a:rPr>
                        <a:t>SMOTE + chi-square pipeline gives interpretable, scalable predictions. (</a:t>
                      </a:r>
                      <a:r>
                        <a:rPr lang="en-US" sz="1300" dirty="0">
                          <a:solidFill>
                            <a:srgbClr val="0097A7"/>
                          </a:solidFill>
                          <a:latin typeface="Arial" pitchFamily="34" charset="0"/>
                          <a:ea typeface="Arial" pitchFamily="34" charset="-122"/>
                          <a:cs typeface="Arial" pitchFamily="34" charset="-120"/>
                        </a:rPr>
                        <a:t>ASEAN J. Sci. Tech. Reports</a:t>
                      </a:r>
                      <a:r>
                        <a:rPr lang="en-US" sz="1300" dirty="0">
                          <a:solidFill>
                            <a:srgbClr val="000000"/>
                          </a:solidFill>
                          <a:latin typeface="Arial" pitchFamily="34" charset="0"/>
                          <a:ea typeface="Arial" pitchFamily="34" charset="-122"/>
                          <a:cs typeface="Arial" pitchFamily="34" charset="-120"/>
                        </a:rPr>
                        <a:t>)</a:t>
                      </a:r>
                      <a:endParaRPr lang="en-US" sz="1300" dirty="0">
                        <a:latin typeface="Arial" charset="0"/>
                        <a:ea typeface="Arial" charset="0"/>
                        <a:cs typeface="Arial" charset="0"/>
                      </a:endParaRPr>
                    </a:p>
                  </a:txBody>
                  <a:tcPr marL="63500" marR="63500" marT="38100" marB="3810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0">
                <a:tc>
                  <a:txBody>
                    <a:bodyPr/>
                    <a:lstStyle/>
                    <a:p>
                      <a:pPr marL="0" indent="0" algn="ctr">
                        <a:buNone/>
                      </a:pPr>
                      <a:r>
                        <a:rPr lang="en-US" sz="1300" dirty="0">
                          <a:solidFill>
                            <a:srgbClr val="000000"/>
                          </a:solidFill>
                          <a:latin typeface="Arial" pitchFamily="34" charset="0"/>
                          <a:ea typeface="Arial" pitchFamily="34" charset="-122"/>
                          <a:cs typeface="Arial" pitchFamily="34" charset="-120"/>
                        </a:rPr>
                        <a:t>2</a:t>
                      </a:r>
                      <a:endParaRPr lang="en-US" sz="1300" dirty="0">
                        <a:latin typeface="Arial" charset="0"/>
                        <a:ea typeface="Arial" charset="0"/>
                        <a:cs typeface="Arial" charset="0"/>
                      </a:endParaRPr>
                    </a:p>
                  </a:txBody>
                  <a:tcPr marL="63500" marR="63500" marT="38100" marB="3810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DE9D9"/>
                    </a:solidFill>
                  </a:tcPr>
                </a:tc>
                <a:tc>
                  <a:txBody>
                    <a:bodyPr/>
                    <a:lstStyle/>
                    <a:p>
                      <a:pPr marL="0" indent="0" algn="ctr">
                        <a:buNone/>
                      </a:pPr>
                      <a:r>
                        <a:rPr lang="en-US" sz="1300" dirty="0">
                          <a:solidFill>
                            <a:srgbClr val="000000"/>
                          </a:solidFill>
                          <a:latin typeface="Arial" pitchFamily="34" charset="0"/>
                          <a:ea typeface="Arial" pitchFamily="34" charset="-122"/>
                          <a:cs typeface="Arial" pitchFamily="34" charset="-120"/>
                        </a:rPr>
                        <a:t>2025</a:t>
                      </a:r>
                      <a:endParaRPr lang="en-US" sz="1300" dirty="0">
                        <a:latin typeface="Arial" charset="0"/>
                        <a:ea typeface="Arial" charset="0"/>
                        <a:cs typeface="Arial" charset="0"/>
                      </a:endParaRPr>
                    </a:p>
                  </a:txBody>
                  <a:tcPr marL="63500" marR="63500" marT="38100" marB="3810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DE9D9"/>
                    </a:solidFill>
                  </a:tcPr>
                </a:tc>
                <a:tc>
                  <a:txBody>
                    <a:bodyPr/>
                    <a:lstStyle/>
                    <a:p>
                      <a:pPr marL="0" indent="0" algn="ctr">
                        <a:buNone/>
                      </a:pPr>
                      <a:r>
                        <a:rPr lang="en-US" sz="1300" b="1" dirty="0">
                          <a:solidFill>
                            <a:srgbClr val="000000"/>
                          </a:solidFill>
                          <a:latin typeface="Arial" pitchFamily="34" charset="0"/>
                          <a:ea typeface="Arial" pitchFamily="34" charset="-122"/>
                          <a:cs typeface="Arial" pitchFamily="34" charset="-120"/>
                        </a:rPr>
                        <a:t>Purchase Intention Analysis of Online Shoppers Based on ML and K-Means Clustering</a:t>
                      </a:r>
                      <a:endParaRPr lang="en-US" sz="1300" dirty="0">
                        <a:latin typeface="Arial" charset="0"/>
                        <a:ea typeface="Arial" charset="0"/>
                        <a:cs typeface="Arial" charset="0"/>
                      </a:endParaRPr>
                    </a:p>
                  </a:txBody>
                  <a:tcPr marL="63500" marR="63500" marT="38100" marB="3810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DE9D9"/>
                    </a:solidFill>
                  </a:tcPr>
                </a:tc>
                <a:tc>
                  <a:txBody>
                    <a:bodyPr/>
                    <a:lstStyle/>
                    <a:p>
                      <a:pPr marL="0" indent="0" algn="ctr">
                        <a:buNone/>
                      </a:pPr>
                      <a:r>
                        <a:rPr lang="en-US" sz="1300" dirty="0">
                          <a:solidFill>
                            <a:srgbClr val="000000"/>
                          </a:solidFill>
                          <a:latin typeface="Arial" pitchFamily="34" charset="0"/>
                          <a:ea typeface="Arial" pitchFamily="34" charset="-122"/>
                          <a:cs typeface="Arial" pitchFamily="34" charset="-120"/>
                        </a:rPr>
                        <a:t>Random Forest best on all metrics, especially recall; SMOTE used. (</a:t>
                      </a:r>
                      <a:r>
                        <a:rPr lang="en-US" sz="1300" dirty="0">
                          <a:solidFill>
                            <a:srgbClr val="0097A7"/>
                          </a:solidFill>
                          <a:latin typeface="Arial" pitchFamily="34" charset="0"/>
                          <a:ea typeface="Arial" pitchFamily="34" charset="-122"/>
                          <a:cs typeface="Arial" pitchFamily="34" charset="-120"/>
                        </a:rPr>
                        <a:t>ICDSE, SCITEPRESS</a:t>
                      </a:r>
                      <a:r>
                        <a:rPr lang="en-US" sz="1300" dirty="0">
                          <a:solidFill>
                            <a:srgbClr val="000000"/>
                          </a:solidFill>
                          <a:latin typeface="Arial" pitchFamily="34" charset="0"/>
                          <a:ea typeface="Arial" pitchFamily="34" charset="-122"/>
                          <a:cs typeface="Arial" pitchFamily="34" charset="-120"/>
                        </a:rPr>
                        <a:t>)</a:t>
                      </a:r>
                      <a:endParaRPr lang="en-US" sz="1300" dirty="0">
                        <a:latin typeface="Arial" charset="0"/>
                        <a:ea typeface="Arial" charset="0"/>
                        <a:cs typeface="Arial" charset="0"/>
                      </a:endParaRPr>
                    </a:p>
                  </a:txBody>
                  <a:tcPr marL="63500" marR="63500" marT="38100" marB="3810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DE9D9"/>
                    </a:solidFill>
                  </a:tcPr>
                </a:tc>
                <a:extLst>
                  <a:ext uri="{0D108BD9-81ED-4DB2-BD59-A6C34878D82A}">
                    <a16:rowId xmlns:a16="http://schemas.microsoft.com/office/drawing/2014/main" val="10002"/>
                  </a:ext>
                </a:extLst>
              </a:tr>
              <a:tr h="0">
                <a:tc>
                  <a:txBody>
                    <a:bodyPr/>
                    <a:lstStyle/>
                    <a:p>
                      <a:pPr marL="0" indent="0" algn="ctr">
                        <a:buNone/>
                      </a:pPr>
                      <a:r>
                        <a:rPr lang="en-US" sz="1300" dirty="0">
                          <a:solidFill>
                            <a:srgbClr val="000000"/>
                          </a:solidFill>
                          <a:latin typeface="Arial" pitchFamily="34" charset="0"/>
                          <a:ea typeface="Arial" pitchFamily="34" charset="-122"/>
                          <a:cs typeface="Arial" pitchFamily="34" charset="-120"/>
                        </a:rPr>
                        <a:t>3</a:t>
                      </a:r>
                      <a:endParaRPr lang="en-US" sz="1300" dirty="0">
                        <a:latin typeface="Arial" charset="0"/>
                        <a:ea typeface="Arial" charset="0"/>
                        <a:cs typeface="Arial" charset="0"/>
                      </a:endParaRPr>
                    </a:p>
                  </a:txBody>
                  <a:tcPr marL="63500" marR="63500" marT="38100" marB="3810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FFFF"/>
                    </a:solidFill>
                  </a:tcPr>
                </a:tc>
                <a:tc>
                  <a:txBody>
                    <a:bodyPr/>
                    <a:lstStyle/>
                    <a:p>
                      <a:pPr marL="0" indent="0" algn="ctr">
                        <a:buNone/>
                      </a:pPr>
                      <a:r>
                        <a:rPr lang="en-US" sz="1300" dirty="0">
                          <a:solidFill>
                            <a:srgbClr val="000000"/>
                          </a:solidFill>
                          <a:latin typeface="Arial" pitchFamily="34" charset="0"/>
                          <a:ea typeface="Arial" pitchFamily="34" charset="-122"/>
                          <a:cs typeface="Arial" pitchFamily="34" charset="-120"/>
                        </a:rPr>
                        <a:t>2025</a:t>
                      </a:r>
                      <a:endParaRPr lang="en-US" sz="1300" dirty="0">
                        <a:latin typeface="Arial" charset="0"/>
                        <a:ea typeface="Arial" charset="0"/>
                        <a:cs typeface="Arial" charset="0"/>
                      </a:endParaRPr>
                    </a:p>
                  </a:txBody>
                  <a:tcPr marL="63500" marR="63500" marT="38100" marB="3810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FFFF"/>
                    </a:solidFill>
                  </a:tcPr>
                </a:tc>
                <a:tc>
                  <a:txBody>
                    <a:bodyPr/>
                    <a:lstStyle/>
                    <a:p>
                      <a:pPr marL="0" indent="0" algn="ctr">
                        <a:buNone/>
                      </a:pPr>
                      <a:r>
                        <a:rPr lang="en-US" sz="1300" b="1" dirty="0">
                          <a:solidFill>
                            <a:srgbClr val="000000"/>
                          </a:solidFill>
                          <a:latin typeface="Arial" pitchFamily="34" charset="0"/>
                          <a:ea typeface="Arial" pitchFamily="34" charset="-122"/>
                          <a:cs typeface="Arial" pitchFamily="34" charset="-120"/>
                        </a:rPr>
                        <a:t>Application of ML Algorithms for Predicting Online Shoppers’ Purchase Intention</a:t>
                      </a:r>
                      <a:endParaRPr lang="en-US" sz="1300" dirty="0">
                        <a:latin typeface="Arial" charset="0"/>
                        <a:ea typeface="Arial" charset="0"/>
                        <a:cs typeface="Arial" charset="0"/>
                      </a:endParaRPr>
                    </a:p>
                  </a:txBody>
                  <a:tcPr marL="63500" marR="63500" marT="38100" marB="3810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FFFF"/>
                    </a:solidFill>
                  </a:tcPr>
                </a:tc>
                <a:tc>
                  <a:txBody>
                    <a:bodyPr/>
                    <a:lstStyle/>
                    <a:p>
                      <a:pPr marL="0" indent="0" algn="ctr">
                        <a:buNone/>
                      </a:pPr>
                      <a:r>
                        <a:rPr lang="en-US" sz="1300" dirty="0">
                          <a:solidFill>
                            <a:srgbClr val="000000"/>
                          </a:solidFill>
                          <a:latin typeface="Arial" pitchFamily="34" charset="0"/>
                          <a:ea typeface="Arial" pitchFamily="34" charset="-122"/>
                          <a:cs typeface="Arial" pitchFamily="34" charset="-120"/>
                        </a:rPr>
                        <a:t>LR, DT, SVM compared; month, visitor type and page value matter most. (</a:t>
                      </a:r>
                      <a:r>
                        <a:rPr lang="en-US" sz="1300" dirty="0">
                          <a:solidFill>
                            <a:srgbClr val="0097A7"/>
                          </a:solidFill>
                          <a:latin typeface="Arial" pitchFamily="34" charset="0"/>
                          <a:ea typeface="Arial" pitchFamily="34" charset="-122"/>
                          <a:cs typeface="Arial" pitchFamily="34" charset="-120"/>
                        </a:rPr>
                        <a:t>ACM</a:t>
                      </a:r>
                      <a:r>
                        <a:rPr lang="en-US" sz="1300" dirty="0">
                          <a:solidFill>
                            <a:srgbClr val="000000"/>
                          </a:solidFill>
                          <a:latin typeface="Arial" pitchFamily="34" charset="0"/>
                          <a:ea typeface="Arial" pitchFamily="34" charset="-122"/>
                          <a:cs typeface="Arial" pitchFamily="34" charset="-120"/>
                        </a:rPr>
                        <a:t>)</a:t>
                      </a:r>
                      <a:endParaRPr lang="en-US" sz="1300" dirty="0">
                        <a:latin typeface="Arial" charset="0"/>
                        <a:ea typeface="Arial" charset="0"/>
                        <a:cs typeface="Arial" charset="0"/>
                      </a:endParaRPr>
                    </a:p>
                  </a:txBody>
                  <a:tcPr marL="63500" marR="63500" marT="38100" marB="3810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0">
                <a:tc>
                  <a:txBody>
                    <a:bodyPr/>
                    <a:lstStyle/>
                    <a:p>
                      <a:pPr marL="0" indent="0" algn="ctr">
                        <a:buNone/>
                      </a:pPr>
                      <a:r>
                        <a:rPr lang="en-US" sz="1300" dirty="0">
                          <a:solidFill>
                            <a:srgbClr val="000000"/>
                          </a:solidFill>
                          <a:latin typeface="Arial" pitchFamily="34" charset="0"/>
                          <a:ea typeface="Arial" pitchFamily="34" charset="-122"/>
                          <a:cs typeface="Arial" pitchFamily="34" charset="-120"/>
                        </a:rPr>
                        <a:t>4</a:t>
                      </a:r>
                      <a:endParaRPr lang="en-US" sz="1300" dirty="0">
                        <a:latin typeface="Arial" charset="0"/>
                        <a:ea typeface="Arial" charset="0"/>
                        <a:cs typeface="Arial" charset="0"/>
                      </a:endParaRPr>
                    </a:p>
                  </a:txBody>
                  <a:tcPr marL="63500" marR="63500" marT="38100" marB="3810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DE9D9"/>
                    </a:solidFill>
                  </a:tcPr>
                </a:tc>
                <a:tc>
                  <a:txBody>
                    <a:bodyPr/>
                    <a:lstStyle/>
                    <a:p>
                      <a:pPr marL="0" indent="0" algn="ctr">
                        <a:buNone/>
                      </a:pPr>
                      <a:r>
                        <a:rPr lang="en-US" sz="1300" dirty="0">
                          <a:solidFill>
                            <a:srgbClr val="000000"/>
                          </a:solidFill>
                          <a:latin typeface="Arial" pitchFamily="34" charset="0"/>
                          <a:ea typeface="Arial" pitchFamily="34" charset="-122"/>
                          <a:cs typeface="Arial" pitchFamily="34" charset="-120"/>
                        </a:rPr>
                        <a:t>2026</a:t>
                      </a:r>
                      <a:endParaRPr lang="en-US" sz="1300" dirty="0">
                        <a:latin typeface="Arial" charset="0"/>
                        <a:ea typeface="Arial" charset="0"/>
                        <a:cs typeface="Arial" charset="0"/>
                      </a:endParaRPr>
                    </a:p>
                  </a:txBody>
                  <a:tcPr marL="63500" marR="63500" marT="38100" marB="3810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DE9D9"/>
                    </a:solidFill>
                  </a:tcPr>
                </a:tc>
                <a:tc>
                  <a:txBody>
                    <a:bodyPr/>
                    <a:lstStyle/>
                    <a:p>
                      <a:pPr marL="0" indent="0" algn="ctr">
                        <a:buNone/>
                      </a:pPr>
                      <a:r>
                        <a:rPr lang="en-US" sz="1300" b="1" dirty="0">
                          <a:solidFill>
                            <a:srgbClr val="000000"/>
                          </a:solidFill>
                          <a:latin typeface="Arial" pitchFamily="34" charset="0"/>
                          <a:ea typeface="Arial" pitchFamily="34" charset="-122"/>
                          <a:cs typeface="Arial" pitchFamily="34" charset="-120"/>
                        </a:rPr>
                        <a:t>Prediction of Online Shoppers’ Purchasing Intention Based on SHAP-IGWO-EM</a:t>
                      </a:r>
                      <a:endParaRPr lang="en-US" sz="1300" dirty="0">
                        <a:latin typeface="Arial" charset="0"/>
                        <a:ea typeface="Arial" charset="0"/>
                        <a:cs typeface="Arial" charset="0"/>
                      </a:endParaRPr>
                    </a:p>
                  </a:txBody>
                  <a:tcPr marL="63500" marR="63500" marT="38100" marB="3810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DE9D9"/>
                    </a:solidFill>
                  </a:tcPr>
                </a:tc>
                <a:tc>
                  <a:txBody>
                    <a:bodyPr/>
                    <a:lstStyle/>
                    <a:p>
                      <a:pPr marL="0" indent="0" algn="ctr">
                        <a:buNone/>
                      </a:pPr>
                      <a:r>
                        <a:rPr lang="en-US" sz="1300" dirty="0">
                          <a:solidFill>
                            <a:srgbClr val="000000"/>
                          </a:solidFill>
                          <a:latin typeface="Arial" pitchFamily="34" charset="0"/>
                          <a:ea typeface="Arial" pitchFamily="34" charset="-122"/>
                          <a:cs typeface="Arial" pitchFamily="34" charset="-120"/>
                        </a:rPr>
                        <a:t>Hybrid ensemble improves accuracy and interpretability. (</a:t>
                      </a:r>
                      <a:r>
                        <a:rPr lang="en-US" sz="1300" dirty="0">
                          <a:solidFill>
                            <a:srgbClr val="0097A7"/>
                          </a:solidFill>
                          <a:latin typeface="Arial" pitchFamily="34" charset="0"/>
                          <a:ea typeface="Arial" pitchFamily="34" charset="-122"/>
                          <a:cs typeface="Arial" pitchFamily="34" charset="-120"/>
                        </a:rPr>
                        <a:t>ScienceDirect</a:t>
                      </a:r>
                      <a:r>
                        <a:rPr lang="en-US" sz="1300" dirty="0">
                          <a:solidFill>
                            <a:srgbClr val="000000"/>
                          </a:solidFill>
                          <a:latin typeface="Arial" pitchFamily="34" charset="0"/>
                          <a:ea typeface="Arial" pitchFamily="34" charset="-122"/>
                          <a:cs typeface="Arial" pitchFamily="34" charset="-120"/>
                        </a:rPr>
                        <a:t>)</a:t>
                      </a:r>
                      <a:endParaRPr lang="en-US" sz="1300" dirty="0">
                        <a:latin typeface="Arial" charset="0"/>
                        <a:ea typeface="Arial" charset="0"/>
                        <a:cs typeface="Arial" charset="0"/>
                      </a:endParaRPr>
                    </a:p>
                  </a:txBody>
                  <a:tcPr marL="63500" marR="63500" marT="38100" marB="3810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DE9D9"/>
                    </a:solidFill>
                  </a:tcPr>
                </a:tc>
                <a:extLst>
                  <a:ext uri="{0D108BD9-81ED-4DB2-BD59-A6C34878D82A}">
                    <a16:rowId xmlns:a16="http://schemas.microsoft.com/office/drawing/2014/main" val="10004"/>
                  </a:ext>
                </a:extLst>
              </a:tr>
              <a:tr h="0">
                <a:tc>
                  <a:txBody>
                    <a:bodyPr/>
                    <a:lstStyle/>
                    <a:p>
                      <a:pPr marL="0" indent="0" algn="ctr">
                        <a:buNone/>
                      </a:pPr>
                      <a:r>
                        <a:rPr lang="en-US" sz="1300" dirty="0">
                          <a:solidFill>
                            <a:srgbClr val="000000"/>
                          </a:solidFill>
                          <a:latin typeface="Arial" pitchFamily="34" charset="0"/>
                          <a:ea typeface="Arial" pitchFamily="34" charset="-122"/>
                          <a:cs typeface="Arial" pitchFamily="34" charset="-120"/>
                        </a:rPr>
                        <a:t>5</a:t>
                      </a:r>
                      <a:endParaRPr lang="en-US" sz="1300" dirty="0">
                        <a:latin typeface="Arial" charset="0"/>
                        <a:ea typeface="Arial" charset="0"/>
                        <a:cs typeface="Arial" charset="0"/>
                      </a:endParaRPr>
                    </a:p>
                  </a:txBody>
                  <a:tcPr marL="63500" marR="63500" marT="38100" marB="3810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FFFF"/>
                    </a:solidFill>
                  </a:tcPr>
                </a:tc>
                <a:tc>
                  <a:txBody>
                    <a:bodyPr/>
                    <a:lstStyle/>
                    <a:p>
                      <a:pPr marL="0" indent="0" algn="ctr">
                        <a:buNone/>
                      </a:pPr>
                      <a:r>
                        <a:rPr lang="en-US" sz="1300" dirty="0">
                          <a:solidFill>
                            <a:srgbClr val="000000"/>
                          </a:solidFill>
                          <a:latin typeface="Arial" pitchFamily="34" charset="0"/>
                          <a:ea typeface="Arial" pitchFamily="34" charset="-122"/>
                          <a:cs typeface="Arial" pitchFamily="34" charset="-120"/>
                        </a:rPr>
                        <a:t>2025</a:t>
                      </a:r>
                      <a:endParaRPr lang="en-US" sz="1300" dirty="0">
                        <a:latin typeface="Arial" charset="0"/>
                        <a:ea typeface="Arial" charset="0"/>
                        <a:cs typeface="Arial" charset="0"/>
                      </a:endParaRPr>
                    </a:p>
                  </a:txBody>
                  <a:tcPr marL="63500" marR="63500" marT="38100" marB="3810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FFFF"/>
                    </a:solidFill>
                  </a:tcPr>
                </a:tc>
                <a:tc>
                  <a:txBody>
                    <a:bodyPr/>
                    <a:lstStyle/>
                    <a:p>
                      <a:pPr marL="0" indent="0" algn="ctr">
                        <a:buNone/>
                      </a:pPr>
                      <a:r>
                        <a:rPr lang="en-US" sz="1300" b="1" dirty="0">
                          <a:solidFill>
                            <a:srgbClr val="000000"/>
                          </a:solidFill>
                          <a:latin typeface="Arial" pitchFamily="34" charset="0"/>
                          <a:ea typeface="Arial" pitchFamily="34" charset="-122"/>
                          <a:cs typeface="Arial" pitchFamily="34" charset="-120"/>
                        </a:rPr>
                        <a:t>Leveraging AI for Predictive Modelling of Consumer Buying Intentions on E-Commerce Platforms</a:t>
                      </a:r>
                      <a:endParaRPr lang="en-US" sz="1300" dirty="0">
                        <a:latin typeface="Arial" charset="0"/>
                        <a:ea typeface="Arial" charset="0"/>
                        <a:cs typeface="Arial" charset="0"/>
                      </a:endParaRPr>
                    </a:p>
                  </a:txBody>
                  <a:tcPr marL="63500" marR="63500" marT="38100" marB="3810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FFFF"/>
                    </a:solidFill>
                  </a:tcPr>
                </a:tc>
                <a:tc>
                  <a:txBody>
                    <a:bodyPr/>
                    <a:lstStyle/>
                    <a:p>
                      <a:pPr marL="0" indent="0" algn="ctr">
                        <a:buNone/>
                      </a:pPr>
                      <a:r>
                        <a:rPr lang="en-US" sz="1300" dirty="0">
                          <a:solidFill>
                            <a:srgbClr val="000000"/>
                          </a:solidFill>
                          <a:latin typeface="Arial" pitchFamily="34" charset="0"/>
                          <a:ea typeface="Arial" pitchFamily="34" charset="-122"/>
                          <a:cs typeface="Arial" pitchFamily="34" charset="-120"/>
                        </a:rPr>
                        <a:t>XGBoost and RF outperform linear models; SEM adds trust insight. (</a:t>
                      </a:r>
                      <a:r>
                        <a:rPr lang="en-US" sz="1300" dirty="0">
                          <a:solidFill>
                            <a:srgbClr val="0097A7"/>
                          </a:solidFill>
                          <a:latin typeface="Arial" pitchFamily="34" charset="0"/>
                          <a:ea typeface="Arial" pitchFamily="34" charset="-122"/>
                          <a:cs typeface="Arial" pitchFamily="34" charset="-120"/>
                        </a:rPr>
                        <a:t>Discover AI, Springer</a:t>
                      </a:r>
                      <a:r>
                        <a:rPr lang="en-US" sz="1300" dirty="0">
                          <a:solidFill>
                            <a:srgbClr val="000000"/>
                          </a:solidFill>
                          <a:latin typeface="Arial" pitchFamily="34" charset="0"/>
                          <a:ea typeface="Arial" pitchFamily="34" charset="-122"/>
                          <a:cs typeface="Arial" pitchFamily="34" charset="-120"/>
                        </a:rPr>
                        <a:t>)</a:t>
                      </a:r>
                      <a:endParaRPr lang="en-US" sz="1300" dirty="0">
                        <a:latin typeface="Arial" charset="0"/>
                        <a:ea typeface="Arial" charset="0"/>
                        <a:cs typeface="Arial" charset="0"/>
                      </a:endParaRPr>
                    </a:p>
                  </a:txBody>
                  <a:tcPr marL="63500" marR="63500" marT="38100" marB="3810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bl>
          </a:graphicData>
        </a:graphic>
      </p:graphicFrame>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a:spLocks noGrp="1"/>
          </p:cNvSpPr>
          <p:nvPr>
            <p:ph type="title" idx="102" hasCustomPrompt="1"/>
          </p:nvPr>
        </p:nvSpPr>
        <p:spPr>
          <a:xfrm>
            <a:off x="868680" y="109728"/>
            <a:ext cx="7406640" cy="548640"/>
          </a:xfrm>
          <a:prstGeom prst="rect">
            <a:avLst/>
          </a:prstGeom>
          <a:noFill/>
          <a:ln/>
        </p:spPr>
        <p:txBody>
          <a:bodyPr wrap="square" lIns="0" tIns="0" rIns="0" bIns="0" rtlCol="0" anchor="ctr"/>
          <a:lstStyle/>
          <a:p>
            <a:pPr marL="0" indent="0" algn="ctr">
              <a:buNone/>
            </a:pPr>
            <a:r>
              <a:rPr lang="en-US" sz="2400" b="1" dirty="0">
                <a:solidFill>
                  <a:srgbClr val="FF0000"/>
                </a:solidFill>
                <a:latin typeface="Arial" pitchFamily="34" charset="0"/>
                <a:ea typeface="Arial" pitchFamily="34" charset="-122"/>
                <a:cs typeface="Arial" pitchFamily="34" charset="-120"/>
              </a:rPr>
              <a:t>LITERATURE SURVEY</a:t>
            </a:r>
            <a:endParaRPr lang="en-US" sz="2400" dirty="0"/>
          </a:p>
        </p:txBody>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388620" y="868680"/>
          <a:ext cx="8366760" cy="914400"/>
        </p:xfrm>
        <a:graphic>
          <a:graphicData uri="http://schemas.openxmlformats.org/drawingml/2006/table">
            <a:tbl>
              <a:tblPr/>
              <a:tblGrid>
                <a:gridCol w="502920">
                  <a:extLst>
                    <a:ext uri="{9D8B030D-6E8A-4147-A177-3AD203B41FA5}">
                      <a16:colId xmlns:a16="http://schemas.microsoft.com/office/drawing/2014/main" val="20000"/>
                    </a:ext>
                  </a:extLst>
                </a:gridCol>
                <a:gridCol w="822960">
                  <a:extLst>
                    <a:ext uri="{9D8B030D-6E8A-4147-A177-3AD203B41FA5}">
                      <a16:colId xmlns:a16="http://schemas.microsoft.com/office/drawing/2014/main" val="20001"/>
                    </a:ext>
                  </a:extLst>
                </a:gridCol>
                <a:gridCol w="3108960">
                  <a:extLst>
                    <a:ext uri="{9D8B030D-6E8A-4147-A177-3AD203B41FA5}">
                      <a16:colId xmlns:a16="http://schemas.microsoft.com/office/drawing/2014/main" val="20002"/>
                    </a:ext>
                  </a:extLst>
                </a:gridCol>
                <a:gridCol w="3931920">
                  <a:extLst>
                    <a:ext uri="{9D8B030D-6E8A-4147-A177-3AD203B41FA5}">
                      <a16:colId xmlns:a16="http://schemas.microsoft.com/office/drawing/2014/main" val="20003"/>
                    </a:ext>
                  </a:extLst>
                </a:gridCol>
              </a:tblGrid>
              <a:tr h="0">
                <a:tc>
                  <a:txBody>
                    <a:bodyPr/>
                    <a:lstStyle/>
                    <a:p>
                      <a:pPr marL="0" indent="0" algn="ctr">
                        <a:buNone/>
                      </a:pPr>
                      <a:r>
                        <a:rPr lang="en-US" sz="1400" dirty="0">
                          <a:solidFill>
                            <a:srgbClr val="000000"/>
                          </a:solidFill>
                          <a:latin typeface="Arial" pitchFamily="34" charset="0"/>
                          <a:ea typeface="Arial" pitchFamily="34" charset="-122"/>
                          <a:cs typeface="Arial" pitchFamily="34" charset="-120"/>
                        </a:rPr>
                        <a:t>No.</a:t>
                      </a:r>
                      <a:endParaRPr lang="en-US" sz="1400" dirty="0">
                        <a:latin typeface="Arial" charset="0"/>
                        <a:ea typeface="Arial" charset="0"/>
                        <a:cs typeface="Arial" charset="0"/>
                      </a:endParaRPr>
                    </a:p>
                  </a:txBody>
                  <a:tcPr marL="63500" marR="63500" marT="38100" marB="3810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79646"/>
                    </a:solidFill>
                  </a:tcPr>
                </a:tc>
                <a:tc>
                  <a:txBody>
                    <a:bodyPr/>
                    <a:lstStyle/>
                    <a:p>
                      <a:pPr marL="0" indent="0" algn="ctr">
                        <a:buNone/>
                      </a:pPr>
                      <a:r>
                        <a:rPr lang="en-US" sz="1400" dirty="0">
                          <a:solidFill>
                            <a:srgbClr val="000000"/>
                          </a:solidFill>
                          <a:latin typeface="Arial" pitchFamily="34" charset="0"/>
                          <a:ea typeface="Arial" pitchFamily="34" charset="-122"/>
                          <a:cs typeface="Arial" pitchFamily="34" charset="-120"/>
                        </a:rPr>
                        <a:t>Year</a:t>
                      </a:r>
                      <a:endParaRPr lang="en-US" sz="1400" dirty="0">
                        <a:latin typeface="Arial" charset="0"/>
                        <a:ea typeface="Arial" charset="0"/>
                        <a:cs typeface="Arial" charset="0"/>
                      </a:endParaRPr>
                    </a:p>
                  </a:txBody>
                  <a:tcPr marL="63500" marR="63500" marT="38100" marB="3810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79646"/>
                    </a:solidFill>
                  </a:tcPr>
                </a:tc>
                <a:tc>
                  <a:txBody>
                    <a:bodyPr/>
                    <a:lstStyle/>
                    <a:p>
                      <a:pPr marL="0" indent="0" algn="ctr">
                        <a:buNone/>
                      </a:pPr>
                      <a:r>
                        <a:rPr lang="en-US" sz="1400" dirty="0">
                          <a:solidFill>
                            <a:srgbClr val="000000"/>
                          </a:solidFill>
                          <a:latin typeface="Arial" pitchFamily="34" charset="0"/>
                          <a:ea typeface="Arial" pitchFamily="34" charset="-122"/>
                          <a:cs typeface="Arial" pitchFamily="34" charset="-120"/>
                        </a:rPr>
                        <a:t>Research Work</a:t>
                      </a:r>
                      <a:endParaRPr lang="en-US" sz="1400" dirty="0">
                        <a:latin typeface="Arial" charset="0"/>
                        <a:ea typeface="Arial" charset="0"/>
                        <a:cs typeface="Arial" charset="0"/>
                      </a:endParaRPr>
                    </a:p>
                  </a:txBody>
                  <a:tcPr marL="63500" marR="63500" marT="38100" marB="3810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79646"/>
                    </a:solidFill>
                  </a:tcPr>
                </a:tc>
                <a:tc>
                  <a:txBody>
                    <a:bodyPr/>
                    <a:lstStyle/>
                    <a:p>
                      <a:pPr marL="0" indent="0" algn="ctr">
                        <a:buNone/>
                      </a:pPr>
                      <a:r>
                        <a:rPr lang="en-US" sz="1400" dirty="0">
                          <a:solidFill>
                            <a:srgbClr val="000000"/>
                          </a:solidFill>
                          <a:latin typeface="Arial" pitchFamily="34" charset="0"/>
                          <a:ea typeface="Arial" pitchFamily="34" charset="-122"/>
                          <a:cs typeface="Arial" pitchFamily="34" charset="-120"/>
                        </a:rPr>
                        <a:t>Main Idea / Finding</a:t>
                      </a:r>
                      <a:endParaRPr lang="en-US" sz="1400" dirty="0">
                        <a:latin typeface="Arial" charset="0"/>
                        <a:ea typeface="Arial" charset="0"/>
                        <a:cs typeface="Arial" charset="0"/>
                      </a:endParaRPr>
                    </a:p>
                  </a:txBody>
                  <a:tcPr marL="63500" marR="63500" marT="38100" marB="3810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79646"/>
                    </a:solidFill>
                  </a:tcPr>
                </a:tc>
                <a:extLst>
                  <a:ext uri="{0D108BD9-81ED-4DB2-BD59-A6C34878D82A}">
                    <a16:rowId xmlns:a16="http://schemas.microsoft.com/office/drawing/2014/main" val="10000"/>
                  </a:ext>
                </a:extLst>
              </a:tr>
              <a:tr h="0">
                <a:tc>
                  <a:txBody>
                    <a:bodyPr/>
                    <a:lstStyle/>
                    <a:p>
                      <a:pPr marL="0" indent="0" algn="ctr">
                        <a:buNone/>
                      </a:pPr>
                      <a:r>
                        <a:rPr lang="en-US" sz="1300" dirty="0">
                          <a:solidFill>
                            <a:srgbClr val="000000"/>
                          </a:solidFill>
                          <a:latin typeface="Arial" pitchFamily="34" charset="0"/>
                          <a:ea typeface="Arial" pitchFamily="34" charset="-122"/>
                          <a:cs typeface="Arial" pitchFamily="34" charset="-120"/>
                        </a:rPr>
                        <a:t>6</a:t>
                      </a:r>
                      <a:endParaRPr lang="en-US" sz="1300" dirty="0">
                        <a:latin typeface="Arial" charset="0"/>
                        <a:ea typeface="Arial" charset="0"/>
                        <a:cs typeface="Arial" charset="0"/>
                      </a:endParaRPr>
                    </a:p>
                  </a:txBody>
                  <a:tcPr marL="63500" marR="63500" marT="38100" marB="3810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FFFF"/>
                    </a:solidFill>
                  </a:tcPr>
                </a:tc>
                <a:tc>
                  <a:txBody>
                    <a:bodyPr/>
                    <a:lstStyle/>
                    <a:p>
                      <a:pPr marL="0" indent="0" algn="ctr">
                        <a:buNone/>
                      </a:pPr>
                      <a:r>
                        <a:rPr lang="en-US" sz="1300" dirty="0">
                          <a:solidFill>
                            <a:srgbClr val="000000"/>
                          </a:solidFill>
                          <a:latin typeface="Arial" pitchFamily="34" charset="0"/>
                          <a:ea typeface="Arial" pitchFamily="34" charset="-122"/>
                          <a:cs typeface="Arial" pitchFamily="34" charset="-120"/>
                        </a:rPr>
                        <a:t>2026</a:t>
                      </a:r>
                      <a:endParaRPr lang="en-US" sz="1300" dirty="0">
                        <a:latin typeface="Arial" charset="0"/>
                        <a:ea typeface="Arial" charset="0"/>
                        <a:cs typeface="Arial" charset="0"/>
                      </a:endParaRPr>
                    </a:p>
                  </a:txBody>
                  <a:tcPr marL="63500" marR="63500" marT="38100" marB="3810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FFFF"/>
                    </a:solidFill>
                  </a:tcPr>
                </a:tc>
                <a:tc>
                  <a:txBody>
                    <a:bodyPr/>
                    <a:lstStyle/>
                    <a:p>
                      <a:pPr marL="0" indent="0" algn="ctr">
                        <a:buNone/>
                      </a:pPr>
                      <a:r>
                        <a:rPr lang="en-US" sz="1300" b="1" dirty="0">
                          <a:solidFill>
                            <a:srgbClr val="000000"/>
                          </a:solidFill>
                          <a:latin typeface="Arial" pitchFamily="34" charset="0"/>
                          <a:ea typeface="Arial" pitchFamily="34" charset="-122"/>
                          <a:cs typeface="Arial" pitchFamily="34" charset="-120"/>
                        </a:rPr>
                        <a:t>Performance Evaluation of Gradient Boosting Techniques for Predicting Customer Purchase Decisions</a:t>
                      </a:r>
                      <a:endParaRPr lang="en-US" sz="1300" dirty="0">
                        <a:latin typeface="Arial" charset="0"/>
                        <a:ea typeface="Arial" charset="0"/>
                        <a:cs typeface="Arial" charset="0"/>
                      </a:endParaRPr>
                    </a:p>
                  </a:txBody>
                  <a:tcPr marL="63500" marR="63500" marT="38100" marB="3810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FFFF"/>
                    </a:solidFill>
                  </a:tcPr>
                </a:tc>
                <a:tc>
                  <a:txBody>
                    <a:bodyPr/>
                    <a:lstStyle/>
                    <a:p>
                      <a:pPr marL="0" indent="0" algn="ctr">
                        <a:buNone/>
                      </a:pPr>
                      <a:r>
                        <a:rPr lang="en-US" sz="1300" dirty="0">
                          <a:solidFill>
                            <a:srgbClr val="000000"/>
                          </a:solidFill>
                          <a:latin typeface="Arial" pitchFamily="34" charset="0"/>
                          <a:ea typeface="Arial" pitchFamily="34" charset="-122"/>
                          <a:cs typeface="Arial" pitchFamily="34" charset="-120"/>
                        </a:rPr>
                        <a:t>XGBoost, LightGBM, CatBoost compared with SMOTE balancing. (</a:t>
                      </a:r>
                      <a:r>
                        <a:rPr lang="en-US" sz="1300" dirty="0">
                          <a:solidFill>
                            <a:srgbClr val="0097A7"/>
                          </a:solidFill>
                          <a:latin typeface="Arial" pitchFamily="34" charset="0"/>
                          <a:ea typeface="Arial" pitchFamily="34" charset="-122"/>
                          <a:cs typeface="Arial" pitchFamily="34" charset="-120"/>
                        </a:rPr>
                        <a:t>JUTIF</a:t>
                      </a:r>
                      <a:r>
                        <a:rPr lang="en-US" sz="1300" dirty="0">
                          <a:solidFill>
                            <a:srgbClr val="000000"/>
                          </a:solidFill>
                          <a:latin typeface="Arial" pitchFamily="34" charset="0"/>
                          <a:ea typeface="Arial" pitchFamily="34" charset="-122"/>
                          <a:cs typeface="Arial" pitchFamily="34" charset="-120"/>
                        </a:rPr>
                        <a:t>)</a:t>
                      </a:r>
                      <a:endParaRPr lang="en-US" sz="1300" dirty="0">
                        <a:latin typeface="Arial" charset="0"/>
                        <a:ea typeface="Arial" charset="0"/>
                        <a:cs typeface="Arial" charset="0"/>
                      </a:endParaRPr>
                    </a:p>
                  </a:txBody>
                  <a:tcPr marL="63500" marR="63500" marT="38100" marB="3810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0">
                <a:tc>
                  <a:txBody>
                    <a:bodyPr/>
                    <a:lstStyle/>
                    <a:p>
                      <a:pPr marL="0" indent="0" algn="ctr">
                        <a:buNone/>
                      </a:pPr>
                      <a:r>
                        <a:rPr lang="en-US" sz="1300" dirty="0">
                          <a:solidFill>
                            <a:srgbClr val="000000"/>
                          </a:solidFill>
                          <a:latin typeface="Arial" pitchFamily="34" charset="0"/>
                          <a:ea typeface="Arial" pitchFamily="34" charset="-122"/>
                          <a:cs typeface="Arial" pitchFamily="34" charset="-120"/>
                        </a:rPr>
                        <a:t>7</a:t>
                      </a:r>
                      <a:endParaRPr lang="en-US" sz="1300" dirty="0">
                        <a:latin typeface="Arial" charset="0"/>
                        <a:ea typeface="Arial" charset="0"/>
                        <a:cs typeface="Arial" charset="0"/>
                      </a:endParaRPr>
                    </a:p>
                  </a:txBody>
                  <a:tcPr marL="63500" marR="63500" marT="38100" marB="3810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DE9D9"/>
                    </a:solidFill>
                  </a:tcPr>
                </a:tc>
                <a:tc>
                  <a:txBody>
                    <a:bodyPr/>
                    <a:lstStyle/>
                    <a:p>
                      <a:pPr marL="0" indent="0" algn="ctr">
                        <a:buNone/>
                      </a:pPr>
                      <a:r>
                        <a:rPr lang="en-US" sz="1300" dirty="0">
                          <a:solidFill>
                            <a:srgbClr val="000000"/>
                          </a:solidFill>
                          <a:latin typeface="Arial" pitchFamily="34" charset="0"/>
                          <a:ea typeface="Arial" pitchFamily="34" charset="-122"/>
                          <a:cs typeface="Arial" pitchFamily="34" charset="-120"/>
                        </a:rPr>
                        <a:t>2025/26</a:t>
                      </a:r>
                      <a:endParaRPr lang="en-US" sz="1300" dirty="0">
                        <a:latin typeface="Arial" charset="0"/>
                        <a:ea typeface="Arial" charset="0"/>
                        <a:cs typeface="Arial" charset="0"/>
                      </a:endParaRPr>
                    </a:p>
                  </a:txBody>
                  <a:tcPr marL="63500" marR="63500" marT="38100" marB="3810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DE9D9"/>
                    </a:solidFill>
                  </a:tcPr>
                </a:tc>
                <a:tc>
                  <a:txBody>
                    <a:bodyPr/>
                    <a:lstStyle/>
                    <a:p>
                      <a:pPr marL="0" indent="0" algn="ctr">
                        <a:buNone/>
                      </a:pPr>
                      <a:r>
                        <a:rPr lang="en-US" sz="1300" b="1" dirty="0">
                          <a:solidFill>
                            <a:srgbClr val="000000"/>
                          </a:solidFill>
                          <a:latin typeface="Arial" pitchFamily="34" charset="0"/>
                          <a:ea typeface="Arial" pitchFamily="34" charset="-122"/>
                          <a:cs typeface="Arial" pitchFamily="34" charset="-120"/>
                        </a:rPr>
                        <a:t>Bayesian Optimisation of Gradient Boosting for E-Commerce Purchase Intention (translated title)</a:t>
                      </a:r>
                      <a:endParaRPr lang="en-US" sz="1300" dirty="0">
                        <a:latin typeface="Arial" charset="0"/>
                        <a:ea typeface="Arial" charset="0"/>
                        <a:cs typeface="Arial" charset="0"/>
                      </a:endParaRPr>
                    </a:p>
                  </a:txBody>
                  <a:tcPr marL="63500" marR="63500" marT="38100" marB="3810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DE9D9"/>
                    </a:solidFill>
                  </a:tcPr>
                </a:tc>
                <a:tc>
                  <a:txBody>
                    <a:bodyPr/>
                    <a:lstStyle/>
                    <a:p>
                      <a:pPr marL="0" indent="0" algn="ctr">
                        <a:buNone/>
                      </a:pPr>
                      <a:r>
                        <a:rPr lang="en-US" sz="1300" dirty="0">
                          <a:solidFill>
                            <a:srgbClr val="000000"/>
                          </a:solidFill>
                          <a:latin typeface="Arial" pitchFamily="34" charset="0"/>
                          <a:ea typeface="Arial" pitchFamily="34" charset="-122"/>
                          <a:cs typeface="Arial" pitchFamily="34" charset="-120"/>
                        </a:rPr>
                        <a:t>Product-page duration and exit rate are top predictors. (</a:t>
                      </a:r>
                      <a:r>
                        <a:rPr lang="en-US" sz="1300" dirty="0">
                          <a:solidFill>
                            <a:srgbClr val="0097A7"/>
                          </a:solidFill>
                          <a:latin typeface="Arial" pitchFamily="34" charset="0"/>
                          <a:ea typeface="Arial" pitchFamily="34" charset="-122"/>
                          <a:cs typeface="Arial" pitchFamily="34" charset="-120"/>
                        </a:rPr>
                        <a:t>BITS, Seminar-ID</a:t>
                      </a:r>
                      <a:r>
                        <a:rPr lang="en-US" sz="1300" dirty="0">
                          <a:solidFill>
                            <a:srgbClr val="000000"/>
                          </a:solidFill>
                          <a:latin typeface="Arial" pitchFamily="34" charset="0"/>
                          <a:ea typeface="Arial" pitchFamily="34" charset="-122"/>
                          <a:cs typeface="Arial" pitchFamily="34" charset="-120"/>
                        </a:rPr>
                        <a:t>)</a:t>
                      </a:r>
                      <a:endParaRPr lang="en-US" sz="1300" dirty="0">
                        <a:latin typeface="Arial" charset="0"/>
                        <a:ea typeface="Arial" charset="0"/>
                        <a:cs typeface="Arial" charset="0"/>
                      </a:endParaRPr>
                    </a:p>
                  </a:txBody>
                  <a:tcPr marL="63500" marR="63500" marT="38100" marB="3810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DE9D9"/>
                    </a:solidFill>
                  </a:tcPr>
                </a:tc>
                <a:extLst>
                  <a:ext uri="{0D108BD9-81ED-4DB2-BD59-A6C34878D82A}">
                    <a16:rowId xmlns:a16="http://schemas.microsoft.com/office/drawing/2014/main" val="10002"/>
                  </a:ext>
                </a:extLst>
              </a:tr>
              <a:tr h="0">
                <a:tc>
                  <a:txBody>
                    <a:bodyPr/>
                    <a:lstStyle/>
                    <a:p>
                      <a:pPr marL="0" indent="0" algn="ctr">
                        <a:buNone/>
                      </a:pPr>
                      <a:r>
                        <a:rPr lang="en-US" sz="1300" dirty="0">
                          <a:solidFill>
                            <a:srgbClr val="000000"/>
                          </a:solidFill>
                          <a:latin typeface="Arial" pitchFamily="34" charset="0"/>
                          <a:ea typeface="Arial" pitchFamily="34" charset="-122"/>
                          <a:cs typeface="Arial" pitchFamily="34" charset="-120"/>
                        </a:rPr>
                        <a:t>8</a:t>
                      </a:r>
                      <a:endParaRPr lang="en-US" sz="1300" dirty="0">
                        <a:latin typeface="Arial" charset="0"/>
                        <a:ea typeface="Arial" charset="0"/>
                        <a:cs typeface="Arial" charset="0"/>
                      </a:endParaRPr>
                    </a:p>
                  </a:txBody>
                  <a:tcPr marL="63500" marR="63500" marT="38100" marB="3810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FFFF"/>
                    </a:solidFill>
                  </a:tcPr>
                </a:tc>
                <a:tc>
                  <a:txBody>
                    <a:bodyPr/>
                    <a:lstStyle/>
                    <a:p>
                      <a:pPr marL="0" indent="0" algn="ctr">
                        <a:buNone/>
                      </a:pPr>
                      <a:r>
                        <a:rPr lang="en-US" sz="1300" dirty="0">
                          <a:solidFill>
                            <a:srgbClr val="000000"/>
                          </a:solidFill>
                          <a:latin typeface="Arial" pitchFamily="34" charset="0"/>
                          <a:ea typeface="Arial" pitchFamily="34" charset="-122"/>
                          <a:cs typeface="Arial" pitchFamily="34" charset="-120"/>
                        </a:rPr>
                        <a:t>2024</a:t>
                      </a:r>
                      <a:endParaRPr lang="en-US" sz="1300" dirty="0">
                        <a:latin typeface="Arial" charset="0"/>
                        <a:ea typeface="Arial" charset="0"/>
                        <a:cs typeface="Arial" charset="0"/>
                      </a:endParaRPr>
                    </a:p>
                  </a:txBody>
                  <a:tcPr marL="63500" marR="63500" marT="38100" marB="3810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FFFF"/>
                    </a:solidFill>
                  </a:tcPr>
                </a:tc>
                <a:tc>
                  <a:txBody>
                    <a:bodyPr/>
                    <a:lstStyle/>
                    <a:p>
                      <a:pPr marL="0" indent="0" algn="ctr">
                        <a:buNone/>
                      </a:pPr>
                      <a:r>
                        <a:rPr lang="en-US" sz="1300" b="1" dirty="0">
                          <a:solidFill>
                            <a:srgbClr val="000000"/>
                          </a:solidFill>
                          <a:latin typeface="Arial" pitchFamily="34" charset="0"/>
                          <a:ea typeface="Arial" pitchFamily="34" charset="-122"/>
                          <a:cs typeface="Arial" pitchFamily="34" charset="-120"/>
                        </a:rPr>
                        <a:t>Online Purchase Behavior Prediction Model Based on RNN and Naive Bayes</a:t>
                      </a:r>
                      <a:endParaRPr lang="en-US" sz="1300" dirty="0">
                        <a:latin typeface="Arial" charset="0"/>
                        <a:ea typeface="Arial" charset="0"/>
                        <a:cs typeface="Arial" charset="0"/>
                      </a:endParaRPr>
                    </a:p>
                  </a:txBody>
                  <a:tcPr marL="63500" marR="63500" marT="38100" marB="3810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FFFF"/>
                    </a:solidFill>
                  </a:tcPr>
                </a:tc>
                <a:tc>
                  <a:txBody>
                    <a:bodyPr/>
                    <a:lstStyle/>
                    <a:p>
                      <a:pPr marL="0" indent="0" algn="ctr">
                        <a:buNone/>
                      </a:pPr>
                      <a:r>
                        <a:rPr lang="en-US" sz="1300" dirty="0">
                          <a:solidFill>
                            <a:srgbClr val="000000"/>
                          </a:solidFill>
                          <a:latin typeface="Arial" pitchFamily="34" charset="0"/>
                          <a:ea typeface="Arial" pitchFamily="34" charset="-122"/>
                          <a:cs typeface="Arial" pitchFamily="34" charset="-120"/>
                        </a:rPr>
                        <a:t>Sequence model plus Naive Bayes predicts purchase behaviour. (</a:t>
                      </a:r>
                      <a:r>
                        <a:rPr lang="en-US" sz="1300" dirty="0">
                          <a:solidFill>
                            <a:srgbClr val="0097A7"/>
                          </a:solidFill>
                          <a:latin typeface="Arial" pitchFamily="34" charset="0"/>
                          <a:ea typeface="Arial" pitchFamily="34" charset="-122"/>
                          <a:cs typeface="Arial" pitchFamily="34" charset="-120"/>
                        </a:rPr>
                        <a:t>J. Theor. Appl. Electron. Commer. Res.</a:t>
                      </a:r>
                      <a:r>
                        <a:rPr lang="en-US" sz="1300" dirty="0">
                          <a:solidFill>
                            <a:srgbClr val="000000"/>
                          </a:solidFill>
                          <a:latin typeface="Arial" pitchFamily="34" charset="0"/>
                          <a:ea typeface="Arial" pitchFamily="34" charset="-122"/>
                          <a:cs typeface="Arial" pitchFamily="34" charset="-120"/>
                        </a:rPr>
                        <a:t>)</a:t>
                      </a:r>
                      <a:endParaRPr lang="en-US" sz="1300" dirty="0">
                        <a:latin typeface="Arial" charset="0"/>
                        <a:ea typeface="Arial" charset="0"/>
                        <a:cs typeface="Arial" charset="0"/>
                      </a:endParaRPr>
                    </a:p>
                  </a:txBody>
                  <a:tcPr marL="63500" marR="63500" marT="38100" marB="3810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0">
                <a:tc>
                  <a:txBody>
                    <a:bodyPr/>
                    <a:lstStyle/>
                    <a:p>
                      <a:pPr marL="0" indent="0" algn="ctr">
                        <a:buNone/>
                      </a:pPr>
                      <a:r>
                        <a:rPr lang="en-US" sz="1300" dirty="0">
                          <a:solidFill>
                            <a:srgbClr val="000000"/>
                          </a:solidFill>
                          <a:latin typeface="Arial" pitchFamily="34" charset="0"/>
                          <a:ea typeface="Arial" pitchFamily="34" charset="-122"/>
                          <a:cs typeface="Arial" pitchFamily="34" charset="-120"/>
                        </a:rPr>
                        <a:t>9</a:t>
                      </a:r>
                      <a:endParaRPr lang="en-US" sz="1300" dirty="0">
                        <a:latin typeface="Arial" charset="0"/>
                        <a:ea typeface="Arial" charset="0"/>
                        <a:cs typeface="Arial" charset="0"/>
                      </a:endParaRPr>
                    </a:p>
                  </a:txBody>
                  <a:tcPr marL="63500" marR="63500" marT="38100" marB="3810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DE9D9"/>
                    </a:solidFill>
                  </a:tcPr>
                </a:tc>
                <a:tc>
                  <a:txBody>
                    <a:bodyPr/>
                    <a:lstStyle/>
                    <a:p>
                      <a:pPr marL="0" indent="0" algn="ctr">
                        <a:buNone/>
                      </a:pPr>
                      <a:r>
                        <a:rPr lang="en-US" sz="1300" dirty="0">
                          <a:solidFill>
                            <a:srgbClr val="000000"/>
                          </a:solidFill>
                          <a:latin typeface="Arial" pitchFamily="34" charset="0"/>
                          <a:ea typeface="Arial" pitchFamily="34" charset="-122"/>
                          <a:cs typeface="Arial" pitchFamily="34" charset="-120"/>
                        </a:rPr>
                        <a:t>2024</a:t>
                      </a:r>
                      <a:endParaRPr lang="en-US" sz="1300" dirty="0">
                        <a:latin typeface="Arial" charset="0"/>
                        <a:ea typeface="Arial" charset="0"/>
                        <a:cs typeface="Arial" charset="0"/>
                      </a:endParaRPr>
                    </a:p>
                  </a:txBody>
                  <a:tcPr marL="63500" marR="63500" marT="38100" marB="3810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DE9D9"/>
                    </a:solidFill>
                  </a:tcPr>
                </a:tc>
                <a:tc>
                  <a:txBody>
                    <a:bodyPr/>
                    <a:lstStyle/>
                    <a:p>
                      <a:pPr marL="0" indent="0" algn="ctr">
                        <a:buNone/>
                      </a:pPr>
                      <a:r>
                        <a:rPr lang="en-US" sz="1300" b="1" dirty="0">
                          <a:solidFill>
                            <a:srgbClr val="000000"/>
                          </a:solidFill>
                          <a:latin typeface="Arial" pitchFamily="34" charset="0"/>
                          <a:ea typeface="Arial" pitchFamily="34" charset="-122"/>
                          <a:cs typeface="Arial" pitchFamily="34" charset="-120"/>
                        </a:rPr>
                        <a:t>Real-Time Prediction of Online Shoppers’ Purchasing Intention Using Random Forest</a:t>
                      </a:r>
                      <a:endParaRPr lang="en-US" sz="1300" dirty="0">
                        <a:latin typeface="Arial" charset="0"/>
                        <a:ea typeface="Arial" charset="0"/>
                        <a:cs typeface="Arial" charset="0"/>
                      </a:endParaRPr>
                    </a:p>
                  </a:txBody>
                  <a:tcPr marL="63500" marR="63500" marT="38100" marB="3810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DE9D9"/>
                    </a:solidFill>
                  </a:tcPr>
                </a:tc>
                <a:tc>
                  <a:txBody>
                    <a:bodyPr/>
                    <a:lstStyle/>
                    <a:p>
                      <a:pPr marL="0" indent="0" algn="ctr">
                        <a:buNone/>
                      </a:pPr>
                      <a:r>
                        <a:rPr lang="en-US" sz="1300" dirty="0">
                          <a:solidFill>
                            <a:srgbClr val="000000"/>
                          </a:solidFill>
                          <a:latin typeface="Arial" pitchFamily="34" charset="0"/>
                          <a:ea typeface="Arial" pitchFamily="34" charset="-122"/>
                          <a:cs typeface="Arial" pitchFamily="34" charset="-120"/>
                        </a:rPr>
                        <a:t>Real-time Random Forest system for visitor purchase intent. (</a:t>
                      </a:r>
                      <a:r>
                        <a:rPr lang="en-US" sz="1300" dirty="0">
                          <a:solidFill>
                            <a:srgbClr val="0097A7"/>
                          </a:solidFill>
                          <a:latin typeface="Arial" pitchFamily="34" charset="0"/>
                          <a:ea typeface="Arial" pitchFamily="34" charset="-122"/>
                          <a:cs typeface="Arial" pitchFamily="34" charset="-120"/>
                        </a:rPr>
                        <a:t>All Commerce Journal</a:t>
                      </a:r>
                      <a:r>
                        <a:rPr lang="en-US" sz="1300" dirty="0">
                          <a:solidFill>
                            <a:srgbClr val="000000"/>
                          </a:solidFill>
                          <a:latin typeface="Arial" pitchFamily="34" charset="0"/>
                          <a:ea typeface="Arial" pitchFamily="34" charset="-122"/>
                          <a:cs typeface="Arial" pitchFamily="34" charset="-120"/>
                        </a:rPr>
                        <a:t>)</a:t>
                      </a:r>
                      <a:endParaRPr lang="en-US" sz="1300" dirty="0">
                        <a:latin typeface="Arial" charset="0"/>
                        <a:ea typeface="Arial" charset="0"/>
                        <a:cs typeface="Arial" charset="0"/>
                      </a:endParaRPr>
                    </a:p>
                  </a:txBody>
                  <a:tcPr marL="63500" marR="63500" marT="38100" marB="3810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DE9D9"/>
                    </a:solidFill>
                  </a:tcPr>
                </a:tc>
                <a:extLst>
                  <a:ext uri="{0D108BD9-81ED-4DB2-BD59-A6C34878D82A}">
                    <a16:rowId xmlns:a16="http://schemas.microsoft.com/office/drawing/2014/main" val="10004"/>
                  </a:ext>
                </a:extLst>
              </a:tr>
              <a:tr h="0">
                <a:tc>
                  <a:txBody>
                    <a:bodyPr/>
                    <a:lstStyle/>
                    <a:p>
                      <a:pPr marL="0" indent="0" algn="ctr">
                        <a:buNone/>
                      </a:pPr>
                      <a:r>
                        <a:rPr lang="en-US" sz="1300" dirty="0">
                          <a:solidFill>
                            <a:srgbClr val="000000"/>
                          </a:solidFill>
                          <a:latin typeface="Arial" pitchFamily="34" charset="0"/>
                          <a:ea typeface="Arial" pitchFamily="34" charset="-122"/>
                          <a:cs typeface="Arial" pitchFamily="34" charset="-120"/>
                        </a:rPr>
                        <a:t>10</a:t>
                      </a:r>
                      <a:endParaRPr lang="en-US" sz="1300" dirty="0">
                        <a:latin typeface="Arial" charset="0"/>
                        <a:ea typeface="Arial" charset="0"/>
                        <a:cs typeface="Arial" charset="0"/>
                      </a:endParaRPr>
                    </a:p>
                  </a:txBody>
                  <a:tcPr marL="63500" marR="63500" marT="38100" marB="3810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FFFF"/>
                    </a:solidFill>
                  </a:tcPr>
                </a:tc>
                <a:tc>
                  <a:txBody>
                    <a:bodyPr/>
                    <a:lstStyle/>
                    <a:p>
                      <a:pPr marL="0" indent="0" algn="ctr">
                        <a:buNone/>
                      </a:pPr>
                      <a:r>
                        <a:rPr lang="en-US" sz="1300" dirty="0">
                          <a:solidFill>
                            <a:srgbClr val="000000"/>
                          </a:solidFill>
                          <a:latin typeface="Arial" pitchFamily="34" charset="0"/>
                          <a:ea typeface="Arial" pitchFamily="34" charset="-122"/>
                          <a:cs typeface="Arial" pitchFamily="34" charset="-120"/>
                        </a:rPr>
                        <a:t>2024</a:t>
                      </a:r>
                      <a:endParaRPr lang="en-US" sz="1300" dirty="0">
                        <a:latin typeface="Arial" charset="0"/>
                        <a:ea typeface="Arial" charset="0"/>
                        <a:cs typeface="Arial" charset="0"/>
                      </a:endParaRPr>
                    </a:p>
                  </a:txBody>
                  <a:tcPr marL="63500" marR="63500" marT="38100" marB="3810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FFFF"/>
                    </a:solidFill>
                  </a:tcPr>
                </a:tc>
                <a:tc>
                  <a:txBody>
                    <a:bodyPr/>
                    <a:lstStyle/>
                    <a:p>
                      <a:pPr marL="0" indent="0" algn="ctr">
                        <a:buNone/>
                      </a:pPr>
                      <a:r>
                        <a:rPr lang="en-US" sz="1300" b="1" dirty="0">
                          <a:solidFill>
                            <a:srgbClr val="000000"/>
                          </a:solidFill>
                          <a:latin typeface="Arial" pitchFamily="34" charset="0"/>
                          <a:ea typeface="Arial" pitchFamily="34" charset="-122"/>
                          <a:cs typeface="Arial" pitchFamily="34" charset="-120"/>
                        </a:rPr>
                        <a:t>Machine Learning for Predicting Online Shoppers’ Purchase Intentions</a:t>
                      </a:r>
                      <a:endParaRPr lang="en-US" sz="1300" dirty="0">
                        <a:latin typeface="Arial" charset="0"/>
                        <a:ea typeface="Arial" charset="0"/>
                        <a:cs typeface="Arial" charset="0"/>
                      </a:endParaRPr>
                    </a:p>
                  </a:txBody>
                  <a:tcPr marL="63500" marR="63500" marT="38100" marB="3810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FFFF"/>
                    </a:solidFill>
                  </a:tcPr>
                </a:tc>
                <a:tc>
                  <a:txBody>
                    <a:bodyPr/>
                    <a:lstStyle/>
                    <a:p>
                      <a:pPr marL="0" indent="0" algn="ctr">
                        <a:buNone/>
                      </a:pPr>
                      <a:r>
                        <a:rPr lang="en-US" sz="1300" dirty="0">
                          <a:solidFill>
                            <a:srgbClr val="000000"/>
                          </a:solidFill>
                          <a:latin typeface="Arial" pitchFamily="34" charset="0"/>
                          <a:ea typeface="Arial" pitchFamily="34" charset="-122"/>
                          <a:cs typeface="Arial" pitchFamily="34" charset="-120"/>
                        </a:rPr>
                        <a:t>Evaluates standard classifiers including LR on the UCI dataset. (</a:t>
                      </a:r>
                      <a:r>
                        <a:rPr lang="en-US" sz="1300" dirty="0">
                          <a:solidFill>
                            <a:srgbClr val="0097A7"/>
                          </a:solidFill>
                          <a:latin typeface="Arial" pitchFamily="34" charset="0"/>
                          <a:ea typeface="Arial" pitchFamily="34" charset="-122"/>
                          <a:cs typeface="Arial" pitchFamily="34" charset="-120"/>
                        </a:rPr>
                        <a:t>Preprint</a:t>
                      </a:r>
                      <a:r>
                        <a:rPr lang="en-US" sz="1300" dirty="0">
                          <a:solidFill>
                            <a:srgbClr val="000000"/>
                          </a:solidFill>
                          <a:latin typeface="Arial" pitchFamily="34" charset="0"/>
                          <a:ea typeface="Arial" pitchFamily="34" charset="-122"/>
                          <a:cs typeface="Arial" pitchFamily="34" charset="-120"/>
                        </a:rPr>
                        <a:t>)</a:t>
                      </a:r>
                      <a:endParaRPr lang="en-US" sz="1300" dirty="0">
                        <a:latin typeface="Arial" charset="0"/>
                        <a:ea typeface="Arial" charset="0"/>
                        <a:cs typeface="Arial" charset="0"/>
                      </a:endParaRPr>
                    </a:p>
                  </a:txBody>
                  <a:tcPr marL="63500" marR="63500" marT="38100" marB="3810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bl>
          </a:graphicData>
        </a:graphic>
      </p:graphicFrame>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a:spLocks noGrp="1"/>
          </p:cNvSpPr>
          <p:nvPr>
            <p:ph type="title" idx="102" hasCustomPrompt="1"/>
          </p:nvPr>
        </p:nvSpPr>
        <p:spPr>
          <a:xfrm>
            <a:off x="868680" y="109728"/>
            <a:ext cx="7406640" cy="548640"/>
          </a:xfrm>
          <a:prstGeom prst="rect">
            <a:avLst/>
          </a:prstGeom>
          <a:noFill/>
          <a:ln/>
        </p:spPr>
        <p:txBody>
          <a:bodyPr wrap="square" lIns="0" tIns="0" rIns="0" bIns="0" rtlCol="0" anchor="ctr"/>
          <a:lstStyle/>
          <a:p>
            <a:pPr marL="0" indent="0" algn="ctr">
              <a:buNone/>
            </a:pPr>
            <a:r>
              <a:rPr lang="en-US" sz="2400" b="1" dirty="0">
                <a:solidFill>
                  <a:srgbClr val="FF0000"/>
                </a:solidFill>
                <a:latin typeface="Arial" pitchFamily="34" charset="0"/>
                <a:ea typeface="Arial" pitchFamily="34" charset="-122"/>
                <a:cs typeface="Arial" pitchFamily="34" charset="-120"/>
              </a:rPr>
              <a:t>LITERATURE SURVEY</a:t>
            </a:r>
            <a:endParaRPr lang="en-US" sz="2400" dirty="0"/>
          </a:p>
        </p:txBody>
      </p:sp>
      <p:graphicFrame>
        <p:nvGraphicFramePr>
          <p:cNvPr id="9" name="Table 0"/>
          <p:cNvGraphicFramePr>
            <a:graphicFrameLocks noGrp="1"/>
          </p:cNvGraphicFramePr>
          <p:nvPr>
            <p:extLst>
              <p:ext uri="{D42A27DB-BD31-4B8C-83A1-F6EECF244321}">
                <p14:modId xmlns:p14="http://schemas.microsoft.com/office/powerpoint/2010/main" val="1579011935"/>
              </p:ext>
            </p:extLst>
          </p:nvPr>
        </p:nvGraphicFramePr>
        <p:xfrm>
          <a:off x="388620" y="868680"/>
          <a:ext cx="8366760" cy="914400"/>
        </p:xfrm>
        <a:graphic>
          <a:graphicData uri="http://schemas.openxmlformats.org/drawingml/2006/table">
            <a:tbl>
              <a:tblPr/>
              <a:tblGrid>
                <a:gridCol w="502920">
                  <a:extLst>
                    <a:ext uri="{9D8B030D-6E8A-4147-A177-3AD203B41FA5}">
                      <a16:colId xmlns:a16="http://schemas.microsoft.com/office/drawing/2014/main" val="20000"/>
                    </a:ext>
                  </a:extLst>
                </a:gridCol>
                <a:gridCol w="822960">
                  <a:extLst>
                    <a:ext uri="{9D8B030D-6E8A-4147-A177-3AD203B41FA5}">
                      <a16:colId xmlns:a16="http://schemas.microsoft.com/office/drawing/2014/main" val="20001"/>
                    </a:ext>
                  </a:extLst>
                </a:gridCol>
                <a:gridCol w="3108960">
                  <a:extLst>
                    <a:ext uri="{9D8B030D-6E8A-4147-A177-3AD203B41FA5}">
                      <a16:colId xmlns:a16="http://schemas.microsoft.com/office/drawing/2014/main" val="20002"/>
                    </a:ext>
                  </a:extLst>
                </a:gridCol>
                <a:gridCol w="3931920">
                  <a:extLst>
                    <a:ext uri="{9D8B030D-6E8A-4147-A177-3AD203B41FA5}">
                      <a16:colId xmlns:a16="http://schemas.microsoft.com/office/drawing/2014/main" val="20003"/>
                    </a:ext>
                  </a:extLst>
                </a:gridCol>
              </a:tblGrid>
              <a:tr h="0">
                <a:tc>
                  <a:txBody>
                    <a:bodyPr/>
                    <a:lstStyle/>
                    <a:p>
                      <a:pPr marL="0" indent="0" algn="ctr">
                        <a:buNone/>
                      </a:pPr>
                      <a:r>
                        <a:rPr lang="en-US" sz="1400" dirty="0">
                          <a:solidFill>
                            <a:srgbClr val="000000"/>
                          </a:solidFill>
                          <a:latin typeface="Arial" pitchFamily="34" charset="0"/>
                          <a:ea typeface="Arial" pitchFamily="34" charset="-122"/>
                          <a:cs typeface="Arial" pitchFamily="34" charset="-120"/>
                        </a:rPr>
                        <a:t>No.</a:t>
                      </a:r>
                      <a:endParaRPr lang="en-US" sz="1400" dirty="0">
                        <a:latin typeface="Arial" charset="0"/>
                        <a:ea typeface="Arial" charset="0"/>
                        <a:cs typeface="Arial" charset="0"/>
                      </a:endParaRPr>
                    </a:p>
                  </a:txBody>
                  <a:tcPr marL="63500" marR="63500" marT="38100" marB="3810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79646"/>
                    </a:solidFill>
                  </a:tcPr>
                </a:tc>
                <a:tc>
                  <a:txBody>
                    <a:bodyPr/>
                    <a:lstStyle/>
                    <a:p>
                      <a:pPr marL="0" indent="0" algn="ctr">
                        <a:buNone/>
                      </a:pPr>
                      <a:r>
                        <a:rPr lang="en-US" sz="1400" dirty="0">
                          <a:solidFill>
                            <a:srgbClr val="000000"/>
                          </a:solidFill>
                          <a:latin typeface="Arial" pitchFamily="34" charset="0"/>
                          <a:ea typeface="Arial" pitchFamily="34" charset="-122"/>
                          <a:cs typeface="Arial" pitchFamily="34" charset="-120"/>
                        </a:rPr>
                        <a:t>Year</a:t>
                      </a:r>
                      <a:endParaRPr lang="en-US" sz="1400" dirty="0">
                        <a:latin typeface="Arial" charset="0"/>
                        <a:ea typeface="Arial" charset="0"/>
                        <a:cs typeface="Arial" charset="0"/>
                      </a:endParaRPr>
                    </a:p>
                  </a:txBody>
                  <a:tcPr marL="63500" marR="63500" marT="38100" marB="3810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79646"/>
                    </a:solidFill>
                  </a:tcPr>
                </a:tc>
                <a:tc>
                  <a:txBody>
                    <a:bodyPr/>
                    <a:lstStyle/>
                    <a:p>
                      <a:pPr marL="0" indent="0" algn="ctr">
                        <a:buNone/>
                      </a:pPr>
                      <a:r>
                        <a:rPr lang="en-US" sz="1400" dirty="0">
                          <a:solidFill>
                            <a:srgbClr val="000000"/>
                          </a:solidFill>
                          <a:latin typeface="Arial" pitchFamily="34" charset="0"/>
                          <a:ea typeface="Arial" pitchFamily="34" charset="-122"/>
                          <a:cs typeface="Arial" pitchFamily="34" charset="-120"/>
                        </a:rPr>
                        <a:t>Research Work</a:t>
                      </a:r>
                      <a:endParaRPr lang="en-US" sz="1400" dirty="0">
                        <a:latin typeface="Arial" charset="0"/>
                        <a:ea typeface="Arial" charset="0"/>
                        <a:cs typeface="Arial" charset="0"/>
                      </a:endParaRPr>
                    </a:p>
                  </a:txBody>
                  <a:tcPr marL="63500" marR="63500" marT="38100" marB="3810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79646"/>
                    </a:solidFill>
                  </a:tcPr>
                </a:tc>
                <a:tc>
                  <a:txBody>
                    <a:bodyPr/>
                    <a:lstStyle/>
                    <a:p>
                      <a:pPr marL="0" indent="0" algn="ctr">
                        <a:buNone/>
                      </a:pPr>
                      <a:r>
                        <a:rPr lang="en-US" sz="1400" dirty="0">
                          <a:solidFill>
                            <a:srgbClr val="000000"/>
                          </a:solidFill>
                          <a:latin typeface="Arial" pitchFamily="34" charset="0"/>
                          <a:ea typeface="Arial" pitchFamily="34" charset="-122"/>
                          <a:cs typeface="Arial" pitchFamily="34" charset="-120"/>
                        </a:rPr>
                        <a:t>Main Idea / Finding</a:t>
                      </a:r>
                      <a:endParaRPr lang="en-US" sz="1400" dirty="0">
                        <a:latin typeface="Arial" charset="0"/>
                        <a:ea typeface="Arial" charset="0"/>
                        <a:cs typeface="Arial" charset="0"/>
                      </a:endParaRPr>
                    </a:p>
                  </a:txBody>
                  <a:tcPr marL="63500" marR="63500" marT="38100" marB="3810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79646"/>
                    </a:solidFill>
                  </a:tcPr>
                </a:tc>
                <a:extLst>
                  <a:ext uri="{0D108BD9-81ED-4DB2-BD59-A6C34878D82A}">
                    <a16:rowId xmlns:a16="http://schemas.microsoft.com/office/drawing/2014/main" val="10000"/>
                  </a:ext>
                </a:extLst>
              </a:tr>
              <a:tr h="0">
                <a:tc>
                  <a:txBody>
                    <a:bodyPr/>
                    <a:lstStyle/>
                    <a:p>
                      <a:pPr marL="0" indent="0" algn="ctr">
                        <a:buNone/>
                      </a:pPr>
                      <a:r>
                        <a:rPr lang="en-US" sz="1300" dirty="0">
                          <a:solidFill>
                            <a:srgbClr val="000000"/>
                          </a:solidFill>
                          <a:latin typeface="Arial" pitchFamily="34" charset="0"/>
                          <a:ea typeface="Arial" pitchFamily="34" charset="-122"/>
                          <a:cs typeface="Arial" pitchFamily="34" charset="-120"/>
                        </a:rPr>
                        <a:t>11</a:t>
                      </a:r>
                      <a:endParaRPr lang="en-US" sz="1300" dirty="0">
                        <a:latin typeface="Arial" charset="0"/>
                        <a:ea typeface="Arial" charset="0"/>
                        <a:cs typeface="Arial" charset="0"/>
                      </a:endParaRPr>
                    </a:p>
                  </a:txBody>
                  <a:tcPr marL="63500" marR="63500" marT="38100" marB="3810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FFFF"/>
                    </a:solidFill>
                  </a:tcPr>
                </a:tc>
                <a:tc>
                  <a:txBody>
                    <a:bodyPr/>
                    <a:lstStyle/>
                    <a:p>
                      <a:pPr marL="0" indent="0" algn="ctr">
                        <a:buNone/>
                      </a:pPr>
                      <a:r>
                        <a:rPr lang="en-US" sz="1300" dirty="0">
                          <a:solidFill>
                            <a:srgbClr val="000000"/>
                          </a:solidFill>
                          <a:latin typeface="Arial" pitchFamily="34" charset="0"/>
                          <a:ea typeface="Arial" pitchFamily="34" charset="-122"/>
                          <a:cs typeface="Arial" pitchFamily="34" charset="-120"/>
                        </a:rPr>
                        <a:t>2024</a:t>
                      </a:r>
                      <a:endParaRPr lang="en-US" sz="1300" dirty="0">
                        <a:latin typeface="Arial" charset="0"/>
                        <a:ea typeface="Arial" charset="0"/>
                        <a:cs typeface="Arial" charset="0"/>
                      </a:endParaRPr>
                    </a:p>
                  </a:txBody>
                  <a:tcPr marL="63500" marR="63500" marT="38100" marB="3810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FFFF"/>
                    </a:solidFill>
                  </a:tcPr>
                </a:tc>
                <a:tc>
                  <a:txBody>
                    <a:bodyPr/>
                    <a:lstStyle/>
                    <a:p>
                      <a:pPr marL="0" indent="0" algn="ctr">
                        <a:buNone/>
                      </a:pPr>
                      <a:r>
                        <a:rPr lang="en-US" sz="1300" b="1" dirty="0">
                          <a:solidFill>
                            <a:srgbClr val="000000"/>
                          </a:solidFill>
                          <a:latin typeface="Arial" pitchFamily="34" charset="0"/>
                          <a:ea typeface="Arial" pitchFamily="34" charset="-122"/>
                          <a:cs typeface="Arial" pitchFamily="34" charset="-120"/>
                        </a:rPr>
                        <a:t>Advancing E-Commerce User Purchase Prediction: Time-Series Attention and GNN Profiling</a:t>
                      </a:r>
                      <a:endParaRPr lang="en-US" sz="1300" dirty="0">
                        <a:latin typeface="Arial" charset="0"/>
                        <a:ea typeface="Arial" charset="0"/>
                        <a:cs typeface="Arial" charset="0"/>
                      </a:endParaRPr>
                    </a:p>
                  </a:txBody>
                  <a:tcPr marL="63500" marR="63500" marT="38100" marB="3810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FFFF"/>
                    </a:solidFill>
                  </a:tcPr>
                </a:tc>
                <a:tc>
                  <a:txBody>
                    <a:bodyPr/>
                    <a:lstStyle/>
                    <a:p>
                      <a:pPr marL="0" indent="0" algn="ctr">
                        <a:buNone/>
                      </a:pPr>
                      <a:r>
                        <a:rPr lang="en-US" sz="1300" dirty="0">
                          <a:solidFill>
                            <a:srgbClr val="000000"/>
                          </a:solidFill>
                          <a:latin typeface="Arial" pitchFamily="34" charset="0"/>
                          <a:ea typeface="Arial" pitchFamily="34" charset="-122"/>
                          <a:cs typeface="Arial" pitchFamily="34" charset="-120"/>
                        </a:rPr>
                        <a:t>Attention over event timestamps plus graph-based user profiles. (</a:t>
                      </a:r>
                      <a:r>
                        <a:rPr lang="en-US" sz="1300" dirty="0">
                          <a:solidFill>
                            <a:srgbClr val="0097A7"/>
                          </a:solidFill>
                          <a:latin typeface="Arial" pitchFamily="34" charset="0"/>
                          <a:ea typeface="Arial" pitchFamily="34" charset="-122"/>
                          <a:cs typeface="Arial" pitchFamily="34" charset="-120"/>
                        </a:rPr>
                        <a:t>PLOS ONE</a:t>
                      </a:r>
                      <a:r>
                        <a:rPr lang="en-US" sz="1300" dirty="0">
                          <a:solidFill>
                            <a:srgbClr val="000000"/>
                          </a:solidFill>
                          <a:latin typeface="Arial" pitchFamily="34" charset="0"/>
                          <a:ea typeface="Arial" pitchFamily="34" charset="-122"/>
                          <a:cs typeface="Arial" pitchFamily="34" charset="-120"/>
                        </a:rPr>
                        <a:t>)</a:t>
                      </a:r>
                      <a:endParaRPr lang="en-US" sz="1300" dirty="0">
                        <a:latin typeface="Arial" charset="0"/>
                        <a:ea typeface="Arial" charset="0"/>
                        <a:cs typeface="Arial" charset="0"/>
                      </a:endParaRPr>
                    </a:p>
                  </a:txBody>
                  <a:tcPr marL="63500" marR="63500" marT="38100" marB="3810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0">
                <a:tc>
                  <a:txBody>
                    <a:bodyPr/>
                    <a:lstStyle/>
                    <a:p>
                      <a:pPr marL="0" indent="0" algn="ctr">
                        <a:buNone/>
                      </a:pPr>
                      <a:r>
                        <a:rPr lang="en-US" sz="1300" dirty="0">
                          <a:solidFill>
                            <a:srgbClr val="000000"/>
                          </a:solidFill>
                          <a:latin typeface="Arial" pitchFamily="34" charset="0"/>
                          <a:ea typeface="Arial" pitchFamily="34" charset="-122"/>
                          <a:cs typeface="Arial" pitchFamily="34" charset="-120"/>
                        </a:rPr>
                        <a:t>12</a:t>
                      </a:r>
                      <a:endParaRPr lang="en-US" sz="1300" dirty="0">
                        <a:latin typeface="Arial" charset="0"/>
                        <a:ea typeface="Arial" charset="0"/>
                        <a:cs typeface="Arial" charset="0"/>
                      </a:endParaRPr>
                    </a:p>
                  </a:txBody>
                  <a:tcPr marL="63500" marR="63500" marT="38100" marB="3810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DE9D9"/>
                    </a:solidFill>
                  </a:tcPr>
                </a:tc>
                <a:tc>
                  <a:txBody>
                    <a:bodyPr/>
                    <a:lstStyle/>
                    <a:p>
                      <a:pPr marL="0" indent="0" algn="ctr">
                        <a:buNone/>
                      </a:pPr>
                      <a:r>
                        <a:rPr lang="en-US" sz="1300" dirty="0">
                          <a:solidFill>
                            <a:srgbClr val="000000"/>
                          </a:solidFill>
                          <a:latin typeface="Arial" pitchFamily="34" charset="0"/>
                          <a:ea typeface="Arial" pitchFamily="34" charset="-122"/>
                          <a:cs typeface="Arial" pitchFamily="34" charset="-120"/>
                        </a:rPr>
                        <a:t>2025</a:t>
                      </a:r>
                      <a:endParaRPr lang="en-US" sz="1300" dirty="0">
                        <a:latin typeface="Arial" charset="0"/>
                        <a:ea typeface="Arial" charset="0"/>
                        <a:cs typeface="Arial" charset="0"/>
                      </a:endParaRPr>
                    </a:p>
                  </a:txBody>
                  <a:tcPr marL="63500" marR="63500" marT="38100" marB="3810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DE9D9"/>
                    </a:solidFill>
                  </a:tcPr>
                </a:tc>
                <a:tc>
                  <a:txBody>
                    <a:bodyPr/>
                    <a:lstStyle/>
                    <a:p>
                      <a:pPr marL="0" indent="0" algn="ctr">
                        <a:buNone/>
                      </a:pPr>
                      <a:r>
                        <a:rPr lang="en-US" sz="1300" b="1" dirty="0">
                          <a:solidFill>
                            <a:srgbClr val="000000"/>
                          </a:solidFill>
                          <a:latin typeface="Arial" pitchFamily="34" charset="0"/>
                          <a:ea typeface="Arial" pitchFamily="34" charset="-122"/>
                          <a:cs typeface="Arial" pitchFamily="34" charset="-120"/>
                        </a:rPr>
                        <a:t>CATS: Clustering-Aggregated and Time Series for Business Customer Purchase Intention</a:t>
                      </a:r>
                      <a:endParaRPr lang="en-US" sz="1300" dirty="0">
                        <a:latin typeface="Arial" charset="0"/>
                        <a:ea typeface="Arial" charset="0"/>
                        <a:cs typeface="Arial" charset="0"/>
                      </a:endParaRPr>
                    </a:p>
                  </a:txBody>
                  <a:tcPr marL="63500" marR="63500" marT="38100" marB="3810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DE9D9"/>
                    </a:solidFill>
                  </a:tcPr>
                </a:tc>
                <a:tc>
                  <a:txBody>
                    <a:bodyPr/>
                    <a:lstStyle/>
                    <a:p>
                      <a:pPr marL="0" indent="0" algn="ctr">
                        <a:buNone/>
                      </a:pPr>
                      <a:r>
                        <a:rPr lang="en-US" sz="1300" dirty="0">
                          <a:solidFill>
                            <a:srgbClr val="000000"/>
                          </a:solidFill>
                          <a:latin typeface="Arial" pitchFamily="34" charset="0"/>
                          <a:ea typeface="Arial" pitchFamily="34" charset="-122"/>
                          <a:cs typeface="Arial" pitchFamily="34" charset="-120"/>
                        </a:rPr>
                        <a:t>Combines clustering and time-series features for B2B intent. (</a:t>
                      </a:r>
                      <a:r>
                        <a:rPr lang="en-US" sz="1300" dirty="0">
                          <a:solidFill>
                            <a:srgbClr val="0097A7"/>
                          </a:solidFill>
                          <a:latin typeface="Arial" pitchFamily="34" charset="0"/>
                          <a:ea typeface="Arial" pitchFamily="34" charset="-122"/>
                          <a:cs typeface="Arial" pitchFamily="34" charset="-120"/>
                        </a:rPr>
                        <a:t>arXiv</a:t>
                      </a:r>
                      <a:r>
                        <a:rPr lang="en-US" sz="1300" dirty="0">
                          <a:solidFill>
                            <a:srgbClr val="000000"/>
                          </a:solidFill>
                          <a:latin typeface="Arial" pitchFamily="34" charset="0"/>
                          <a:ea typeface="Arial" pitchFamily="34" charset="-122"/>
                          <a:cs typeface="Arial" pitchFamily="34" charset="-120"/>
                        </a:rPr>
                        <a:t>)</a:t>
                      </a:r>
                      <a:endParaRPr lang="en-US" sz="1300" dirty="0">
                        <a:latin typeface="Arial" charset="0"/>
                        <a:ea typeface="Arial" charset="0"/>
                        <a:cs typeface="Arial" charset="0"/>
                      </a:endParaRPr>
                    </a:p>
                  </a:txBody>
                  <a:tcPr marL="63500" marR="63500" marT="38100" marB="3810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DE9D9"/>
                    </a:solidFill>
                  </a:tcPr>
                </a:tc>
                <a:extLst>
                  <a:ext uri="{0D108BD9-81ED-4DB2-BD59-A6C34878D82A}">
                    <a16:rowId xmlns:a16="http://schemas.microsoft.com/office/drawing/2014/main" val="10002"/>
                  </a:ext>
                </a:extLst>
              </a:tr>
              <a:tr h="0">
                <a:tc>
                  <a:txBody>
                    <a:bodyPr/>
                    <a:lstStyle/>
                    <a:p>
                      <a:pPr marL="0" indent="0" algn="ctr">
                        <a:buNone/>
                      </a:pPr>
                      <a:r>
                        <a:rPr lang="en-US" sz="1300" dirty="0">
                          <a:solidFill>
                            <a:srgbClr val="000000"/>
                          </a:solidFill>
                          <a:latin typeface="Arial" pitchFamily="34" charset="0"/>
                          <a:ea typeface="Arial" pitchFamily="34" charset="-122"/>
                          <a:cs typeface="Arial" pitchFamily="34" charset="-120"/>
                        </a:rPr>
                        <a:t>13</a:t>
                      </a:r>
                      <a:endParaRPr lang="en-US" sz="1300" dirty="0">
                        <a:latin typeface="Arial" charset="0"/>
                        <a:ea typeface="Arial" charset="0"/>
                        <a:cs typeface="Arial" charset="0"/>
                      </a:endParaRPr>
                    </a:p>
                  </a:txBody>
                  <a:tcPr marL="63500" marR="63500" marT="38100" marB="3810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FFFF"/>
                    </a:solidFill>
                  </a:tcPr>
                </a:tc>
                <a:tc>
                  <a:txBody>
                    <a:bodyPr/>
                    <a:lstStyle/>
                    <a:p>
                      <a:pPr marL="0" indent="0" algn="ctr">
                        <a:buNone/>
                      </a:pPr>
                      <a:r>
                        <a:rPr lang="en-US" sz="1300" dirty="0">
                          <a:solidFill>
                            <a:srgbClr val="000000"/>
                          </a:solidFill>
                          <a:latin typeface="Arial" pitchFamily="34" charset="0"/>
                          <a:ea typeface="Arial" pitchFamily="34" charset="-122"/>
                          <a:cs typeface="Arial" pitchFamily="34" charset="-120"/>
                        </a:rPr>
                        <a:t>2026</a:t>
                      </a:r>
                      <a:endParaRPr lang="en-US" sz="1300" dirty="0">
                        <a:latin typeface="Arial" charset="0"/>
                        <a:ea typeface="Arial" charset="0"/>
                        <a:cs typeface="Arial" charset="0"/>
                      </a:endParaRPr>
                    </a:p>
                  </a:txBody>
                  <a:tcPr marL="63500" marR="63500" marT="38100" marB="3810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FFFF"/>
                    </a:solidFill>
                  </a:tcPr>
                </a:tc>
                <a:tc>
                  <a:txBody>
                    <a:bodyPr/>
                    <a:lstStyle/>
                    <a:p>
                      <a:pPr marL="0" indent="0" algn="ctr">
                        <a:buNone/>
                      </a:pPr>
                      <a:r>
                        <a:rPr lang="en-US" sz="1300" b="1" dirty="0">
                          <a:solidFill>
                            <a:srgbClr val="000000"/>
                          </a:solidFill>
                          <a:latin typeface="Arial" pitchFamily="34" charset="0"/>
                          <a:ea typeface="Arial" pitchFamily="34" charset="-122"/>
                          <a:cs typeface="Arial" pitchFamily="34" charset="-120"/>
                        </a:rPr>
                        <a:t>From Explicit Elements to Implicit Intent: A Predefined Library for Auditable Behavioral Inference</a:t>
                      </a:r>
                      <a:endParaRPr lang="en-US" sz="1300" dirty="0">
                        <a:latin typeface="Arial" charset="0"/>
                        <a:ea typeface="Arial" charset="0"/>
                        <a:cs typeface="Arial" charset="0"/>
                      </a:endParaRPr>
                    </a:p>
                  </a:txBody>
                  <a:tcPr marL="63500" marR="63500" marT="38100" marB="3810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FFFF"/>
                    </a:solidFill>
                  </a:tcPr>
                </a:tc>
                <a:tc>
                  <a:txBody>
                    <a:bodyPr/>
                    <a:lstStyle/>
                    <a:p>
                      <a:pPr marL="0" indent="0" algn="ctr">
                        <a:buNone/>
                      </a:pPr>
                      <a:r>
                        <a:rPr lang="en-US" sz="1300" dirty="0">
                          <a:solidFill>
                            <a:srgbClr val="000000"/>
                          </a:solidFill>
                          <a:latin typeface="Arial" pitchFamily="34" charset="0"/>
                          <a:ea typeface="Arial" pitchFamily="34" charset="-122"/>
                          <a:cs typeface="Arial" pitchFamily="34" charset="-120"/>
                        </a:rPr>
                        <a:t>Four-layer behavioural framework built on the OSPI dataset. (</a:t>
                      </a:r>
                      <a:r>
                        <a:rPr lang="en-US" sz="1300" dirty="0">
                          <a:solidFill>
                            <a:srgbClr val="0097A7"/>
                          </a:solidFill>
                          <a:latin typeface="Arial" pitchFamily="34" charset="0"/>
                          <a:ea typeface="Arial" pitchFamily="34" charset="-122"/>
                          <a:cs typeface="Arial" pitchFamily="34" charset="-120"/>
                        </a:rPr>
                        <a:t>arXiv</a:t>
                      </a:r>
                      <a:r>
                        <a:rPr lang="en-US" sz="1300" dirty="0">
                          <a:solidFill>
                            <a:srgbClr val="000000"/>
                          </a:solidFill>
                          <a:latin typeface="Arial" pitchFamily="34" charset="0"/>
                          <a:ea typeface="Arial" pitchFamily="34" charset="-122"/>
                          <a:cs typeface="Arial" pitchFamily="34" charset="-120"/>
                        </a:rPr>
                        <a:t>)</a:t>
                      </a:r>
                      <a:endParaRPr lang="en-US" sz="1300" dirty="0">
                        <a:latin typeface="Arial" charset="0"/>
                        <a:ea typeface="Arial" charset="0"/>
                        <a:cs typeface="Arial" charset="0"/>
                      </a:endParaRPr>
                    </a:p>
                  </a:txBody>
                  <a:tcPr marL="63500" marR="63500" marT="38100" marB="3810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0">
                <a:tc>
                  <a:txBody>
                    <a:bodyPr/>
                    <a:lstStyle/>
                    <a:p>
                      <a:pPr marL="0" indent="0" algn="ctr">
                        <a:buNone/>
                      </a:pPr>
                      <a:r>
                        <a:rPr lang="en-US" sz="1300" dirty="0">
                          <a:solidFill>
                            <a:srgbClr val="000000"/>
                          </a:solidFill>
                          <a:latin typeface="Arial" pitchFamily="34" charset="0"/>
                          <a:ea typeface="Arial" pitchFamily="34" charset="-122"/>
                          <a:cs typeface="Arial" pitchFamily="34" charset="-120"/>
                        </a:rPr>
                        <a:t>14</a:t>
                      </a:r>
                      <a:endParaRPr lang="en-US" sz="1300" dirty="0">
                        <a:latin typeface="Arial" charset="0"/>
                        <a:ea typeface="Arial" charset="0"/>
                        <a:cs typeface="Arial" charset="0"/>
                      </a:endParaRPr>
                    </a:p>
                  </a:txBody>
                  <a:tcPr marL="63500" marR="63500" marT="38100" marB="3810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DE9D9"/>
                    </a:solidFill>
                  </a:tcPr>
                </a:tc>
                <a:tc>
                  <a:txBody>
                    <a:bodyPr/>
                    <a:lstStyle/>
                    <a:p>
                      <a:pPr marL="0" indent="0" algn="ctr">
                        <a:buNone/>
                      </a:pPr>
                      <a:r>
                        <a:rPr lang="en-US" sz="1300" dirty="0">
                          <a:solidFill>
                            <a:srgbClr val="000000"/>
                          </a:solidFill>
                          <a:latin typeface="Arial" pitchFamily="34" charset="0"/>
                          <a:ea typeface="Arial" pitchFamily="34" charset="-122"/>
                          <a:cs typeface="Arial" pitchFamily="34" charset="-120"/>
                        </a:rPr>
                        <a:t>2024</a:t>
                      </a:r>
                      <a:endParaRPr lang="en-US" sz="1300" dirty="0">
                        <a:latin typeface="Arial" charset="0"/>
                        <a:ea typeface="Arial" charset="0"/>
                        <a:cs typeface="Arial" charset="0"/>
                      </a:endParaRPr>
                    </a:p>
                  </a:txBody>
                  <a:tcPr marL="63500" marR="63500" marT="38100" marB="3810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DE9D9"/>
                    </a:solidFill>
                  </a:tcPr>
                </a:tc>
                <a:tc>
                  <a:txBody>
                    <a:bodyPr/>
                    <a:lstStyle/>
                    <a:p>
                      <a:pPr marL="0" indent="0" algn="ctr">
                        <a:buNone/>
                      </a:pPr>
                      <a:r>
                        <a:rPr lang="en-US" sz="1300" b="1" dirty="0">
                          <a:solidFill>
                            <a:srgbClr val="000000"/>
                          </a:solidFill>
                          <a:latin typeface="Arial" pitchFamily="34" charset="0"/>
                          <a:ea typeface="Arial" pitchFamily="34" charset="-122"/>
                          <a:cs typeface="Arial" pitchFamily="34" charset="-120"/>
                        </a:rPr>
                        <a:t>Research on Prediction and Analysis of Consumer Behavior Management Based on Deep Learning</a:t>
                      </a:r>
                      <a:endParaRPr lang="en-US" sz="1300" dirty="0">
                        <a:latin typeface="Arial" charset="0"/>
                        <a:ea typeface="Arial" charset="0"/>
                        <a:cs typeface="Arial" charset="0"/>
                      </a:endParaRPr>
                    </a:p>
                  </a:txBody>
                  <a:tcPr marL="63500" marR="63500" marT="38100" marB="3810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DE9D9"/>
                    </a:solidFill>
                  </a:tcPr>
                </a:tc>
                <a:tc>
                  <a:txBody>
                    <a:bodyPr/>
                    <a:lstStyle/>
                    <a:p>
                      <a:pPr marL="0" indent="0" algn="ctr">
                        <a:buNone/>
                      </a:pPr>
                      <a:r>
                        <a:rPr lang="en-US" sz="1300" dirty="0">
                          <a:solidFill>
                            <a:srgbClr val="000000"/>
                          </a:solidFill>
                          <a:latin typeface="Arial" pitchFamily="34" charset="0"/>
                          <a:ea typeface="Arial" pitchFamily="34" charset="-122"/>
                          <a:cs typeface="Arial" pitchFamily="34" charset="-120"/>
                        </a:rPr>
                        <a:t>Deep learning applied to consumer behaviour prediction. (</a:t>
                      </a:r>
                      <a:r>
                        <a:rPr lang="en-US" sz="1300" dirty="0">
                          <a:solidFill>
                            <a:srgbClr val="0097A7"/>
                          </a:solidFill>
                          <a:latin typeface="Arial" pitchFamily="34" charset="0"/>
                          <a:ea typeface="Arial" pitchFamily="34" charset="-122"/>
                          <a:cs typeface="Arial" pitchFamily="34" charset="-120"/>
                        </a:rPr>
                        <a:t>IEEE ICCECT</a:t>
                      </a:r>
                      <a:r>
                        <a:rPr lang="en-US" sz="1300" dirty="0">
                          <a:solidFill>
                            <a:srgbClr val="000000"/>
                          </a:solidFill>
                          <a:latin typeface="Arial" pitchFamily="34" charset="0"/>
                          <a:ea typeface="Arial" pitchFamily="34" charset="-122"/>
                          <a:cs typeface="Arial" pitchFamily="34" charset="-120"/>
                        </a:rPr>
                        <a:t>)</a:t>
                      </a:r>
                      <a:endParaRPr lang="en-US" sz="1300" dirty="0">
                        <a:latin typeface="Arial" charset="0"/>
                        <a:ea typeface="Arial" charset="0"/>
                        <a:cs typeface="Arial" charset="0"/>
                      </a:endParaRPr>
                    </a:p>
                  </a:txBody>
                  <a:tcPr marL="63500" marR="63500" marT="38100" marB="3810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DE9D9"/>
                    </a:solidFill>
                  </a:tcPr>
                </a:tc>
                <a:extLst>
                  <a:ext uri="{0D108BD9-81ED-4DB2-BD59-A6C34878D82A}">
                    <a16:rowId xmlns:a16="http://schemas.microsoft.com/office/drawing/2014/main" val="10004"/>
                  </a:ext>
                </a:extLst>
              </a:tr>
              <a:tr h="0">
                <a:tc>
                  <a:txBody>
                    <a:bodyPr/>
                    <a:lstStyle/>
                    <a:p>
                      <a:pPr marL="0" indent="0" algn="ctr">
                        <a:buNone/>
                      </a:pPr>
                      <a:r>
                        <a:rPr lang="en-US" sz="1300" dirty="0">
                          <a:solidFill>
                            <a:srgbClr val="000000"/>
                          </a:solidFill>
                          <a:latin typeface="Arial" pitchFamily="34" charset="0"/>
                          <a:ea typeface="Arial" pitchFamily="34" charset="-122"/>
                          <a:cs typeface="Arial" pitchFamily="34" charset="-120"/>
                        </a:rPr>
                        <a:t>15</a:t>
                      </a:r>
                      <a:endParaRPr lang="en-US" sz="1300" dirty="0">
                        <a:latin typeface="Arial" charset="0"/>
                        <a:ea typeface="Arial" charset="0"/>
                        <a:cs typeface="Arial" charset="0"/>
                      </a:endParaRPr>
                    </a:p>
                  </a:txBody>
                  <a:tcPr marL="63500" marR="63500" marT="38100" marB="3810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FFFF"/>
                    </a:solidFill>
                  </a:tcPr>
                </a:tc>
                <a:tc>
                  <a:txBody>
                    <a:bodyPr/>
                    <a:lstStyle/>
                    <a:p>
                      <a:pPr marL="0" indent="0" algn="ctr">
                        <a:buNone/>
                      </a:pPr>
                      <a:r>
                        <a:rPr lang="en-US" sz="1300" dirty="0">
                          <a:solidFill>
                            <a:srgbClr val="000000"/>
                          </a:solidFill>
                          <a:latin typeface="Arial" pitchFamily="34" charset="0"/>
                          <a:ea typeface="Arial" pitchFamily="34" charset="-122"/>
                          <a:cs typeface="Arial" pitchFamily="34" charset="-120"/>
                        </a:rPr>
                        <a:t>2024</a:t>
                      </a:r>
                      <a:endParaRPr lang="en-US" sz="1300" dirty="0">
                        <a:latin typeface="Arial" charset="0"/>
                        <a:ea typeface="Arial" charset="0"/>
                        <a:cs typeface="Arial" charset="0"/>
                      </a:endParaRPr>
                    </a:p>
                  </a:txBody>
                  <a:tcPr marL="63500" marR="63500" marT="38100" marB="3810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FFFF"/>
                    </a:solidFill>
                  </a:tcPr>
                </a:tc>
                <a:tc>
                  <a:txBody>
                    <a:bodyPr/>
                    <a:lstStyle/>
                    <a:p>
                      <a:pPr marL="0" indent="0" algn="ctr">
                        <a:buNone/>
                      </a:pPr>
                      <a:r>
                        <a:rPr lang="en-US" sz="1300" b="1" dirty="0">
                          <a:solidFill>
                            <a:srgbClr val="000000"/>
                          </a:solidFill>
                          <a:latin typeface="Arial" pitchFamily="34" charset="0"/>
                          <a:ea typeface="Arial" pitchFamily="34" charset="-122"/>
                          <a:cs typeface="Arial" pitchFamily="34" charset="-120"/>
                        </a:rPr>
                        <a:t>Determinants and Classifications of Online Shopping Consumers’ Purchase Intention in Indonesia</a:t>
                      </a:r>
                      <a:endParaRPr lang="en-US" sz="1300" dirty="0">
                        <a:latin typeface="Arial" charset="0"/>
                        <a:ea typeface="Arial" charset="0"/>
                        <a:cs typeface="Arial" charset="0"/>
                      </a:endParaRPr>
                    </a:p>
                  </a:txBody>
                  <a:tcPr marL="63500" marR="63500" marT="38100" marB="3810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FFFF"/>
                    </a:solidFill>
                  </a:tcPr>
                </a:tc>
                <a:tc>
                  <a:txBody>
                    <a:bodyPr/>
                    <a:lstStyle/>
                    <a:p>
                      <a:pPr marL="0" indent="0" algn="ctr">
                        <a:buNone/>
                      </a:pPr>
                      <a:r>
                        <a:rPr lang="en-US" sz="1300" dirty="0">
                          <a:solidFill>
                            <a:srgbClr val="000000"/>
                          </a:solidFill>
                          <a:latin typeface="Arial" pitchFamily="34" charset="0"/>
                          <a:ea typeface="Arial" pitchFamily="34" charset="-122"/>
                          <a:cs typeface="Arial" pitchFamily="34" charset="-120"/>
                        </a:rPr>
                        <a:t>Identifies key factors driving online purchase intention. (</a:t>
                      </a:r>
                      <a:r>
                        <a:rPr lang="en-US" sz="1300" dirty="0">
                          <a:solidFill>
                            <a:srgbClr val="0097A7"/>
                          </a:solidFill>
                          <a:latin typeface="Arial" pitchFamily="34" charset="0"/>
                          <a:ea typeface="Arial" pitchFamily="34" charset="-122"/>
                          <a:cs typeface="Arial" pitchFamily="34" charset="-120"/>
                        </a:rPr>
                        <a:t>J. Ekonomi Bisnis &amp; Kewirausahaan</a:t>
                      </a:r>
                      <a:r>
                        <a:rPr lang="en-US" sz="1300" dirty="0">
                          <a:solidFill>
                            <a:srgbClr val="000000"/>
                          </a:solidFill>
                          <a:latin typeface="Arial" pitchFamily="34" charset="0"/>
                          <a:ea typeface="Arial" pitchFamily="34" charset="-122"/>
                          <a:cs typeface="Arial" pitchFamily="34" charset="-120"/>
                        </a:rPr>
                        <a:t>)</a:t>
                      </a:r>
                      <a:endParaRPr lang="en-US" sz="1300" dirty="0">
                        <a:latin typeface="Arial" charset="0"/>
                        <a:ea typeface="Arial" charset="0"/>
                        <a:cs typeface="Arial" charset="0"/>
                      </a:endParaRPr>
                    </a:p>
                  </a:txBody>
                  <a:tcPr marL="63500" marR="63500" marT="38100" marB="3810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bl>
          </a:graphicData>
        </a:graphic>
      </p:graphicFrame>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a:spLocks noGrp="1"/>
          </p:cNvSpPr>
          <p:nvPr>
            <p:ph type="title" idx="102" hasCustomPrompt="1"/>
          </p:nvPr>
        </p:nvSpPr>
        <p:spPr>
          <a:xfrm>
            <a:off x="868680" y="109728"/>
            <a:ext cx="7406640" cy="548640"/>
          </a:xfrm>
          <a:prstGeom prst="rect">
            <a:avLst/>
          </a:prstGeom>
          <a:noFill/>
          <a:ln/>
        </p:spPr>
        <p:txBody>
          <a:bodyPr wrap="square" lIns="0" tIns="0" rIns="0" bIns="0" rtlCol="0" anchor="ctr"/>
          <a:lstStyle/>
          <a:p>
            <a:pPr marL="0" indent="0" algn="ctr">
              <a:buNone/>
            </a:pPr>
            <a:r>
              <a:rPr lang="en-US" sz="2400" b="1" dirty="0">
                <a:solidFill>
                  <a:srgbClr val="FF0000"/>
                </a:solidFill>
                <a:latin typeface="Arial" pitchFamily="34" charset="0"/>
                <a:ea typeface="Arial" pitchFamily="34" charset="-122"/>
                <a:cs typeface="Arial" pitchFamily="34" charset="-120"/>
              </a:rPr>
              <a:t>RESEARCH METHODOLOGY</a:t>
            </a:r>
            <a:endParaRPr lang="en-US" sz="2400" dirty="0"/>
          </a:p>
        </p:txBody>
      </p:sp>
      <p:sp>
        <p:nvSpPr>
          <p:cNvPr id="3" name="Text 1"/>
          <p:cNvSpPr txBox="1"/>
          <p:nvPr/>
        </p:nvSpPr>
        <p:spPr>
          <a:xfrm>
            <a:off x="457200" y="868680"/>
            <a:ext cx="8229600" cy="4023360"/>
          </a:xfrm>
          <a:prstGeom prst="rect">
            <a:avLst/>
          </a:prstGeom>
          <a:noFill/>
          <a:ln/>
        </p:spPr>
        <p:txBody>
          <a:bodyPr wrap="square" lIns="0" tIns="0" rIns="0" bIns="0" rtlCol="0" anchor="t"/>
          <a:lstStyle/>
          <a:p>
            <a:pPr marL="285750" indent="-285750">
              <a:spcAft>
                <a:spcPts val="800"/>
              </a:spcAft>
              <a:buFont typeface="Arial"/>
              <a:buChar char="•"/>
            </a:pPr>
            <a:r>
              <a:rPr lang="en-US" sz="1600" b="1" dirty="0">
                <a:solidFill>
                  <a:srgbClr val="000000"/>
                </a:solidFill>
                <a:latin typeface="Arial" pitchFamily="34" charset="0"/>
                <a:ea typeface="Arial" pitchFamily="34" charset="-122"/>
                <a:cs typeface="Arial" pitchFamily="34" charset="-120"/>
              </a:rPr>
              <a:t>Data Collection</a:t>
            </a:r>
            <a:r>
              <a:rPr lang="en-US" sz="1600" dirty="0">
                <a:solidFill>
                  <a:srgbClr val="000000"/>
                </a:solidFill>
                <a:latin typeface="Arial" pitchFamily="34" charset="0"/>
                <a:ea typeface="Arial" pitchFamily="34" charset="-122"/>
                <a:cs typeface="Arial" pitchFamily="34" charset="-120"/>
              </a:rPr>
              <a:t> – Load the UCI Online Shoppers dataset (12,330 sessions, 18 features) into pandas.</a:t>
            </a:r>
            <a:endParaRPr lang="en-US" sz="1600" dirty="0"/>
          </a:p>
          <a:p>
            <a:pPr marL="285750" indent="-285750">
              <a:spcAft>
                <a:spcPts val="800"/>
              </a:spcAft>
              <a:buFont typeface="Arial"/>
              <a:buChar char="•"/>
            </a:pPr>
            <a:r>
              <a:rPr lang="en-US" sz="1600" b="1" dirty="0">
                <a:solidFill>
                  <a:srgbClr val="000000"/>
                </a:solidFill>
                <a:latin typeface="Arial" pitchFamily="34" charset="0"/>
                <a:ea typeface="Arial" pitchFamily="34" charset="-122"/>
                <a:cs typeface="Arial" pitchFamily="34" charset="-120"/>
              </a:rPr>
              <a:t>Data Pre-processing</a:t>
            </a:r>
            <a:r>
              <a:rPr lang="en-US" sz="1600" dirty="0">
                <a:solidFill>
                  <a:srgbClr val="000000"/>
                </a:solidFill>
                <a:latin typeface="Arial" pitchFamily="34" charset="0"/>
                <a:ea typeface="Arial" pitchFamily="34" charset="-122"/>
                <a:cs typeface="Arial" pitchFamily="34" charset="-120"/>
              </a:rPr>
              <a:t> – Remove missing values, encode Month and VisitorType, and scale numeric features.</a:t>
            </a:r>
            <a:endParaRPr lang="en-US" sz="1600" dirty="0"/>
          </a:p>
          <a:p>
            <a:pPr marL="285750" indent="-285750">
              <a:spcAft>
                <a:spcPts val="800"/>
              </a:spcAft>
              <a:buFont typeface="Arial"/>
              <a:buChar char="•"/>
            </a:pPr>
            <a:r>
              <a:rPr lang="en-US" sz="1600" b="1" dirty="0">
                <a:solidFill>
                  <a:srgbClr val="000000"/>
                </a:solidFill>
                <a:latin typeface="Arial" pitchFamily="34" charset="0"/>
                <a:ea typeface="Arial" pitchFamily="34" charset="-122"/>
                <a:cs typeface="Arial" pitchFamily="34" charset="-120"/>
              </a:rPr>
              <a:t>Exploratory Analysis (EDA)</a:t>
            </a:r>
            <a:r>
              <a:rPr lang="en-US" sz="1600" dirty="0">
                <a:solidFill>
                  <a:srgbClr val="000000"/>
                </a:solidFill>
                <a:latin typeface="Arial" pitchFamily="34" charset="0"/>
                <a:ea typeface="Arial" pitchFamily="34" charset="-122"/>
                <a:cs typeface="Arial" pitchFamily="34" charset="-120"/>
              </a:rPr>
              <a:t> – Use pie, heatmap and line charts to reveal buying patterns.</a:t>
            </a:r>
            <a:endParaRPr lang="en-US" sz="1600" dirty="0"/>
          </a:p>
          <a:p>
            <a:pPr marL="285750" indent="-285750">
              <a:spcAft>
                <a:spcPts val="800"/>
              </a:spcAft>
              <a:buFont typeface="Arial"/>
              <a:buChar char="•"/>
            </a:pPr>
            <a:r>
              <a:rPr lang="en-US" sz="1600" b="1" dirty="0">
                <a:solidFill>
                  <a:srgbClr val="000000"/>
                </a:solidFill>
                <a:latin typeface="Arial" pitchFamily="34" charset="0"/>
                <a:ea typeface="Arial" pitchFamily="34" charset="-122"/>
                <a:cs typeface="Arial" pitchFamily="34" charset="-120"/>
              </a:rPr>
              <a:t>Balance &amp; Split</a:t>
            </a:r>
            <a:r>
              <a:rPr lang="en-US" sz="1600" dirty="0">
                <a:solidFill>
                  <a:srgbClr val="000000"/>
                </a:solidFill>
                <a:latin typeface="Arial" pitchFamily="34" charset="0"/>
                <a:ea typeface="Arial" pitchFamily="34" charset="-122"/>
                <a:cs typeface="Arial" pitchFamily="34" charset="-120"/>
              </a:rPr>
              <a:t> – Stratified 80/20 split; apply SMOTE on the training data only.</a:t>
            </a:r>
            <a:endParaRPr lang="en-US" sz="1600" dirty="0"/>
          </a:p>
          <a:p>
            <a:pPr marL="285750" indent="-285750">
              <a:spcAft>
                <a:spcPts val="800"/>
              </a:spcAft>
              <a:buFont typeface="Arial"/>
              <a:buChar char="•"/>
            </a:pPr>
            <a:r>
              <a:rPr lang="en-US" sz="1600" b="1" dirty="0">
                <a:solidFill>
                  <a:srgbClr val="000000"/>
                </a:solidFill>
                <a:latin typeface="Arial" pitchFamily="34" charset="0"/>
                <a:ea typeface="Arial" pitchFamily="34" charset="-122"/>
                <a:cs typeface="Arial" pitchFamily="34" charset="-120"/>
              </a:rPr>
              <a:t>Model Training</a:t>
            </a:r>
            <a:r>
              <a:rPr lang="en-US" sz="1600" dirty="0">
                <a:solidFill>
                  <a:srgbClr val="000000"/>
                </a:solidFill>
                <a:latin typeface="Arial" pitchFamily="34" charset="0"/>
                <a:ea typeface="Arial" pitchFamily="34" charset="-122"/>
                <a:cs typeface="Arial" pitchFamily="34" charset="-120"/>
              </a:rPr>
              <a:t> – Train Logistic Regression, Decision Tree and Random Forest; tune with cross-validation.</a:t>
            </a:r>
            <a:endParaRPr lang="en-US" sz="1600" dirty="0"/>
          </a:p>
          <a:p>
            <a:pPr marL="285750" indent="-285750">
              <a:spcAft>
                <a:spcPts val="800"/>
              </a:spcAft>
              <a:buFont typeface="Arial"/>
              <a:buChar char="•"/>
            </a:pPr>
            <a:r>
              <a:rPr lang="en-US" sz="1600" b="1" dirty="0">
                <a:solidFill>
                  <a:srgbClr val="000000"/>
                </a:solidFill>
                <a:latin typeface="Arial" pitchFamily="34" charset="0"/>
                <a:ea typeface="Arial" pitchFamily="34" charset="-122"/>
                <a:cs typeface="Arial" pitchFamily="34" charset="-120"/>
              </a:rPr>
              <a:t>Evaluation</a:t>
            </a:r>
            <a:r>
              <a:rPr lang="en-US" sz="1600" dirty="0">
                <a:solidFill>
                  <a:srgbClr val="000000"/>
                </a:solidFill>
                <a:latin typeface="Arial" pitchFamily="34" charset="0"/>
                <a:ea typeface="Arial" pitchFamily="34" charset="-122"/>
                <a:cs typeface="Arial" pitchFamily="34" charset="-120"/>
              </a:rPr>
              <a:t> – Compare accuracy, precision, recall, F1-score and the confusion matrix.</a:t>
            </a:r>
            <a:endParaRPr lang="en-US" sz="1600" dirty="0"/>
          </a:p>
          <a:p>
            <a:pPr marL="285750" indent="-285750">
              <a:spcAft>
                <a:spcPts val="800"/>
              </a:spcAft>
              <a:buFont typeface="Arial"/>
              <a:buChar char="•"/>
            </a:pPr>
            <a:r>
              <a:rPr lang="en-US" sz="1600" b="1" dirty="0">
                <a:solidFill>
                  <a:srgbClr val="000000"/>
                </a:solidFill>
                <a:latin typeface="Arial" pitchFamily="34" charset="0"/>
                <a:ea typeface="Arial" pitchFamily="34" charset="-122"/>
                <a:cs typeface="Arial" pitchFamily="34" charset="-120"/>
              </a:rPr>
              <a:t>Prediction</a:t>
            </a:r>
            <a:r>
              <a:rPr lang="en-US" sz="1600" dirty="0">
                <a:solidFill>
                  <a:srgbClr val="000000"/>
                </a:solidFill>
                <a:latin typeface="Arial" pitchFamily="34" charset="0"/>
                <a:ea typeface="Arial" pitchFamily="34" charset="-122"/>
                <a:cs typeface="Arial" pitchFamily="34" charset="-120"/>
              </a:rPr>
              <a:t> – Output Will Buy or Won’t Buy for each visit and show it in a small demo app.</a:t>
            </a:r>
            <a:endParaRPr lang="en-US" sz="16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a:spLocks noGrp="1"/>
          </p:cNvSpPr>
          <p:nvPr>
            <p:ph type="title" idx="102" hasCustomPrompt="1"/>
          </p:nvPr>
        </p:nvSpPr>
        <p:spPr>
          <a:xfrm>
            <a:off x="868680" y="109728"/>
            <a:ext cx="7406640" cy="548640"/>
          </a:xfrm>
          <a:prstGeom prst="rect">
            <a:avLst/>
          </a:prstGeom>
          <a:noFill/>
          <a:ln/>
        </p:spPr>
        <p:txBody>
          <a:bodyPr wrap="square" lIns="0" tIns="0" rIns="0" bIns="0" rtlCol="0" anchor="ctr"/>
          <a:lstStyle/>
          <a:p>
            <a:pPr marL="0" indent="0" algn="ctr">
              <a:buNone/>
            </a:pPr>
            <a:r>
              <a:rPr lang="en-US" sz="2400" b="1" dirty="0">
                <a:solidFill>
                  <a:srgbClr val="FF0000"/>
                </a:solidFill>
                <a:latin typeface="Arial" pitchFamily="34" charset="0"/>
                <a:ea typeface="Arial" pitchFamily="34" charset="-122"/>
                <a:cs typeface="Arial" pitchFamily="34" charset="-120"/>
              </a:rPr>
              <a:t>ALGORITHM EXPLANATION</a:t>
            </a:r>
            <a:endParaRPr lang="en-US" sz="2400" dirty="0"/>
          </a:p>
        </p:txBody>
      </p:sp>
      <p:sp>
        <p:nvSpPr>
          <p:cNvPr id="3" name="Shape 1"/>
          <p:cNvSpPr/>
          <p:nvPr/>
        </p:nvSpPr>
        <p:spPr>
          <a:xfrm>
            <a:off x="388620" y="914400"/>
            <a:ext cx="2697480" cy="411480"/>
          </a:xfrm>
          <a:prstGeom prst="rect">
            <a:avLst/>
          </a:prstGeom>
          <a:solidFill>
            <a:srgbClr val="1F3864"/>
          </a:solidFill>
          <a:ln w="12700">
            <a:solidFill>
              <a:srgbClr val="FFFFFF"/>
            </a:solidFill>
            <a:prstDash val="solid"/>
          </a:ln>
        </p:spPr>
      </p:sp>
      <p:sp>
        <p:nvSpPr>
          <p:cNvPr id="4" name="Text 2"/>
          <p:cNvSpPr txBox="1"/>
          <p:nvPr/>
        </p:nvSpPr>
        <p:spPr>
          <a:xfrm>
            <a:off x="388620" y="914400"/>
            <a:ext cx="2697480" cy="411480"/>
          </a:xfrm>
          <a:prstGeom prst="rect">
            <a:avLst/>
          </a:prstGeom>
          <a:noFill/>
          <a:ln/>
        </p:spPr>
        <p:txBody>
          <a:bodyPr wrap="square" lIns="0" tIns="0" rIns="0" bIns="0" rtlCol="0" anchor="ctr"/>
          <a:lstStyle/>
          <a:p>
            <a:pPr marL="0" indent="0" algn="ctr">
              <a:buNone/>
            </a:pPr>
            <a:r>
              <a:rPr lang="en-US" sz="1500" b="1" dirty="0">
                <a:solidFill>
                  <a:srgbClr val="FFFFFF"/>
                </a:solidFill>
                <a:latin typeface="Arial" pitchFamily="34" charset="0"/>
                <a:ea typeface="Arial" pitchFamily="34" charset="-122"/>
                <a:cs typeface="Arial" pitchFamily="34" charset="-120"/>
              </a:rPr>
              <a:t>Logistic Regression</a:t>
            </a:r>
            <a:endParaRPr lang="en-US" sz="1500" dirty="0"/>
          </a:p>
        </p:txBody>
      </p:sp>
      <p:sp>
        <p:nvSpPr>
          <p:cNvPr id="5" name="Text 3"/>
          <p:cNvSpPr txBox="1"/>
          <p:nvPr/>
        </p:nvSpPr>
        <p:spPr>
          <a:xfrm>
            <a:off x="388620" y="1417320"/>
            <a:ext cx="2697480" cy="2423160"/>
          </a:xfrm>
          <a:prstGeom prst="rect">
            <a:avLst/>
          </a:prstGeom>
          <a:noFill/>
          <a:ln/>
        </p:spPr>
        <p:txBody>
          <a:bodyPr wrap="square" lIns="0" tIns="50800" rIns="50800" bIns="0" rtlCol="0" anchor="t"/>
          <a:lstStyle/>
          <a:p>
            <a:pPr marL="0" indent="0">
              <a:spcAft>
                <a:spcPts val="600"/>
              </a:spcAft>
              <a:buNone/>
            </a:pPr>
            <a:r>
              <a:rPr lang="en-US" sz="1400" i="1" dirty="0">
                <a:solidFill>
                  <a:srgbClr val="000000"/>
                </a:solidFill>
                <a:latin typeface="Arial" pitchFamily="34" charset="0"/>
                <a:ea typeface="Arial" pitchFamily="34" charset="-122"/>
                <a:cs typeface="Arial" pitchFamily="34" charset="-120"/>
              </a:rPr>
              <a:t>Draws a boundary between buyers and non-buyers.</a:t>
            </a:r>
            <a:endParaRPr lang="en-US" sz="1400" dirty="0"/>
          </a:p>
          <a:p>
            <a:pPr marL="342900" indent="-342900">
              <a:spcAft>
                <a:spcPts val="600"/>
              </a:spcAft>
              <a:buSzPct val="100000"/>
              <a:buChar char="•"/>
            </a:pPr>
            <a:r>
              <a:rPr lang="en-US" sz="1400" dirty="0">
                <a:solidFill>
                  <a:srgbClr val="000000"/>
                </a:solidFill>
                <a:latin typeface="Arial" pitchFamily="34" charset="0"/>
                <a:ea typeface="Arial" pitchFamily="34" charset="-122"/>
                <a:cs typeface="Arial" pitchFamily="34" charset="-120"/>
              </a:rPr>
              <a:t>Takes features like page time and bounce rate</a:t>
            </a:r>
            <a:endParaRPr lang="en-US" sz="1400" dirty="0"/>
          </a:p>
          <a:p>
            <a:pPr marL="342900" indent="-342900">
              <a:spcAft>
                <a:spcPts val="600"/>
              </a:spcAft>
              <a:buSzPct val="100000"/>
              <a:buChar char="•"/>
            </a:pPr>
            <a:r>
              <a:rPr lang="en-US" sz="1400" dirty="0">
                <a:solidFill>
                  <a:srgbClr val="000000"/>
                </a:solidFill>
                <a:latin typeface="Arial" pitchFamily="34" charset="0"/>
                <a:ea typeface="Arial" pitchFamily="34" charset="-122"/>
                <a:cs typeface="Arial" pitchFamily="34" charset="-120"/>
              </a:rPr>
              <a:t>Sigmoid turns the score into a probability (0 to 1)</a:t>
            </a:r>
            <a:endParaRPr lang="en-US" sz="1400" dirty="0"/>
          </a:p>
          <a:p>
            <a:pPr marL="342900" indent="-342900">
              <a:spcAft>
                <a:spcPts val="600"/>
              </a:spcAft>
              <a:buSzPct val="100000"/>
              <a:buChar char="•"/>
            </a:pPr>
            <a:r>
              <a:rPr lang="en-US" sz="1400" dirty="0">
                <a:solidFill>
                  <a:srgbClr val="000000"/>
                </a:solidFill>
                <a:latin typeface="Arial" pitchFamily="34" charset="0"/>
                <a:ea typeface="Arial" pitchFamily="34" charset="-122"/>
                <a:cs typeface="Arial" pitchFamily="34" charset="-120"/>
              </a:rPr>
              <a:t>Probability of 0.5 or more means Will Buy</a:t>
            </a:r>
            <a:endParaRPr lang="en-US" sz="1400" dirty="0"/>
          </a:p>
        </p:txBody>
      </p:sp>
      <p:sp>
        <p:nvSpPr>
          <p:cNvPr id="6" name="Shape 4"/>
          <p:cNvSpPr/>
          <p:nvPr/>
        </p:nvSpPr>
        <p:spPr>
          <a:xfrm>
            <a:off x="388620" y="3931920"/>
            <a:ext cx="2697480" cy="777240"/>
          </a:xfrm>
          <a:prstGeom prst="roundRect">
            <a:avLst>
              <a:gd name="adj" fmla="val 7059"/>
            </a:avLst>
          </a:prstGeom>
          <a:solidFill>
            <a:srgbClr val="FDE9D9"/>
          </a:solidFill>
          <a:ln w="12700">
            <a:solidFill>
              <a:srgbClr val="F79646"/>
            </a:solidFill>
            <a:prstDash val="solid"/>
          </a:ln>
        </p:spPr>
      </p:sp>
      <p:sp>
        <p:nvSpPr>
          <p:cNvPr id="7" name="Text 5"/>
          <p:cNvSpPr txBox="1"/>
          <p:nvPr/>
        </p:nvSpPr>
        <p:spPr>
          <a:xfrm>
            <a:off x="388620" y="3931920"/>
            <a:ext cx="2697480" cy="777240"/>
          </a:xfrm>
          <a:prstGeom prst="rect">
            <a:avLst/>
          </a:prstGeom>
          <a:noFill/>
          <a:ln/>
        </p:spPr>
        <p:txBody>
          <a:bodyPr wrap="square" lIns="50800" tIns="50800" rIns="50800" bIns="50800" rtlCol="0" anchor="ctr"/>
          <a:lstStyle/>
          <a:p>
            <a:pPr marL="0" indent="0" algn="ctr">
              <a:buNone/>
            </a:pPr>
            <a:r>
              <a:rPr lang="en-US" sz="1300" b="1" dirty="0">
                <a:solidFill>
                  <a:srgbClr val="000000"/>
                </a:solidFill>
                <a:latin typeface="Arial" pitchFamily="34" charset="0"/>
                <a:ea typeface="Arial" pitchFamily="34" charset="-122"/>
                <a:cs typeface="Arial" pitchFamily="34" charset="-120"/>
              </a:rPr>
              <a:t>P(buy) = 1 / (1 + e^-z)</a:t>
            </a:r>
            <a:endParaRPr lang="en-US" sz="1300" dirty="0"/>
          </a:p>
          <a:p>
            <a:pPr marL="0" indent="0" algn="ctr">
              <a:buNone/>
            </a:pPr>
            <a:r>
              <a:rPr lang="en-US" sz="1300" b="1" dirty="0">
                <a:solidFill>
                  <a:srgbClr val="000000"/>
                </a:solidFill>
                <a:latin typeface="Arial" pitchFamily="34" charset="0"/>
                <a:ea typeface="Arial" pitchFamily="34" charset="-122"/>
                <a:cs typeface="Arial" pitchFamily="34" charset="-120"/>
              </a:rPr>
              <a:t>z = b0 + b1x1 + ... + bnxn</a:t>
            </a:r>
            <a:endParaRPr lang="en-US" sz="1300" dirty="0"/>
          </a:p>
        </p:txBody>
      </p:sp>
      <p:sp>
        <p:nvSpPr>
          <p:cNvPr id="8" name="Shape 6"/>
          <p:cNvSpPr/>
          <p:nvPr/>
        </p:nvSpPr>
        <p:spPr>
          <a:xfrm>
            <a:off x="3223260" y="914400"/>
            <a:ext cx="2697480" cy="411480"/>
          </a:xfrm>
          <a:prstGeom prst="rect">
            <a:avLst/>
          </a:prstGeom>
          <a:solidFill>
            <a:srgbClr val="104A9E"/>
          </a:solidFill>
          <a:ln w="12700">
            <a:solidFill>
              <a:srgbClr val="FFFFFF"/>
            </a:solidFill>
            <a:prstDash val="solid"/>
          </a:ln>
        </p:spPr>
      </p:sp>
      <p:sp>
        <p:nvSpPr>
          <p:cNvPr id="9" name="Text 7"/>
          <p:cNvSpPr txBox="1"/>
          <p:nvPr/>
        </p:nvSpPr>
        <p:spPr>
          <a:xfrm>
            <a:off x="3223260" y="914400"/>
            <a:ext cx="2697480" cy="411480"/>
          </a:xfrm>
          <a:prstGeom prst="rect">
            <a:avLst/>
          </a:prstGeom>
          <a:noFill/>
          <a:ln/>
        </p:spPr>
        <p:txBody>
          <a:bodyPr wrap="square" lIns="0" tIns="0" rIns="0" bIns="0" rtlCol="0" anchor="ctr"/>
          <a:lstStyle/>
          <a:p>
            <a:pPr marL="0" indent="0" algn="ctr">
              <a:buNone/>
            </a:pPr>
            <a:r>
              <a:rPr lang="en-US" sz="1500" b="1" dirty="0">
                <a:solidFill>
                  <a:srgbClr val="FFFFFF"/>
                </a:solidFill>
                <a:latin typeface="Arial" pitchFamily="34" charset="0"/>
                <a:ea typeface="Arial" pitchFamily="34" charset="-122"/>
                <a:cs typeface="Arial" pitchFamily="34" charset="-120"/>
              </a:rPr>
              <a:t>Decision Tree</a:t>
            </a:r>
            <a:endParaRPr lang="en-US" sz="1500" dirty="0"/>
          </a:p>
        </p:txBody>
      </p:sp>
      <p:sp>
        <p:nvSpPr>
          <p:cNvPr id="10" name="Text 8"/>
          <p:cNvSpPr txBox="1"/>
          <p:nvPr/>
        </p:nvSpPr>
        <p:spPr>
          <a:xfrm>
            <a:off x="3223260" y="1417320"/>
            <a:ext cx="2697480" cy="2423160"/>
          </a:xfrm>
          <a:prstGeom prst="rect">
            <a:avLst/>
          </a:prstGeom>
          <a:noFill/>
          <a:ln/>
        </p:spPr>
        <p:txBody>
          <a:bodyPr wrap="square" lIns="0" tIns="50800" rIns="50800" bIns="0" rtlCol="0" anchor="t"/>
          <a:lstStyle/>
          <a:p>
            <a:pPr marL="0" indent="0">
              <a:spcAft>
                <a:spcPts val="600"/>
              </a:spcAft>
              <a:buNone/>
            </a:pPr>
            <a:r>
              <a:rPr lang="en-US" sz="1400" i="1" dirty="0">
                <a:solidFill>
                  <a:srgbClr val="000000"/>
                </a:solidFill>
                <a:latin typeface="Arial" pitchFamily="34" charset="0"/>
                <a:ea typeface="Arial" pitchFamily="34" charset="-122"/>
                <a:cs typeface="Arial" pitchFamily="34" charset="-120"/>
              </a:rPr>
              <a:t>Asks a chain of yes/no questions.</a:t>
            </a:r>
            <a:endParaRPr lang="en-US" sz="1400" dirty="0"/>
          </a:p>
          <a:p>
            <a:pPr marL="342900" indent="-342900">
              <a:spcAft>
                <a:spcPts val="600"/>
              </a:spcAft>
              <a:buSzPct val="100000"/>
              <a:buChar char="•"/>
            </a:pPr>
            <a:r>
              <a:rPr lang="en-US" sz="1400" dirty="0">
                <a:solidFill>
                  <a:srgbClr val="000000"/>
                </a:solidFill>
                <a:latin typeface="Arial" pitchFamily="34" charset="0"/>
                <a:ea typeface="Arial" pitchFamily="34" charset="-122"/>
                <a:cs typeface="Arial" pitchFamily="34" charset="-120"/>
              </a:rPr>
              <a:t>Splits on features such as PageValues &gt; 0</a:t>
            </a:r>
            <a:endParaRPr lang="en-US" sz="1400" dirty="0"/>
          </a:p>
          <a:p>
            <a:pPr marL="342900" indent="-342900">
              <a:spcAft>
                <a:spcPts val="600"/>
              </a:spcAft>
              <a:buSzPct val="100000"/>
              <a:buChar char="•"/>
            </a:pPr>
            <a:r>
              <a:rPr lang="en-US" sz="1400" dirty="0">
                <a:solidFill>
                  <a:srgbClr val="000000"/>
                </a:solidFill>
                <a:latin typeface="Arial" pitchFamily="34" charset="0"/>
                <a:ea typeface="Arial" pitchFamily="34" charset="-122"/>
                <a:cs typeface="Arial" pitchFamily="34" charset="-120"/>
              </a:rPr>
              <a:t>Picks the split that best separates buyers from non-buyers</a:t>
            </a:r>
            <a:endParaRPr lang="en-US" sz="1400" dirty="0"/>
          </a:p>
          <a:p>
            <a:pPr marL="342900" indent="-342900">
              <a:spcAft>
                <a:spcPts val="600"/>
              </a:spcAft>
              <a:buSzPct val="100000"/>
              <a:buChar char="•"/>
            </a:pPr>
            <a:r>
              <a:rPr lang="en-US" sz="1400" dirty="0">
                <a:solidFill>
                  <a:srgbClr val="000000"/>
                </a:solidFill>
                <a:latin typeface="Arial" pitchFamily="34" charset="0"/>
                <a:ea typeface="Arial" pitchFamily="34" charset="-122"/>
                <a:cs typeface="Arial" pitchFamily="34" charset="-120"/>
              </a:rPr>
              <a:t>Each leaf gives the final class</a:t>
            </a:r>
            <a:endParaRPr lang="en-US" sz="1400" dirty="0"/>
          </a:p>
        </p:txBody>
      </p:sp>
      <p:sp>
        <p:nvSpPr>
          <p:cNvPr id="11" name="Shape 9"/>
          <p:cNvSpPr/>
          <p:nvPr/>
        </p:nvSpPr>
        <p:spPr>
          <a:xfrm>
            <a:off x="3223260" y="3931920"/>
            <a:ext cx="2697480" cy="777240"/>
          </a:xfrm>
          <a:prstGeom prst="roundRect">
            <a:avLst>
              <a:gd name="adj" fmla="val 7059"/>
            </a:avLst>
          </a:prstGeom>
          <a:solidFill>
            <a:srgbClr val="FDE9D9"/>
          </a:solidFill>
          <a:ln w="12700">
            <a:solidFill>
              <a:srgbClr val="F79646"/>
            </a:solidFill>
            <a:prstDash val="solid"/>
          </a:ln>
        </p:spPr>
      </p:sp>
      <p:sp>
        <p:nvSpPr>
          <p:cNvPr id="12" name="Text 10"/>
          <p:cNvSpPr txBox="1"/>
          <p:nvPr/>
        </p:nvSpPr>
        <p:spPr>
          <a:xfrm>
            <a:off x="3223260" y="3931920"/>
            <a:ext cx="2697480" cy="777240"/>
          </a:xfrm>
          <a:prstGeom prst="rect">
            <a:avLst/>
          </a:prstGeom>
          <a:noFill/>
          <a:ln/>
        </p:spPr>
        <p:txBody>
          <a:bodyPr wrap="square" lIns="50800" tIns="50800" rIns="50800" bIns="50800" rtlCol="0" anchor="ctr"/>
          <a:lstStyle/>
          <a:p>
            <a:pPr marL="0" indent="0" algn="ctr">
              <a:buNone/>
            </a:pPr>
            <a:r>
              <a:rPr lang="en-US" sz="1300" b="1" dirty="0">
                <a:solidFill>
                  <a:srgbClr val="000000"/>
                </a:solidFill>
                <a:latin typeface="Arial" pitchFamily="34" charset="0"/>
                <a:ea typeface="Arial" pitchFamily="34" charset="-122"/>
                <a:cs typeface="Arial" pitchFamily="34" charset="-120"/>
              </a:rPr>
              <a:t>Gini = 1 - sum(p_i squared)</a:t>
            </a:r>
            <a:endParaRPr lang="en-US" sz="1300" dirty="0"/>
          </a:p>
        </p:txBody>
      </p:sp>
      <p:sp>
        <p:nvSpPr>
          <p:cNvPr id="13" name="Shape 11"/>
          <p:cNvSpPr/>
          <p:nvPr/>
        </p:nvSpPr>
        <p:spPr>
          <a:xfrm>
            <a:off x="6057900" y="914400"/>
            <a:ext cx="2697480" cy="411480"/>
          </a:xfrm>
          <a:prstGeom prst="rect">
            <a:avLst/>
          </a:prstGeom>
          <a:solidFill>
            <a:srgbClr val="F79646"/>
          </a:solidFill>
          <a:ln w="12700">
            <a:solidFill>
              <a:srgbClr val="FFFFFF"/>
            </a:solidFill>
            <a:prstDash val="solid"/>
          </a:ln>
        </p:spPr>
      </p:sp>
      <p:sp>
        <p:nvSpPr>
          <p:cNvPr id="14" name="Text 12"/>
          <p:cNvSpPr txBox="1"/>
          <p:nvPr/>
        </p:nvSpPr>
        <p:spPr>
          <a:xfrm>
            <a:off x="6057900" y="914400"/>
            <a:ext cx="2697480" cy="411480"/>
          </a:xfrm>
          <a:prstGeom prst="rect">
            <a:avLst/>
          </a:prstGeom>
          <a:noFill/>
          <a:ln/>
        </p:spPr>
        <p:txBody>
          <a:bodyPr wrap="square" lIns="0" tIns="0" rIns="0" bIns="0" rtlCol="0" anchor="ctr"/>
          <a:lstStyle/>
          <a:p>
            <a:pPr marL="0" indent="0" algn="ctr">
              <a:buNone/>
            </a:pPr>
            <a:r>
              <a:rPr lang="en-US" sz="1500" b="1" dirty="0">
                <a:solidFill>
                  <a:srgbClr val="000000"/>
                </a:solidFill>
                <a:latin typeface="Arial" pitchFamily="34" charset="0"/>
                <a:ea typeface="Arial" pitchFamily="34" charset="-122"/>
                <a:cs typeface="Arial" pitchFamily="34" charset="-120"/>
              </a:rPr>
              <a:t>Random Forest</a:t>
            </a:r>
            <a:endParaRPr lang="en-US" sz="1500" dirty="0"/>
          </a:p>
        </p:txBody>
      </p:sp>
      <p:sp>
        <p:nvSpPr>
          <p:cNvPr id="15" name="Text 13"/>
          <p:cNvSpPr txBox="1"/>
          <p:nvPr/>
        </p:nvSpPr>
        <p:spPr>
          <a:xfrm>
            <a:off x="6057900" y="1417320"/>
            <a:ext cx="2697480" cy="2423160"/>
          </a:xfrm>
          <a:prstGeom prst="rect">
            <a:avLst/>
          </a:prstGeom>
          <a:noFill/>
          <a:ln/>
        </p:spPr>
        <p:txBody>
          <a:bodyPr wrap="square" lIns="0" tIns="50800" rIns="50800" bIns="0" rtlCol="0" anchor="t"/>
          <a:lstStyle/>
          <a:p>
            <a:pPr marL="0" indent="0">
              <a:spcAft>
                <a:spcPts val="600"/>
              </a:spcAft>
              <a:buNone/>
            </a:pPr>
            <a:r>
              <a:rPr lang="en-US" sz="1400" i="1" dirty="0">
                <a:solidFill>
                  <a:srgbClr val="000000"/>
                </a:solidFill>
                <a:latin typeface="Arial" pitchFamily="34" charset="0"/>
                <a:ea typeface="Arial" pitchFamily="34" charset="-122"/>
                <a:cs typeface="Arial" pitchFamily="34" charset="-120"/>
              </a:rPr>
              <a:t>Many trees voting together.</a:t>
            </a:r>
            <a:endParaRPr lang="en-US" sz="1400" dirty="0"/>
          </a:p>
          <a:p>
            <a:pPr marL="342900" indent="-342900">
              <a:spcAft>
                <a:spcPts val="600"/>
              </a:spcAft>
              <a:buSzPct val="100000"/>
              <a:buChar char="•"/>
            </a:pPr>
            <a:r>
              <a:rPr lang="en-US" sz="1400" dirty="0">
                <a:solidFill>
                  <a:srgbClr val="000000"/>
                </a:solidFill>
                <a:latin typeface="Arial" pitchFamily="34" charset="0"/>
                <a:ea typeface="Arial" pitchFamily="34" charset="-122"/>
                <a:cs typeface="Arial" pitchFamily="34" charset="-120"/>
              </a:rPr>
              <a:t>Each tree trains on a random sample of data</a:t>
            </a:r>
            <a:endParaRPr lang="en-US" sz="1400" dirty="0"/>
          </a:p>
          <a:p>
            <a:pPr marL="342900" indent="-342900">
              <a:spcAft>
                <a:spcPts val="600"/>
              </a:spcAft>
              <a:buSzPct val="100000"/>
              <a:buChar char="•"/>
            </a:pPr>
            <a:r>
              <a:rPr lang="en-US" sz="1400" dirty="0">
                <a:solidFill>
                  <a:srgbClr val="000000"/>
                </a:solidFill>
                <a:latin typeface="Arial" pitchFamily="34" charset="0"/>
                <a:ea typeface="Arial" pitchFamily="34" charset="-122"/>
                <a:cs typeface="Arial" pitchFamily="34" charset="-120"/>
              </a:rPr>
              <a:t>Every tree votes Buy or Won’t Buy</a:t>
            </a:r>
            <a:endParaRPr lang="en-US" sz="1400" dirty="0"/>
          </a:p>
          <a:p>
            <a:pPr marL="342900" indent="-342900">
              <a:spcAft>
                <a:spcPts val="600"/>
              </a:spcAft>
              <a:buSzPct val="100000"/>
              <a:buChar char="•"/>
            </a:pPr>
            <a:r>
              <a:rPr lang="en-US" sz="1400" dirty="0">
                <a:solidFill>
                  <a:srgbClr val="000000"/>
                </a:solidFill>
                <a:latin typeface="Arial" pitchFamily="34" charset="0"/>
                <a:ea typeface="Arial" pitchFamily="34" charset="-122"/>
                <a:cs typeface="Arial" pitchFamily="34" charset="-120"/>
              </a:rPr>
              <a:t>Majority vote wins, which reduces overfitting</a:t>
            </a:r>
            <a:endParaRPr lang="en-US" sz="1400" dirty="0"/>
          </a:p>
        </p:txBody>
      </p:sp>
      <p:sp>
        <p:nvSpPr>
          <p:cNvPr id="16" name="Shape 14"/>
          <p:cNvSpPr/>
          <p:nvPr/>
        </p:nvSpPr>
        <p:spPr>
          <a:xfrm>
            <a:off x="6057900" y="3931920"/>
            <a:ext cx="2697480" cy="777240"/>
          </a:xfrm>
          <a:prstGeom prst="roundRect">
            <a:avLst>
              <a:gd name="adj" fmla="val 7059"/>
            </a:avLst>
          </a:prstGeom>
          <a:solidFill>
            <a:srgbClr val="FDE9D9"/>
          </a:solidFill>
          <a:ln w="12700">
            <a:solidFill>
              <a:srgbClr val="F79646"/>
            </a:solidFill>
            <a:prstDash val="solid"/>
          </a:ln>
        </p:spPr>
      </p:sp>
      <p:sp>
        <p:nvSpPr>
          <p:cNvPr id="17" name="Text 15"/>
          <p:cNvSpPr txBox="1"/>
          <p:nvPr/>
        </p:nvSpPr>
        <p:spPr>
          <a:xfrm>
            <a:off x="6057900" y="3931920"/>
            <a:ext cx="2697480" cy="777240"/>
          </a:xfrm>
          <a:prstGeom prst="rect">
            <a:avLst/>
          </a:prstGeom>
          <a:noFill/>
          <a:ln/>
        </p:spPr>
        <p:txBody>
          <a:bodyPr wrap="square" lIns="50800" tIns="50800" rIns="50800" bIns="50800" rtlCol="0" anchor="ctr"/>
          <a:lstStyle/>
          <a:p>
            <a:pPr marL="0" indent="0" algn="ctr">
              <a:buNone/>
            </a:pPr>
            <a:r>
              <a:rPr lang="en-US" sz="1300" b="1" dirty="0">
                <a:solidFill>
                  <a:srgbClr val="000000"/>
                </a:solidFill>
                <a:latin typeface="Arial" pitchFamily="34" charset="0"/>
                <a:ea typeface="Arial" pitchFamily="34" charset="-122"/>
                <a:cs typeface="Arial" pitchFamily="34" charset="-120"/>
              </a:rPr>
              <a:t>Prediction = majority vote (T1 ... Tn)</a:t>
            </a:r>
            <a:endParaRPr lang="en-US" sz="13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a:spLocks noGrp="1"/>
          </p:cNvSpPr>
          <p:nvPr>
            <p:ph type="title" idx="102" hasCustomPrompt="1"/>
          </p:nvPr>
        </p:nvSpPr>
        <p:spPr>
          <a:xfrm>
            <a:off x="868680" y="109728"/>
            <a:ext cx="7406640" cy="548640"/>
          </a:xfrm>
          <a:prstGeom prst="rect">
            <a:avLst/>
          </a:prstGeom>
          <a:noFill/>
          <a:ln/>
        </p:spPr>
        <p:txBody>
          <a:bodyPr wrap="square" lIns="0" tIns="0" rIns="0" bIns="0" rtlCol="0" anchor="ctr"/>
          <a:lstStyle/>
          <a:p>
            <a:pPr marL="0" indent="0" algn="ctr">
              <a:buNone/>
            </a:pPr>
            <a:r>
              <a:rPr lang="en-US" sz="2400" b="1" dirty="0">
                <a:solidFill>
                  <a:srgbClr val="FF0000"/>
                </a:solidFill>
                <a:latin typeface="Arial" pitchFamily="34" charset="0"/>
                <a:ea typeface="Arial" pitchFamily="34" charset="-122"/>
                <a:cs typeface="Arial" pitchFamily="34" charset="-120"/>
              </a:rPr>
              <a:t>COMPARE ALGORITHMS</a:t>
            </a:r>
            <a:endParaRPr lang="en-US" sz="2400" dirty="0"/>
          </a:p>
        </p:txBody>
      </p:sp>
      <p:graphicFrame>
        <p:nvGraphicFramePr>
          <p:cNvPr id="12" name="Table 0"/>
          <p:cNvGraphicFramePr>
            <a:graphicFrameLocks noGrp="1"/>
          </p:cNvGraphicFramePr>
          <p:nvPr>
            <p:extLst>
              <p:ext uri="{D42A27DB-BD31-4B8C-83A1-F6EECF244321}">
                <p14:modId xmlns:p14="http://schemas.microsoft.com/office/powerpoint/2010/main" val="1579011935"/>
              </p:ext>
            </p:extLst>
          </p:nvPr>
        </p:nvGraphicFramePr>
        <p:xfrm>
          <a:off x="388620" y="868680"/>
          <a:ext cx="8366760" cy="914400"/>
        </p:xfrm>
        <a:graphic>
          <a:graphicData uri="http://schemas.openxmlformats.org/drawingml/2006/table">
            <a:tbl>
              <a:tblPr/>
              <a:tblGrid>
                <a:gridCol w="1691640">
                  <a:extLst>
                    <a:ext uri="{9D8B030D-6E8A-4147-A177-3AD203B41FA5}">
                      <a16:colId xmlns:a16="http://schemas.microsoft.com/office/drawing/2014/main" val="20000"/>
                    </a:ext>
                  </a:extLst>
                </a:gridCol>
                <a:gridCol w="2240280">
                  <a:extLst>
                    <a:ext uri="{9D8B030D-6E8A-4147-A177-3AD203B41FA5}">
                      <a16:colId xmlns:a16="http://schemas.microsoft.com/office/drawing/2014/main" val="20001"/>
                    </a:ext>
                  </a:extLst>
                </a:gridCol>
                <a:gridCol w="2194560">
                  <a:extLst>
                    <a:ext uri="{9D8B030D-6E8A-4147-A177-3AD203B41FA5}">
                      <a16:colId xmlns:a16="http://schemas.microsoft.com/office/drawing/2014/main" val="20002"/>
                    </a:ext>
                  </a:extLst>
                </a:gridCol>
                <a:gridCol w="2240280">
                  <a:extLst>
                    <a:ext uri="{9D8B030D-6E8A-4147-A177-3AD203B41FA5}">
                      <a16:colId xmlns:a16="http://schemas.microsoft.com/office/drawing/2014/main" val="20003"/>
                    </a:ext>
                  </a:extLst>
                </a:gridCol>
              </a:tblGrid>
              <a:tr h="402336">
                <a:tc>
                  <a:txBody>
                    <a:bodyPr/>
                    <a:lstStyle/>
                    <a:p>
                      <a:pPr marL="0" indent="0" algn="l">
                        <a:buNone/>
                      </a:pPr>
                      <a:r>
                        <a:rPr lang="en-US" sz="1300" b="1" dirty="0">
                          <a:solidFill>
                            <a:srgbClr val="FFFFFF"/>
                          </a:solidFill>
                          <a:latin typeface="Arial" pitchFamily="34" charset="0"/>
                          <a:ea typeface="Arial" pitchFamily="34" charset="-122"/>
                          <a:cs typeface="Arial" pitchFamily="34" charset="-120"/>
                        </a:rPr>
                        <a:t>Criteria</a:t>
                      </a:r>
                      <a:endParaRPr lang="en-US" sz="1300" dirty="0">
                        <a:latin typeface="Arial" charset="0"/>
                        <a:ea typeface="Arial" charset="0"/>
                        <a:cs typeface="Arial" charset="0"/>
                      </a:endParaRPr>
                    </a:p>
                  </a:txBody>
                  <a:tcPr marL="76200" marR="76200" marT="38100" marB="38100" anchor="ctr">
                    <a:lnL w="6350" cap="flat" cmpd="sng" algn="ctr">
                      <a:solidFill>
                        <a:srgbClr val="9FA8C7"/>
                      </a:solidFill>
                      <a:prstDash val="solid"/>
                      <a:round/>
                      <a:headEnd type="none" w="med" len="med"/>
                      <a:tailEnd type="none" w="med" len="med"/>
                    </a:lnL>
                    <a:lnR w="6350" cap="flat" cmpd="sng" algn="ctr">
                      <a:solidFill>
                        <a:srgbClr val="9FA8C7"/>
                      </a:solidFill>
                      <a:prstDash val="solid"/>
                      <a:round/>
                      <a:headEnd type="none" w="med" len="med"/>
                      <a:tailEnd type="none" w="med" len="med"/>
                    </a:lnR>
                    <a:lnT w="6350" cap="flat" cmpd="sng" algn="ctr">
                      <a:solidFill>
                        <a:srgbClr val="9FA8C7"/>
                      </a:solidFill>
                      <a:prstDash val="solid"/>
                      <a:round/>
                      <a:headEnd type="none" w="med" len="med"/>
                      <a:tailEnd type="none" w="med" len="med"/>
                    </a:lnT>
                    <a:lnB w="6350" cap="flat" cmpd="sng" algn="ctr">
                      <a:solidFill>
                        <a:srgbClr val="9FA8C7"/>
                      </a:solidFill>
                      <a:prstDash val="solid"/>
                      <a:round/>
                      <a:headEnd type="none" w="med" len="med"/>
                      <a:tailEnd type="none" w="med" len="med"/>
                    </a:lnB>
                    <a:solidFill>
                      <a:srgbClr val="1F3864"/>
                    </a:solidFill>
                  </a:tcPr>
                </a:tc>
                <a:tc>
                  <a:txBody>
                    <a:bodyPr/>
                    <a:lstStyle/>
                    <a:p>
                      <a:pPr marL="0" indent="0" algn="ctr">
                        <a:buNone/>
                      </a:pPr>
                      <a:r>
                        <a:rPr lang="en-US" sz="1300" b="1" dirty="0">
                          <a:solidFill>
                            <a:srgbClr val="FFFFFF"/>
                          </a:solidFill>
                          <a:latin typeface="Arial" pitchFamily="34" charset="0"/>
                          <a:ea typeface="Arial" pitchFamily="34" charset="-122"/>
                          <a:cs typeface="Arial" pitchFamily="34" charset="-120"/>
                        </a:rPr>
                        <a:t>Logistic Regression</a:t>
                      </a:r>
                      <a:endParaRPr lang="en-US" sz="1300" dirty="0">
                        <a:latin typeface="Arial" charset="0"/>
                        <a:ea typeface="Arial" charset="0"/>
                        <a:cs typeface="Arial" charset="0"/>
                      </a:endParaRPr>
                    </a:p>
                  </a:txBody>
                  <a:tcPr marL="76200" marR="76200" marT="38100" marB="38100" anchor="ctr">
                    <a:lnL w="6350" cap="flat" cmpd="sng" algn="ctr">
                      <a:solidFill>
                        <a:srgbClr val="9FA8C7"/>
                      </a:solidFill>
                      <a:prstDash val="solid"/>
                      <a:round/>
                      <a:headEnd type="none" w="med" len="med"/>
                      <a:tailEnd type="none" w="med" len="med"/>
                    </a:lnL>
                    <a:lnR w="6350" cap="flat" cmpd="sng" algn="ctr">
                      <a:solidFill>
                        <a:srgbClr val="9FA8C7"/>
                      </a:solidFill>
                      <a:prstDash val="solid"/>
                      <a:round/>
                      <a:headEnd type="none" w="med" len="med"/>
                      <a:tailEnd type="none" w="med" len="med"/>
                    </a:lnR>
                    <a:lnT w="6350" cap="flat" cmpd="sng" algn="ctr">
                      <a:solidFill>
                        <a:srgbClr val="9FA8C7"/>
                      </a:solidFill>
                      <a:prstDash val="solid"/>
                      <a:round/>
                      <a:headEnd type="none" w="med" len="med"/>
                      <a:tailEnd type="none" w="med" len="med"/>
                    </a:lnT>
                    <a:lnB w="6350" cap="flat" cmpd="sng" algn="ctr">
                      <a:solidFill>
                        <a:srgbClr val="9FA8C7"/>
                      </a:solidFill>
                      <a:prstDash val="solid"/>
                      <a:round/>
                      <a:headEnd type="none" w="med" len="med"/>
                      <a:tailEnd type="none" w="med" len="med"/>
                    </a:lnB>
                    <a:solidFill>
                      <a:srgbClr val="1F3864"/>
                    </a:solidFill>
                  </a:tcPr>
                </a:tc>
                <a:tc>
                  <a:txBody>
                    <a:bodyPr/>
                    <a:lstStyle/>
                    <a:p>
                      <a:pPr marL="0" indent="0" algn="ctr">
                        <a:buNone/>
                      </a:pPr>
                      <a:r>
                        <a:rPr lang="en-US" sz="1300" b="1" dirty="0">
                          <a:solidFill>
                            <a:srgbClr val="FFFFFF"/>
                          </a:solidFill>
                          <a:latin typeface="Arial" pitchFamily="34" charset="0"/>
                          <a:ea typeface="Arial" pitchFamily="34" charset="-122"/>
                          <a:cs typeface="Arial" pitchFamily="34" charset="-120"/>
                        </a:rPr>
                        <a:t>Decision Tree</a:t>
                      </a:r>
                      <a:endParaRPr lang="en-US" sz="1300" dirty="0">
                        <a:latin typeface="Arial" charset="0"/>
                        <a:ea typeface="Arial" charset="0"/>
                        <a:cs typeface="Arial" charset="0"/>
                      </a:endParaRPr>
                    </a:p>
                  </a:txBody>
                  <a:tcPr marL="76200" marR="76200" marT="38100" marB="38100" anchor="ctr">
                    <a:lnL w="6350" cap="flat" cmpd="sng" algn="ctr">
                      <a:solidFill>
                        <a:srgbClr val="9FA8C7"/>
                      </a:solidFill>
                      <a:prstDash val="solid"/>
                      <a:round/>
                      <a:headEnd type="none" w="med" len="med"/>
                      <a:tailEnd type="none" w="med" len="med"/>
                    </a:lnL>
                    <a:lnR w="6350" cap="flat" cmpd="sng" algn="ctr">
                      <a:solidFill>
                        <a:srgbClr val="9FA8C7"/>
                      </a:solidFill>
                      <a:prstDash val="solid"/>
                      <a:round/>
                      <a:headEnd type="none" w="med" len="med"/>
                      <a:tailEnd type="none" w="med" len="med"/>
                    </a:lnR>
                    <a:lnT w="6350" cap="flat" cmpd="sng" algn="ctr">
                      <a:solidFill>
                        <a:srgbClr val="9FA8C7"/>
                      </a:solidFill>
                      <a:prstDash val="solid"/>
                      <a:round/>
                      <a:headEnd type="none" w="med" len="med"/>
                      <a:tailEnd type="none" w="med" len="med"/>
                    </a:lnT>
                    <a:lnB w="6350" cap="flat" cmpd="sng" algn="ctr">
                      <a:solidFill>
                        <a:srgbClr val="9FA8C7"/>
                      </a:solidFill>
                      <a:prstDash val="solid"/>
                      <a:round/>
                      <a:headEnd type="none" w="med" len="med"/>
                      <a:tailEnd type="none" w="med" len="med"/>
                    </a:lnB>
                    <a:solidFill>
                      <a:srgbClr val="1F3864"/>
                    </a:solidFill>
                  </a:tcPr>
                </a:tc>
                <a:tc>
                  <a:txBody>
                    <a:bodyPr/>
                    <a:lstStyle/>
                    <a:p>
                      <a:pPr marL="0" indent="0" algn="ctr">
                        <a:buNone/>
                      </a:pPr>
                      <a:r>
                        <a:rPr lang="en-US" sz="1300" b="1" dirty="0">
                          <a:solidFill>
                            <a:srgbClr val="FFFFFF"/>
                          </a:solidFill>
                          <a:latin typeface="Arial" pitchFamily="34" charset="0"/>
                          <a:ea typeface="Arial" pitchFamily="34" charset="-122"/>
                          <a:cs typeface="Arial" pitchFamily="34" charset="-120"/>
                        </a:rPr>
                        <a:t>Random Forest</a:t>
                      </a:r>
                      <a:endParaRPr lang="en-US" sz="1300" dirty="0">
                        <a:latin typeface="Arial" charset="0"/>
                        <a:ea typeface="Arial" charset="0"/>
                        <a:cs typeface="Arial" charset="0"/>
                      </a:endParaRPr>
                    </a:p>
                  </a:txBody>
                  <a:tcPr marL="76200" marR="76200" marT="38100" marB="38100" anchor="ctr">
                    <a:lnL w="6350" cap="flat" cmpd="sng" algn="ctr">
                      <a:solidFill>
                        <a:srgbClr val="9FA8C7"/>
                      </a:solidFill>
                      <a:prstDash val="solid"/>
                      <a:round/>
                      <a:headEnd type="none" w="med" len="med"/>
                      <a:tailEnd type="none" w="med" len="med"/>
                    </a:lnL>
                    <a:lnR w="6350" cap="flat" cmpd="sng" algn="ctr">
                      <a:solidFill>
                        <a:srgbClr val="9FA8C7"/>
                      </a:solidFill>
                      <a:prstDash val="solid"/>
                      <a:round/>
                      <a:headEnd type="none" w="med" len="med"/>
                      <a:tailEnd type="none" w="med" len="med"/>
                    </a:lnR>
                    <a:lnT w="6350" cap="flat" cmpd="sng" algn="ctr">
                      <a:solidFill>
                        <a:srgbClr val="9FA8C7"/>
                      </a:solidFill>
                      <a:prstDash val="solid"/>
                      <a:round/>
                      <a:headEnd type="none" w="med" len="med"/>
                      <a:tailEnd type="none" w="med" len="med"/>
                    </a:lnT>
                    <a:lnB w="6350" cap="flat" cmpd="sng" algn="ctr">
                      <a:solidFill>
                        <a:srgbClr val="9FA8C7"/>
                      </a:solidFill>
                      <a:prstDash val="solid"/>
                      <a:round/>
                      <a:headEnd type="none" w="med" len="med"/>
                      <a:tailEnd type="none" w="med" len="med"/>
                    </a:lnB>
                    <a:solidFill>
                      <a:srgbClr val="1F3864"/>
                    </a:solidFill>
                  </a:tcPr>
                </a:tc>
                <a:extLst>
                  <a:ext uri="{0D108BD9-81ED-4DB2-BD59-A6C34878D82A}">
                    <a16:rowId xmlns:a16="http://schemas.microsoft.com/office/drawing/2014/main" val="10000"/>
                  </a:ext>
                </a:extLst>
              </a:tr>
              <a:tr h="402336">
                <a:tc>
                  <a:txBody>
                    <a:bodyPr/>
                    <a:lstStyle/>
                    <a:p>
                      <a:pPr marL="0" indent="0" algn="l">
                        <a:buNone/>
                      </a:pPr>
                      <a:r>
                        <a:rPr lang="en-US" sz="1200" b="1" dirty="0">
                          <a:solidFill>
                            <a:srgbClr val="000000"/>
                          </a:solidFill>
                          <a:latin typeface="Arial" pitchFamily="34" charset="0"/>
                          <a:ea typeface="Arial" pitchFamily="34" charset="-122"/>
                          <a:cs typeface="Arial" pitchFamily="34" charset="-120"/>
                        </a:rPr>
                        <a:t>Type</a:t>
                      </a:r>
                      <a:endParaRPr lang="en-US" sz="1200" dirty="0">
                        <a:latin typeface="Arial" charset="0"/>
                        <a:ea typeface="Arial" charset="0"/>
                        <a:cs typeface="Arial" charset="0"/>
                      </a:endParaRPr>
                    </a:p>
                  </a:txBody>
                  <a:tcPr marL="76200" marR="76200" marT="38100" marB="38100" anchor="ctr">
                    <a:lnL w="6350" cap="flat" cmpd="sng" algn="ctr">
                      <a:solidFill>
                        <a:srgbClr val="9FA8C7"/>
                      </a:solidFill>
                      <a:prstDash val="solid"/>
                      <a:round/>
                      <a:headEnd type="none" w="med" len="med"/>
                      <a:tailEnd type="none" w="med" len="med"/>
                    </a:lnL>
                    <a:lnR w="6350" cap="flat" cmpd="sng" algn="ctr">
                      <a:solidFill>
                        <a:srgbClr val="9FA8C7"/>
                      </a:solidFill>
                      <a:prstDash val="solid"/>
                      <a:round/>
                      <a:headEnd type="none" w="med" len="med"/>
                      <a:tailEnd type="none" w="med" len="med"/>
                    </a:lnR>
                    <a:lnT w="6350" cap="flat" cmpd="sng" algn="ctr">
                      <a:solidFill>
                        <a:srgbClr val="9FA8C7"/>
                      </a:solidFill>
                      <a:prstDash val="solid"/>
                      <a:round/>
                      <a:headEnd type="none" w="med" len="med"/>
                      <a:tailEnd type="none" w="med" len="med"/>
                    </a:lnT>
                    <a:lnB w="6350" cap="flat" cmpd="sng" algn="ctr">
                      <a:solidFill>
                        <a:srgbClr val="9FA8C7"/>
                      </a:solidFill>
                      <a:prstDash val="solid"/>
                      <a:round/>
                      <a:headEnd type="none" w="med" len="med"/>
                      <a:tailEnd type="none" w="med" len="med"/>
                    </a:lnB>
                    <a:solidFill>
                      <a:srgbClr val="E8EAF6"/>
                    </a:solidFill>
                  </a:tcPr>
                </a:tc>
                <a:tc>
                  <a:txBody>
                    <a:bodyPr/>
                    <a:lstStyle/>
                    <a:p>
                      <a:pPr marL="0" indent="0" algn="ctr">
                        <a:buNone/>
                      </a:pPr>
                      <a:r>
                        <a:rPr lang="en-US" sz="1200" dirty="0">
                          <a:solidFill>
                            <a:srgbClr val="000000"/>
                          </a:solidFill>
                          <a:latin typeface="Arial" pitchFamily="34" charset="0"/>
                          <a:ea typeface="Arial" pitchFamily="34" charset="-122"/>
                          <a:cs typeface="Arial" pitchFamily="34" charset="-120"/>
                        </a:rPr>
                        <a:t>Linear, probability-based</a:t>
                      </a:r>
                      <a:endParaRPr lang="en-US" sz="1200" dirty="0">
                        <a:latin typeface="Arial" charset="0"/>
                        <a:ea typeface="Arial" charset="0"/>
                        <a:cs typeface="Arial" charset="0"/>
                      </a:endParaRPr>
                    </a:p>
                  </a:txBody>
                  <a:tcPr marL="76200" marR="76200" marT="38100" marB="38100" anchor="ctr">
                    <a:lnL w="6350" cap="flat" cmpd="sng" algn="ctr">
                      <a:solidFill>
                        <a:srgbClr val="9FA8C7"/>
                      </a:solidFill>
                      <a:prstDash val="solid"/>
                      <a:round/>
                      <a:headEnd type="none" w="med" len="med"/>
                      <a:tailEnd type="none" w="med" len="med"/>
                    </a:lnL>
                    <a:lnR w="6350" cap="flat" cmpd="sng" algn="ctr">
                      <a:solidFill>
                        <a:srgbClr val="9FA8C7"/>
                      </a:solidFill>
                      <a:prstDash val="solid"/>
                      <a:round/>
                      <a:headEnd type="none" w="med" len="med"/>
                      <a:tailEnd type="none" w="med" len="med"/>
                    </a:lnR>
                    <a:lnT w="6350" cap="flat" cmpd="sng" algn="ctr">
                      <a:solidFill>
                        <a:srgbClr val="9FA8C7"/>
                      </a:solidFill>
                      <a:prstDash val="solid"/>
                      <a:round/>
                      <a:headEnd type="none" w="med" len="med"/>
                      <a:tailEnd type="none" w="med" len="med"/>
                    </a:lnT>
                    <a:lnB w="6350" cap="flat" cmpd="sng" algn="ctr">
                      <a:solidFill>
                        <a:srgbClr val="9FA8C7"/>
                      </a:solidFill>
                      <a:prstDash val="solid"/>
                      <a:round/>
                      <a:headEnd type="none" w="med" len="med"/>
                      <a:tailEnd type="none" w="med" len="med"/>
                    </a:lnB>
                    <a:solidFill>
                      <a:srgbClr val="E8EAF6"/>
                    </a:solidFill>
                  </a:tcPr>
                </a:tc>
                <a:tc>
                  <a:txBody>
                    <a:bodyPr/>
                    <a:lstStyle/>
                    <a:p>
                      <a:pPr marL="0" indent="0" algn="ctr">
                        <a:buNone/>
                      </a:pPr>
                      <a:r>
                        <a:rPr lang="en-US" sz="1200" dirty="0">
                          <a:solidFill>
                            <a:srgbClr val="000000"/>
                          </a:solidFill>
                          <a:latin typeface="Arial" pitchFamily="34" charset="0"/>
                          <a:ea typeface="Arial" pitchFamily="34" charset="-122"/>
                          <a:cs typeface="Arial" pitchFamily="34" charset="-120"/>
                        </a:rPr>
                        <a:t>Rule-based tree</a:t>
                      </a:r>
                      <a:endParaRPr lang="en-US" sz="1200" dirty="0">
                        <a:latin typeface="Arial" charset="0"/>
                        <a:ea typeface="Arial" charset="0"/>
                        <a:cs typeface="Arial" charset="0"/>
                      </a:endParaRPr>
                    </a:p>
                  </a:txBody>
                  <a:tcPr marL="76200" marR="76200" marT="38100" marB="38100" anchor="ctr">
                    <a:lnL w="6350" cap="flat" cmpd="sng" algn="ctr">
                      <a:solidFill>
                        <a:srgbClr val="9FA8C7"/>
                      </a:solidFill>
                      <a:prstDash val="solid"/>
                      <a:round/>
                      <a:headEnd type="none" w="med" len="med"/>
                      <a:tailEnd type="none" w="med" len="med"/>
                    </a:lnL>
                    <a:lnR w="6350" cap="flat" cmpd="sng" algn="ctr">
                      <a:solidFill>
                        <a:srgbClr val="9FA8C7"/>
                      </a:solidFill>
                      <a:prstDash val="solid"/>
                      <a:round/>
                      <a:headEnd type="none" w="med" len="med"/>
                      <a:tailEnd type="none" w="med" len="med"/>
                    </a:lnR>
                    <a:lnT w="6350" cap="flat" cmpd="sng" algn="ctr">
                      <a:solidFill>
                        <a:srgbClr val="9FA8C7"/>
                      </a:solidFill>
                      <a:prstDash val="solid"/>
                      <a:round/>
                      <a:headEnd type="none" w="med" len="med"/>
                      <a:tailEnd type="none" w="med" len="med"/>
                    </a:lnT>
                    <a:lnB w="6350" cap="flat" cmpd="sng" algn="ctr">
                      <a:solidFill>
                        <a:srgbClr val="9FA8C7"/>
                      </a:solidFill>
                      <a:prstDash val="solid"/>
                      <a:round/>
                      <a:headEnd type="none" w="med" len="med"/>
                      <a:tailEnd type="none" w="med" len="med"/>
                    </a:lnB>
                    <a:solidFill>
                      <a:srgbClr val="E8EAF6"/>
                    </a:solidFill>
                  </a:tcPr>
                </a:tc>
                <a:tc>
                  <a:txBody>
                    <a:bodyPr/>
                    <a:lstStyle/>
                    <a:p>
                      <a:pPr marL="0" indent="0" algn="ctr">
                        <a:buNone/>
                      </a:pPr>
                      <a:r>
                        <a:rPr lang="en-US" sz="1200" dirty="0">
                          <a:solidFill>
                            <a:srgbClr val="000000"/>
                          </a:solidFill>
                          <a:latin typeface="Arial" pitchFamily="34" charset="0"/>
                          <a:ea typeface="Arial" pitchFamily="34" charset="-122"/>
                          <a:cs typeface="Arial" pitchFamily="34" charset="-120"/>
                        </a:rPr>
                        <a:t>Ensemble of many trees</a:t>
                      </a:r>
                      <a:endParaRPr lang="en-US" sz="1200" dirty="0">
                        <a:latin typeface="Arial" charset="0"/>
                        <a:ea typeface="Arial" charset="0"/>
                        <a:cs typeface="Arial" charset="0"/>
                      </a:endParaRPr>
                    </a:p>
                  </a:txBody>
                  <a:tcPr marL="76200" marR="76200" marT="38100" marB="38100" anchor="ctr">
                    <a:lnL w="6350" cap="flat" cmpd="sng" algn="ctr">
                      <a:solidFill>
                        <a:srgbClr val="9FA8C7"/>
                      </a:solidFill>
                      <a:prstDash val="solid"/>
                      <a:round/>
                      <a:headEnd type="none" w="med" len="med"/>
                      <a:tailEnd type="none" w="med" len="med"/>
                    </a:lnL>
                    <a:lnR w="6350" cap="flat" cmpd="sng" algn="ctr">
                      <a:solidFill>
                        <a:srgbClr val="9FA8C7"/>
                      </a:solidFill>
                      <a:prstDash val="solid"/>
                      <a:round/>
                      <a:headEnd type="none" w="med" len="med"/>
                      <a:tailEnd type="none" w="med" len="med"/>
                    </a:lnR>
                    <a:lnT w="6350" cap="flat" cmpd="sng" algn="ctr">
                      <a:solidFill>
                        <a:srgbClr val="9FA8C7"/>
                      </a:solidFill>
                      <a:prstDash val="solid"/>
                      <a:round/>
                      <a:headEnd type="none" w="med" len="med"/>
                      <a:tailEnd type="none" w="med" len="med"/>
                    </a:lnT>
                    <a:lnB w="6350" cap="flat" cmpd="sng" algn="ctr">
                      <a:solidFill>
                        <a:srgbClr val="9FA8C7"/>
                      </a:solidFill>
                      <a:prstDash val="solid"/>
                      <a:round/>
                      <a:headEnd type="none" w="med" len="med"/>
                      <a:tailEnd type="none" w="med" len="med"/>
                    </a:lnB>
                    <a:solidFill>
                      <a:srgbClr val="E8EAF6"/>
                    </a:solidFill>
                  </a:tcPr>
                </a:tc>
                <a:extLst>
                  <a:ext uri="{0D108BD9-81ED-4DB2-BD59-A6C34878D82A}">
                    <a16:rowId xmlns:a16="http://schemas.microsoft.com/office/drawing/2014/main" val="10001"/>
                  </a:ext>
                </a:extLst>
              </a:tr>
              <a:tr h="402336">
                <a:tc>
                  <a:txBody>
                    <a:bodyPr/>
                    <a:lstStyle/>
                    <a:p>
                      <a:pPr marL="0" indent="0" algn="l">
                        <a:buNone/>
                      </a:pPr>
                      <a:r>
                        <a:rPr lang="en-US" sz="1200" b="1" dirty="0">
                          <a:solidFill>
                            <a:srgbClr val="000000"/>
                          </a:solidFill>
                          <a:latin typeface="Arial" pitchFamily="34" charset="0"/>
                          <a:ea typeface="Arial" pitchFamily="34" charset="-122"/>
                          <a:cs typeface="Arial" pitchFamily="34" charset="-120"/>
                        </a:rPr>
                        <a:t>Interpretability</a:t>
                      </a:r>
                      <a:endParaRPr lang="en-US" sz="1200" dirty="0">
                        <a:latin typeface="Arial" charset="0"/>
                        <a:ea typeface="Arial" charset="0"/>
                        <a:cs typeface="Arial" charset="0"/>
                      </a:endParaRPr>
                    </a:p>
                  </a:txBody>
                  <a:tcPr marL="76200" marR="76200" marT="38100" marB="38100" anchor="ctr">
                    <a:lnL w="6350" cap="flat" cmpd="sng" algn="ctr">
                      <a:solidFill>
                        <a:srgbClr val="9FA8C7"/>
                      </a:solidFill>
                      <a:prstDash val="solid"/>
                      <a:round/>
                      <a:headEnd type="none" w="med" len="med"/>
                      <a:tailEnd type="none" w="med" len="med"/>
                    </a:lnL>
                    <a:lnR w="6350" cap="flat" cmpd="sng" algn="ctr">
                      <a:solidFill>
                        <a:srgbClr val="9FA8C7"/>
                      </a:solidFill>
                      <a:prstDash val="solid"/>
                      <a:round/>
                      <a:headEnd type="none" w="med" len="med"/>
                      <a:tailEnd type="none" w="med" len="med"/>
                    </a:lnR>
                    <a:lnT w="6350" cap="flat" cmpd="sng" algn="ctr">
                      <a:solidFill>
                        <a:srgbClr val="9FA8C7"/>
                      </a:solidFill>
                      <a:prstDash val="solid"/>
                      <a:round/>
                      <a:headEnd type="none" w="med" len="med"/>
                      <a:tailEnd type="none" w="med" len="med"/>
                    </a:lnT>
                    <a:lnB w="6350" cap="flat" cmpd="sng" algn="ctr">
                      <a:solidFill>
                        <a:srgbClr val="9FA8C7"/>
                      </a:solidFill>
                      <a:prstDash val="solid"/>
                      <a:round/>
                      <a:headEnd type="none" w="med" len="med"/>
                      <a:tailEnd type="none" w="med" len="med"/>
                    </a:lnB>
                    <a:solidFill>
                      <a:srgbClr val="FFFFFF"/>
                    </a:solidFill>
                  </a:tcPr>
                </a:tc>
                <a:tc>
                  <a:txBody>
                    <a:bodyPr/>
                    <a:lstStyle/>
                    <a:p>
                      <a:pPr marL="0" indent="0" algn="ctr">
                        <a:buNone/>
                      </a:pPr>
                      <a:r>
                        <a:rPr lang="en-US" sz="1200" dirty="0">
                          <a:solidFill>
                            <a:srgbClr val="000000"/>
                          </a:solidFill>
                          <a:latin typeface="Arial" pitchFamily="34" charset="0"/>
                          <a:ea typeface="Arial" pitchFamily="34" charset="-122"/>
                          <a:cs typeface="Arial" pitchFamily="34" charset="-120"/>
                        </a:rPr>
                        <a:t>High: coefficients show effects</a:t>
                      </a:r>
                      <a:endParaRPr lang="en-US" sz="1200" dirty="0">
                        <a:latin typeface="Arial" charset="0"/>
                        <a:ea typeface="Arial" charset="0"/>
                        <a:cs typeface="Arial" charset="0"/>
                      </a:endParaRPr>
                    </a:p>
                  </a:txBody>
                  <a:tcPr marL="76200" marR="76200" marT="38100" marB="38100" anchor="ctr">
                    <a:lnL w="6350" cap="flat" cmpd="sng" algn="ctr">
                      <a:solidFill>
                        <a:srgbClr val="9FA8C7"/>
                      </a:solidFill>
                      <a:prstDash val="solid"/>
                      <a:round/>
                      <a:headEnd type="none" w="med" len="med"/>
                      <a:tailEnd type="none" w="med" len="med"/>
                    </a:lnL>
                    <a:lnR w="6350" cap="flat" cmpd="sng" algn="ctr">
                      <a:solidFill>
                        <a:srgbClr val="9FA8C7"/>
                      </a:solidFill>
                      <a:prstDash val="solid"/>
                      <a:round/>
                      <a:headEnd type="none" w="med" len="med"/>
                      <a:tailEnd type="none" w="med" len="med"/>
                    </a:lnR>
                    <a:lnT w="6350" cap="flat" cmpd="sng" algn="ctr">
                      <a:solidFill>
                        <a:srgbClr val="9FA8C7"/>
                      </a:solidFill>
                      <a:prstDash val="solid"/>
                      <a:round/>
                      <a:headEnd type="none" w="med" len="med"/>
                      <a:tailEnd type="none" w="med" len="med"/>
                    </a:lnT>
                    <a:lnB w="6350" cap="flat" cmpd="sng" algn="ctr">
                      <a:solidFill>
                        <a:srgbClr val="9FA8C7"/>
                      </a:solidFill>
                      <a:prstDash val="solid"/>
                      <a:round/>
                      <a:headEnd type="none" w="med" len="med"/>
                      <a:tailEnd type="none" w="med" len="med"/>
                    </a:lnB>
                    <a:solidFill>
                      <a:srgbClr val="FFFFFF"/>
                    </a:solidFill>
                  </a:tcPr>
                </a:tc>
                <a:tc>
                  <a:txBody>
                    <a:bodyPr/>
                    <a:lstStyle/>
                    <a:p>
                      <a:pPr marL="0" indent="0" algn="ctr">
                        <a:buNone/>
                      </a:pPr>
                      <a:r>
                        <a:rPr lang="en-US" sz="1200" dirty="0">
                          <a:solidFill>
                            <a:srgbClr val="000000"/>
                          </a:solidFill>
                          <a:latin typeface="Arial" pitchFamily="34" charset="0"/>
                          <a:ea typeface="Arial" pitchFamily="34" charset="-122"/>
                          <a:cs typeface="Arial" pitchFamily="34" charset="-120"/>
                        </a:rPr>
                        <a:t>High: tree can be drawn</a:t>
                      </a:r>
                      <a:endParaRPr lang="en-US" sz="1200" dirty="0">
                        <a:latin typeface="Arial" charset="0"/>
                        <a:ea typeface="Arial" charset="0"/>
                        <a:cs typeface="Arial" charset="0"/>
                      </a:endParaRPr>
                    </a:p>
                  </a:txBody>
                  <a:tcPr marL="76200" marR="76200" marT="38100" marB="38100" anchor="ctr">
                    <a:lnL w="6350" cap="flat" cmpd="sng" algn="ctr">
                      <a:solidFill>
                        <a:srgbClr val="9FA8C7"/>
                      </a:solidFill>
                      <a:prstDash val="solid"/>
                      <a:round/>
                      <a:headEnd type="none" w="med" len="med"/>
                      <a:tailEnd type="none" w="med" len="med"/>
                    </a:lnL>
                    <a:lnR w="6350" cap="flat" cmpd="sng" algn="ctr">
                      <a:solidFill>
                        <a:srgbClr val="9FA8C7"/>
                      </a:solidFill>
                      <a:prstDash val="solid"/>
                      <a:round/>
                      <a:headEnd type="none" w="med" len="med"/>
                      <a:tailEnd type="none" w="med" len="med"/>
                    </a:lnR>
                    <a:lnT w="6350" cap="flat" cmpd="sng" algn="ctr">
                      <a:solidFill>
                        <a:srgbClr val="9FA8C7"/>
                      </a:solidFill>
                      <a:prstDash val="solid"/>
                      <a:round/>
                      <a:headEnd type="none" w="med" len="med"/>
                      <a:tailEnd type="none" w="med" len="med"/>
                    </a:lnT>
                    <a:lnB w="6350" cap="flat" cmpd="sng" algn="ctr">
                      <a:solidFill>
                        <a:srgbClr val="9FA8C7"/>
                      </a:solidFill>
                      <a:prstDash val="solid"/>
                      <a:round/>
                      <a:headEnd type="none" w="med" len="med"/>
                      <a:tailEnd type="none" w="med" len="med"/>
                    </a:lnB>
                    <a:solidFill>
                      <a:srgbClr val="FFFFFF"/>
                    </a:solidFill>
                  </a:tcPr>
                </a:tc>
                <a:tc>
                  <a:txBody>
                    <a:bodyPr/>
                    <a:lstStyle/>
                    <a:p>
                      <a:pPr marL="0" indent="0" algn="ctr">
                        <a:buNone/>
                      </a:pPr>
                      <a:r>
                        <a:rPr lang="en-US" sz="1200" dirty="0">
                          <a:solidFill>
                            <a:srgbClr val="000000"/>
                          </a:solidFill>
                          <a:latin typeface="Arial" pitchFamily="34" charset="0"/>
                          <a:ea typeface="Arial" pitchFamily="34" charset="-122"/>
                          <a:cs typeface="Arial" pitchFamily="34" charset="-120"/>
                        </a:rPr>
                        <a:t>Medium: harder to trace</a:t>
                      </a:r>
                      <a:endParaRPr lang="en-US" sz="1200" dirty="0">
                        <a:latin typeface="Arial" charset="0"/>
                        <a:ea typeface="Arial" charset="0"/>
                        <a:cs typeface="Arial" charset="0"/>
                      </a:endParaRPr>
                    </a:p>
                  </a:txBody>
                  <a:tcPr marL="76200" marR="76200" marT="38100" marB="38100" anchor="ctr">
                    <a:lnL w="6350" cap="flat" cmpd="sng" algn="ctr">
                      <a:solidFill>
                        <a:srgbClr val="9FA8C7"/>
                      </a:solidFill>
                      <a:prstDash val="solid"/>
                      <a:round/>
                      <a:headEnd type="none" w="med" len="med"/>
                      <a:tailEnd type="none" w="med" len="med"/>
                    </a:lnL>
                    <a:lnR w="6350" cap="flat" cmpd="sng" algn="ctr">
                      <a:solidFill>
                        <a:srgbClr val="9FA8C7"/>
                      </a:solidFill>
                      <a:prstDash val="solid"/>
                      <a:round/>
                      <a:headEnd type="none" w="med" len="med"/>
                      <a:tailEnd type="none" w="med" len="med"/>
                    </a:lnR>
                    <a:lnT w="6350" cap="flat" cmpd="sng" algn="ctr">
                      <a:solidFill>
                        <a:srgbClr val="9FA8C7"/>
                      </a:solidFill>
                      <a:prstDash val="solid"/>
                      <a:round/>
                      <a:headEnd type="none" w="med" len="med"/>
                      <a:tailEnd type="none" w="med" len="med"/>
                    </a:lnT>
                    <a:lnB w="6350" cap="flat" cmpd="sng" algn="ctr">
                      <a:solidFill>
                        <a:srgbClr val="9FA8C7"/>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402336">
                <a:tc>
                  <a:txBody>
                    <a:bodyPr/>
                    <a:lstStyle/>
                    <a:p>
                      <a:pPr marL="0" indent="0" algn="l">
                        <a:buNone/>
                      </a:pPr>
                      <a:r>
                        <a:rPr lang="en-US" sz="1200" b="1" dirty="0">
                          <a:solidFill>
                            <a:srgbClr val="000000"/>
                          </a:solidFill>
                          <a:latin typeface="Arial" pitchFamily="34" charset="0"/>
                          <a:ea typeface="Arial" pitchFamily="34" charset="-122"/>
                          <a:cs typeface="Arial" pitchFamily="34" charset="-120"/>
                        </a:rPr>
                        <a:t>Non-linear patterns</a:t>
                      </a:r>
                      <a:endParaRPr lang="en-US" sz="1200" dirty="0">
                        <a:latin typeface="Arial" charset="0"/>
                        <a:ea typeface="Arial" charset="0"/>
                        <a:cs typeface="Arial" charset="0"/>
                      </a:endParaRPr>
                    </a:p>
                  </a:txBody>
                  <a:tcPr marL="76200" marR="76200" marT="38100" marB="38100" anchor="ctr">
                    <a:lnL w="6350" cap="flat" cmpd="sng" algn="ctr">
                      <a:solidFill>
                        <a:srgbClr val="9FA8C7"/>
                      </a:solidFill>
                      <a:prstDash val="solid"/>
                      <a:round/>
                      <a:headEnd type="none" w="med" len="med"/>
                      <a:tailEnd type="none" w="med" len="med"/>
                    </a:lnL>
                    <a:lnR w="6350" cap="flat" cmpd="sng" algn="ctr">
                      <a:solidFill>
                        <a:srgbClr val="9FA8C7"/>
                      </a:solidFill>
                      <a:prstDash val="solid"/>
                      <a:round/>
                      <a:headEnd type="none" w="med" len="med"/>
                      <a:tailEnd type="none" w="med" len="med"/>
                    </a:lnR>
                    <a:lnT w="6350" cap="flat" cmpd="sng" algn="ctr">
                      <a:solidFill>
                        <a:srgbClr val="9FA8C7"/>
                      </a:solidFill>
                      <a:prstDash val="solid"/>
                      <a:round/>
                      <a:headEnd type="none" w="med" len="med"/>
                      <a:tailEnd type="none" w="med" len="med"/>
                    </a:lnT>
                    <a:lnB w="6350" cap="flat" cmpd="sng" algn="ctr">
                      <a:solidFill>
                        <a:srgbClr val="9FA8C7"/>
                      </a:solidFill>
                      <a:prstDash val="solid"/>
                      <a:round/>
                      <a:headEnd type="none" w="med" len="med"/>
                      <a:tailEnd type="none" w="med" len="med"/>
                    </a:lnB>
                    <a:solidFill>
                      <a:srgbClr val="E8EAF6"/>
                    </a:solidFill>
                  </a:tcPr>
                </a:tc>
                <a:tc>
                  <a:txBody>
                    <a:bodyPr/>
                    <a:lstStyle/>
                    <a:p>
                      <a:pPr marL="0" indent="0" algn="ctr">
                        <a:buNone/>
                      </a:pPr>
                      <a:r>
                        <a:rPr lang="en-US" sz="1200" dirty="0">
                          <a:solidFill>
                            <a:srgbClr val="000000"/>
                          </a:solidFill>
                          <a:latin typeface="Arial" pitchFamily="34" charset="0"/>
                          <a:ea typeface="Arial" pitchFamily="34" charset="-122"/>
                          <a:cs typeface="Arial" pitchFamily="34" charset="-120"/>
                        </a:rPr>
                        <a:t>Weak</a:t>
                      </a:r>
                      <a:endParaRPr lang="en-US" sz="1200" dirty="0">
                        <a:latin typeface="Arial" charset="0"/>
                        <a:ea typeface="Arial" charset="0"/>
                        <a:cs typeface="Arial" charset="0"/>
                      </a:endParaRPr>
                    </a:p>
                  </a:txBody>
                  <a:tcPr marL="76200" marR="76200" marT="38100" marB="38100" anchor="ctr">
                    <a:lnL w="6350" cap="flat" cmpd="sng" algn="ctr">
                      <a:solidFill>
                        <a:srgbClr val="9FA8C7"/>
                      </a:solidFill>
                      <a:prstDash val="solid"/>
                      <a:round/>
                      <a:headEnd type="none" w="med" len="med"/>
                      <a:tailEnd type="none" w="med" len="med"/>
                    </a:lnL>
                    <a:lnR w="6350" cap="flat" cmpd="sng" algn="ctr">
                      <a:solidFill>
                        <a:srgbClr val="9FA8C7"/>
                      </a:solidFill>
                      <a:prstDash val="solid"/>
                      <a:round/>
                      <a:headEnd type="none" w="med" len="med"/>
                      <a:tailEnd type="none" w="med" len="med"/>
                    </a:lnR>
                    <a:lnT w="6350" cap="flat" cmpd="sng" algn="ctr">
                      <a:solidFill>
                        <a:srgbClr val="9FA8C7"/>
                      </a:solidFill>
                      <a:prstDash val="solid"/>
                      <a:round/>
                      <a:headEnd type="none" w="med" len="med"/>
                      <a:tailEnd type="none" w="med" len="med"/>
                    </a:lnT>
                    <a:lnB w="6350" cap="flat" cmpd="sng" algn="ctr">
                      <a:solidFill>
                        <a:srgbClr val="9FA8C7"/>
                      </a:solidFill>
                      <a:prstDash val="solid"/>
                      <a:round/>
                      <a:headEnd type="none" w="med" len="med"/>
                      <a:tailEnd type="none" w="med" len="med"/>
                    </a:lnB>
                    <a:solidFill>
                      <a:srgbClr val="E8EAF6"/>
                    </a:solidFill>
                  </a:tcPr>
                </a:tc>
                <a:tc>
                  <a:txBody>
                    <a:bodyPr/>
                    <a:lstStyle/>
                    <a:p>
                      <a:pPr marL="0" indent="0" algn="ctr">
                        <a:buNone/>
                      </a:pPr>
                      <a:r>
                        <a:rPr lang="en-US" sz="1200" dirty="0">
                          <a:solidFill>
                            <a:srgbClr val="000000"/>
                          </a:solidFill>
                          <a:latin typeface="Arial" pitchFamily="34" charset="0"/>
                          <a:ea typeface="Arial" pitchFamily="34" charset="-122"/>
                          <a:cs typeface="Arial" pitchFamily="34" charset="-120"/>
                        </a:rPr>
                        <a:t>Good</a:t>
                      </a:r>
                      <a:endParaRPr lang="en-US" sz="1200" dirty="0">
                        <a:latin typeface="Arial" charset="0"/>
                        <a:ea typeface="Arial" charset="0"/>
                        <a:cs typeface="Arial" charset="0"/>
                      </a:endParaRPr>
                    </a:p>
                  </a:txBody>
                  <a:tcPr marL="76200" marR="76200" marT="38100" marB="38100" anchor="ctr">
                    <a:lnL w="6350" cap="flat" cmpd="sng" algn="ctr">
                      <a:solidFill>
                        <a:srgbClr val="9FA8C7"/>
                      </a:solidFill>
                      <a:prstDash val="solid"/>
                      <a:round/>
                      <a:headEnd type="none" w="med" len="med"/>
                      <a:tailEnd type="none" w="med" len="med"/>
                    </a:lnL>
                    <a:lnR w="6350" cap="flat" cmpd="sng" algn="ctr">
                      <a:solidFill>
                        <a:srgbClr val="9FA8C7"/>
                      </a:solidFill>
                      <a:prstDash val="solid"/>
                      <a:round/>
                      <a:headEnd type="none" w="med" len="med"/>
                      <a:tailEnd type="none" w="med" len="med"/>
                    </a:lnR>
                    <a:lnT w="6350" cap="flat" cmpd="sng" algn="ctr">
                      <a:solidFill>
                        <a:srgbClr val="9FA8C7"/>
                      </a:solidFill>
                      <a:prstDash val="solid"/>
                      <a:round/>
                      <a:headEnd type="none" w="med" len="med"/>
                      <a:tailEnd type="none" w="med" len="med"/>
                    </a:lnT>
                    <a:lnB w="6350" cap="flat" cmpd="sng" algn="ctr">
                      <a:solidFill>
                        <a:srgbClr val="9FA8C7"/>
                      </a:solidFill>
                      <a:prstDash val="solid"/>
                      <a:round/>
                      <a:headEnd type="none" w="med" len="med"/>
                      <a:tailEnd type="none" w="med" len="med"/>
                    </a:lnB>
                    <a:solidFill>
                      <a:srgbClr val="E8EAF6"/>
                    </a:solidFill>
                  </a:tcPr>
                </a:tc>
                <a:tc>
                  <a:txBody>
                    <a:bodyPr/>
                    <a:lstStyle/>
                    <a:p>
                      <a:pPr marL="0" indent="0" algn="ctr">
                        <a:buNone/>
                      </a:pPr>
                      <a:r>
                        <a:rPr lang="en-US" sz="1200" dirty="0">
                          <a:solidFill>
                            <a:srgbClr val="000000"/>
                          </a:solidFill>
                          <a:latin typeface="Arial" pitchFamily="34" charset="0"/>
                          <a:ea typeface="Arial" pitchFamily="34" charset="-122"/>
                          <a:cs typeface="Arial" pitchFamily="34" charset="-120"/>
                        </a:rPr>
                        <a:t>Very good</a:t>
                      </a:r>
                      <a:endParaRPr lang="en-US" sz="1200" dirty="0">
                        <a:latin typeface="Arial" charset="0"/>
                        <a:ea typeface="Arial" charset="0"/>
                        <a:cs typeface="Arial" charset="0"/>
                      </a:endParaRPr>
                    </a:p>
                  </a:txBody>
                  <a:tcPr marL="76200" marR="76200" marT="38100" marB="38100" anchor="ctr">
                    <a:lnL w="6350" cap="flat" cmpd="sng" algn="ctr">
                      <a:solidFill>
                        <a:srgbClr val="9FA8C7"/>
                      </a:solidFill>
                      <a:prstDash val="solid"/>
                      <a:round/>
                      <a:headEnd type="none" w="med" len="med"/>
                      <a:tailEnd type="none" w="med" len="med"/>
                    </a:lnL>
                    <a:lnR w="6350" cap="flat" cmpd="sng" algn="ctr">
                      <a:solidFill>
                        <a:srgbClr val="9FA8C7"/>
                      </a:solidFill>
                      <a:prstDash val="solid"/>
                      <a:round/>
                      <a:headEnd type="none" w="med" len="med"/>
                      <a:tailEnd type="none" w="med" len="med"/>
                    </a:lnR>
                    <a:lnT w="6350" cap="flat" cmpd="sng" algn="ctr">
                      <a:solidFill>
                        <a:srgbClr val="9FA8C7"/>
                      </a:solidFill>
                      <a:prstDash val="solid"/>
                      <a:round/>
                      <a:headEnd type="none" w="med" len="med"/>
                      <a:tailEnd type="none" w="med" len="med"/>
                    </a:lnT>
                    <a:lnB w="6350" cap="flat" cmpd="sng" algn="ctr">
                      <a:solidFill>
                        <a:srgbClr val="9FA8C7"/>
                      </a:solidFill>
                      <a:prstDash val="solid"/>
                      <a:round/>
                      <a:headEnd type="none" w="med" len="med"/>
                      <a:tailEnd type="none" w="med" len="med"/>
                    </a:lnB>
                    <a:solidFill>
                      <a:srgbClr val="E8EAF6"/>
                    </a:solidFill>
                  </a:tcPr>
                </a:tc>
                <a:extLst>
                  <a:ext uri="{0D108BD9-81ED-4DB2-BD59-A6C34878D82A}">
                    <a16:rowId xmlns:a16="http://schemas.microsoft.com/office/drawing/2014/main" val="10003"/>
                  </a:ext>
                </a:extLst>
              </a:tr>
              <a:tr h="402336">
                <a:tc>
                  <a:txBody>
                    <a:bodyPr/>
                    <a:lstStyle/>
                    <a:p>
                      <a:pPr marL="0" indent="0" algn="l">
                        <a:buNone/>
                      </a:pPr>
                      <a:r>
                        <a:rPr lang="en-US" sz="1200" b="1" dirty="0">
                          <a:solidFill>
                            <a:srgbClr val="000000"/>
                          </a:solidFill>
                          <a:latin typeface="Arial" pitchFamily="34" charset="0"/>
                          <a:ea typeface="Arial" pitchFamily="34" charset="-122"/>
                          <a:cs typeface="Arial" pitchFamily="34" charset="-120"/>
                        </a:rPr>
                        <a:t>Overfitting risk</a:t>
                      </a:r>
                      <a:endParaRPr lang="en-US" sz="1200" dirty="0">
                        <a:latin typeface="Arial" charset="0"/>
                        <a:ea typeface="Arial" charset="0"/>
                        <a:cs typeface="Arial" charset="0"/>
                      </a:endParaRPr>
                    </a:p>
                  </a:txBody>
                  <a:tcPr marL="76200" marR="76200" marT="38100" marB="38100" anchor="ctr">
                    <a:lnL w="6350" cap="flat" cmpd="sng" algn="ctr">
                      <a:solidFill>
                        <a:srgbClr val="9FA8C7"/>
                      </a:solidFill>
                      <a:prstDash val="solid"/>
                      <a:round/>
                      <a:headEnd type="none" w="med" len="med"/>
                      <a:tailEnd type="none" w="med" len="med"/>
                    </a:lnL>
                    <a:lnR w="6350" cap="flat" cmpd="sng" algn="ctr">
                      <a:solidFill>
                        <a:srgbClr val="9FA8C7"/>
                      </a:solidFill>
                      <a:prstDash val="solid"/>
                      <a:round/>
                      <a:headEnd type="none" w="med" len="med"/>
                      <a:tailEnd type="none" w="med" len="med"/>
                    </a:lnR>
                    <a:lnT w="6350" cap="flat" cmpd="sng" algn="ctr">
                      <a:solidFill>
                        <a:srgbClr val="9FA8C7"/>
                      </a:solidFill>
                      <a:prstDash val="solid"/>
                      <a:round/>
                      <a:headEnd type="none" w="med" len="med"/>
                      <a:tailEnd type="none" w="med" len="med"/>
                    </a:lnT>
                    <a:lnB w="6350" cap="flat" cmpd="sng" algn="ctr">
                      <a:solidFill>
                        <a:srgbClr val="9FA8C7"/>
                      </a:solidFill>
                      <a:prstDash val="solid"/>
                      <a:round/>
                      <a:headEnd type="none" w="med" len="med"/>
                      <a:tailEnd type="none" w="med" len="med"/>
                    </a:lnB>
                    <a:solidFill>
                      <a:srgbClr val="FFFFFF"/>
                    </a:solidFill>
                  </a:tcPr>
                </a:tc>
                <a:tc>
                  <a:txBody>
                    <a:bodyPr/>
                    <a:lstStyle/>
                    <a:p>
                      <a:pPr marL="0" indent="0" algn="ctr">
                        <a:buNone/>
                      </a:pPr>
                      <a:r>
                        <a:rPr lang="en-US" sz="1200" dirty="0">
                          <a:solidFill>
                            <a:srgbClr val="000000"/>
                          </a:solidFill>
                          <a:latin typeface="Arial" pitchFamily="34" charset="0"/>
                          <a:ea typeface="Arial" pitchFamily="34" charset="-122"/>
                          <a:cs typeface="Arial" pitchFamily="34" charset="-120"/>
                        </a:rPr>
                        <a:t>Low</a:t>
                      </a:r>
                      <a:endParaRPr lang="en-US" sz="1200" dirty="0">
                        <a:latin typeface="Arial" charset="0"/>
                        <a:ea typeface="Arial" charset="0"/>
                        <a:cs typeface="Arial" charset="0"/>
                      </a:endParaRPr>
                    </a:p>
                  </a:txBody>
                  <a:tcPr marL="76200" marR="76200" marT="38100" marB="38100" anchor="ctr">
                    <a:lnL w="6350" cap="flat" cmpd="sng" algn="ctr">
                      <a:solidFill>
                        <a:srgbClr val="9FA8C7"/>
                      </a:solidFill>
                      <a:prstDash val="solid"/>
                      <a:round/>
                      <a:headEnd type="none" w="med" len="med"/>
                      <a:tailEnd type="none" w="med" len="med"/>
                    </a:lnL>
                    <a:lnR w="6350" cap="flat" cmpd="sng" algn="ctr">
                      <a:solidFill>
                        <a:srgbClr val="9FA8C7"/>
                      </a:solidFill>
                      <a:prstDash val="solid"/>
                      <a:round/>
                      <a:headEnd type="none" w="med" len="med"/>
                      <a:tailEnd type="none" w="med" len="med"/>
                    </a:lnR>
                    <a:lnT w="6350" cap="flat" cmpd="sng" algn="ctr">
                      <a:solidFill>
                        <a:srgbClr val="9FA8C7"/>
                      </a:solidFill>
                      <a:prstDash val="solid"/>
                      <a:round/>
                      <a:headEnd type="none" w="med" len="med"/>
                      <a:tailEnd type="none" w="med" len="med"/>
                    </a:lnT>
                    <a:lnB w="6350" cap="flat" cmpd="sng" algn="ctr">
                      <a:solidFill>
                        <a:srgbClr val="9FA8C7"/>
                      </a:solidFill>
                      <a:prstDash val="solid"/>
                      <a:round/>
                      <a:headEnd type="none" w="med" len="med"/>
                      <a:tailEnd type="none" w="med" len="med"/>
                    </a:lnB>
                    <a:solidFill>
                      <a:srgbClr val="FFFFFF"/>
                    </a:solidFill>
                  </a:tcPr>
                </a:tc>
                <a:tc>
                  <a:txBody>
                    <a:bodyPr/>
                    <a:lstStyle/>
                    <a:p>
                      <a:pPr marL="0" indent="0" algn="ctr">
                        <a:buNone/>
                      </a:pPr>
                      <a:r>
                        <a:rPr lang="en-US" sz="1200" dirty="0">
                          <a:solidFill>
                            <a:srgbClr val="000000"/>
                          </a:solidFill>
                          <a:latin typeface="Arial" pitchFamily="34" charset="0"/>
                          <a:ea typeface="Arial" pitchFamily="34" charset="-122"/>
                          <a:cs typeface="Arial" pitchFamily="34" charset="-120"/>
                        </a:rPr>
                        <a:t>High if tree grows deep</a:t>
                      </a:r>
                      <a:endParaRPr lang="en-US" sz="1200" dirty="0">
                        <a:latin typeface="Arial" charset="0"/>
                        <a:ea typeface="Arial" charset="0"/>
                        <a:cs typeface="Arial" charset="0"/>
                      </a:endParaRPr>
                    </a:p>
                  </a:txBody>
                  <a:tcPr marL="76200" marR="76200" marT="38100" marB="38100" anchor="ctr">
                    <a:lnL w="6350" cap="flat" cmpd="sng" algn="ctr">
                      <a:solidFill>
                        <a:srgbClr val="9FA8C7"/>
                      </a:solidFill>
                      <a:prstDash val="solid"/>
                      <a:round/>
                      <a:headEnd type="none" w="med" len="med"/>
                      <a:tailEnd type="none" w="med" len="med"/>
                    </a:lnL>
                    <a:lnR w="6350" cap="flat" cmpd="sng" algn="ctr">
                      <a:solidFill>
                        <a:srgbClr val="9FA8C7"/>
                      </a:solidFill>
                      <a:prstDash val="solid"/>
                      <a:round/>
                      <a:headEnd type="none" w="med" len="med"/>
                      <a:tailEnd type="none" w="med" len="med"/>
                    </a:lnR>
                    <a:lnT w="6350" cap="flat" cmpd="sng" algn="ctr">
                      <a:solidFill>
                        <a:srgbClr val="9FA8C7"/>
                      </a:solidFill>
                      <a:prstDash val="solid"/>
                      <a:round/>
                      <a:headEnd type="none" w="med" len="med"/>
                      <a:tailEnd type="none" w="med" len="med"/>
                    </a:lnT>
                    <a:lnB w="6350" cap="flat" cmpd="sng" algn="ctr">
                      <a:solidFill>
                        <a:srgbClr val="9FA8C7"/>
                      </a:solidFill>
                      <a:prstDash val="solid"/>
                      <a:round/>
                      <a:headEnd type="none" w="med" len="med"/>
                      <a:tailEnd type="none" w="med" len="med"/>
                    </a:lnB>
                    <a:solidFill>
                      <a:srgbClr val="FFFFFF"/>
                    </a:solidFill>
                  </a:tcPr>
                </a:tc>
                <a:tc>
                  <a:txBody>
                    <a:bodyPr/>
                    <a:lstStyle/>
                    <a:p>
                      <a:pPr marL="0" indent="0" algn="ctr">
                        <a:buNone/>
                      </a:pPr>
                      <a:r>
                        <a:rPr lang="en-US" sz="1200" dirty="0">
                          <a:solidFill>
                            <a:srgbClr val="000000"/>
                          </a:solidFill>
                          <a:latin typeface="Arial" pitchFamily="34" charset="0"/>
                          <a:ea typeface="Arial" pitchFamily="34" charset="-122"/>
                          <a:cs typeface="Arial" pitchFamily="34" charset="-120"/>
                        </a:rPr>
                        <a:t>Low</a:t>
                      </a:r>
                      <a:endParaRPr lang="en-US" sz="1200" dirty="0">
                        <a:latin typeface="Arial" charset="0"/>
                        <a:ea typeface="Arial" charset="0"/>
                        <a:cs typeface="Arial" charset="0"/>
                      </a:endParaRPr>
                    </a:p>
                  </a:txBody>
                  <a:tcPr marL="76200" marR="76200" marT="38100" marB="38100" anchor="ctr">
                    <a:lnL w="6350" cap="flat" cmpd="sng" algn="ctr">
                      <a:solidFill>
                        <a:srgbClr val="9FA8C7"/>
                      </a:solidFill>
                      <a:prstDash val="solid"/>
                      <a:round/>
                      <a:headEnd type="none" w="med" len="med"/>
                      <a:tailEnd type="none" w="med" len="med"/>
                    </a:lnL>
                    <a:lnR w="6350" cap="flat" cmpd="sng" algn="ctr">
                      <a:solidFill>
                        <a:srgbClr val="9FA8C7"/>
                      </a:solidFill>
                      <a:prstDash val="solid"/>
                      <a:round/>
                      <a:headEnd type="none" w="med" len="med"/>
                      <a:tailEnd type="none" w="med" len="med"/>
                    </a:lnR>
                    <a:lnT w="6350" cap="flat" cmpd="sng" algn="ctr">
                      <a:solidFill>
                        <a:srgbClr val="9FA8C7"/>
                      </a:solidFill>
                      <a:prstDash val="solid"/>
                      <a:round/>
                      <a:headEnd type="none" w="med" len="med"/>
                      <a:tailEnd type="none" w="med" len="med"/>
                    </a:lnT>
                    <a:lnB w="6350" cap="flat" cmpd="sng" algn="ctr">
                      <a:solidFill>
                        <a:srgbClr val="9FA8C7"/>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402336">
                <a:tc>
                  <a:txBody>
                    <a:bodyPr/>
                    <a:lstStyle/>
                    <a:p>
                      <a:pPr marL="0" indent="0" algn="l">
                        <a:buNone/>
                      </a:pPr>
                      <a:r>
                        <a:rPr lang="en-US" sz="1200" b="1" dirty="0">
                          <a:solidFill>
                            <a:srgbClr val="000000"/>
                          </a:solidFill>
                          <a:latin typeface="Arial" pitchFamily="34" charset="0"/>
                          <a:ea typeface="Arial" pitchFamily="34" charset="-122"/>
                          <a:cs typeface="Arial" pitchFamily="34" charset="-120"/>
                        </a:rPr>
                        <a:t>Imbalanced data</a:t>
                      </a:r>
                      <a:endParaRPr lang="en-US" sz="1200" dirty="0">
                        <a:latin typeface="Arial" charset="0"/>
                        <a:ea typeface="Arial" charset="0"/>
                        <a:cs typeface="Arial" charset="0"/>
                      </a:endParaRPr>
                    </a:p>
                  </a:txBody>
                  <a:tcPr marL="76200" marR="76200" marT="38100" marB="38100" anchor="ctr">
                    <a:lnL w="6350" cap="flat" cmpd="sng" algn="ctr">
                      <a:solidFill>
                        <a:srgbClr val="9FA8C7"/>
                      </a:solidFill>
                      <a:prstDash val="solid"/>
                      <a:round/>
                      <a:headEnd type="none" w="med" len="med"/>
                      <a:tailEnd type="none" w="med" len="med"/>
                    </a:lnL>
                    <a:lnR w="6350" cap="flat" cmpd="sng" algn="ctr">
                      <a:solidFill>
                        <a:srgbClr val="9FA8C7"/>
                      </a:solidFill>
                      <a:prstDash val="solid"/>
                      <a:round/>
                      <a:headEnd type="none" w="med" len="med"/>
                      <a:tailEnd type="none" w="med" len="med"/>
                    </a:lnR>
                    <a:lnT w="6350" cap="flat" cmpd="sng" algn="ctr">
                      <a:solidFill>
                        <a:srgbClr val="9FA8C7"/>
                      </a:solidFill>
                      <a:prstDash val="solid"/>
                      <a:round/>
                      <a:headEnd type="none" w="med" len="med"/>
                      <a:tailEnd type="none" w="med" len="med"/>
                    </a:lnT>
                    <a:lnB w="6350" cap="flat" cmpd="sng" algn="ctr">
                      <a:solidFill>
                        <a:srgbClr val="9FA8C7"/>
                      </a:solidFill>
                      <a:prstDash val="solid"/>
                      <a:round/>
                      <a:headEnd type="none" w="med" len="med"/>
                      <a:tailEnd type="none" w="med" len="med"/>
                    </a:lnB>
                    <a:solidFill>
                      <a:srgbClr val="E8EAF6"/>
                    </a:solidFill>
                  </a:tcPr>
                </a:tc>
                <a:tc>
                  <a:txBody>
                    <a:bodyPr/>
                    <a:lstStyle/>
                    <a:p>
                      <a:pPr marL="0" indent="0" algn="ctr">
                        <a:buNone/>
                      </a:pPr>
                      <a:r>
                        <a:rPr lang="en-US" sz="1200" dirty="0">
                          <a:solidFill>
                            <a:srgbClr val="000000"/>
                          </a:solidFill>
                          <a:latin typeface="Arial" pitchFamily="34" charset="0"/>
                          <a:ea typeface="Arial" pitchFamily="34" charset="-122"/>
                          <a:cs typeface="Arial" pitchFamily="34" charset="-120"/>
                        </a:rPr>
                        <a:t>Needs SMOTE or class weights</a:t>
                      </a:r>
                      <a:endParaRPr lang="en-US" sz="1200" dirty="0">
                        <a:latin typeface="Arial" charset="0"/>
                        <a:ea typeface="Arial" charset="0"/>
                        <a:cs typeface="Arial" charset="0"/>
                      </a:endParaRPr>
                    </a:p>
                  </a:txBody>
                  <a:tcPr marL="76200" marR="76200" marT="38100" marB="38100" anchor="ctr">
                    <a:lnL w="6350" cap="flat" cmpd="sng" algn="ctr">
                      <a:solidFill>
                        <a:srgbClr val="9FA8C7"/>
                      </a:solidFill>
                      <a:prstDash val="solid"/>
                      <a:round/>
                      <a:headEnd type="none" w="med" len="med"/>
                      <a:tailEnd type="none" w="med" len="med"/>
                    </a:lnL>
                    <a:lnR w="6350" cap="flat" cmpd="sng" algn="ctr">
                      <a:solidFill>
                        <a:srgbClr val="9FA8C7"/>
                      </a:solidFill>
                      <a:prstDash val="solid"/>
                      <a:round/>
                      <a:headEnd type="none" w="med" len="med"/>
                      <a:tailEnd type="none" w="med" len="med"/>
                    </a:lnR>
                    <a:lnT w="6350" cap="flat" cmpd="sng" algn="ctr">
                      <a:solidFill>
                        <a:srgbClr val="9FA8C7"/>
                      </a:solidFill>
                      <a:prstDash val="solid"/>
                      <a:round/>
                      <a:headEnd type="none" w="med" len="med"/>
                      <a:tailEnd type="none" w="med" len="med"/>
                    </a:lnT>
                    <a:lnB w="6350" cap="flat" cmpd="sng" algn="ctr">
                      <a:solidFill>
                        <a:srgbClr val="9FA8C7"/>
                      </a:solidFill>
                      <a:prstDash val="solid"/>
                      <a:round/>
                      <a:headEnd type="none" w="med" len="med"/>
                      <a:tailEnd type="none" w="med" len="med"/>
                    </a:lnB>
                    <a:solidFill>
                      <a:srgbClr val="E8EAF6"/>
                    </a:solidFill>
                  </a:tcPr>
                </a:tc>
                <a:tc>
                  <a:txBody>
                    <a:bodyPr/>
                    <a:lstStyle/>
                    <a:p>
                      <a:pPr marL="0" indent="0" algn="ctr">
                        <a:buNone/>
                      </a:pPr>
                      <a:r>
                        <a:rPr lang="en-US" sz="1200" dirty="0">
                          <a:solidFill>
                            <a:srgbClr val="000000"/>
                          </a:solidFill>
                          <a:latin typeface="Arial" pitchFamily="34" charset="0"/>
                          <a:ea typeface="Arial" pitchFamily="34" charset="-122"/>
                          <a:cs typeface="Arial" pitchFamily="34" charset="-120"/>
                        </a:rPr>
                        <a:t>Needs SMOTE or pruning</a:t>
                      </a:r>
                      <a:endParaRPr lang="en-US" sz="1200" dirty="0">
                        <a:latin typeface="Arial" charset="0"/>
                        <a:ea typeface="Arial" charset="0"/>
                        <a:cs typeface="Arial" charset="0"/>
                      </a:endParaRPr>
                    </a:p>
                  </a:txBody>
                  <a:tcPr marL="76200" marR="76200" marT="38100" marB="38100" anchor="ctr">
                    <a:lnL w="6350" cap="flat" cmpd="sng" algn="ctr">
                      <a:solidFill>
                        <a:srgbClr val="9FA8C7"/>
                      </a:solidFill>
                      <a:prstDash val="solid"/>
                      <a:round/>
                      <a:headEnd type="none" w="med" len="med"/>
                      <a:tailEnd type="none" w="med" len="med"/>
                    </a:lnL>
                    <a:lnR w="6350" cap="flat" cmpd="sng" algn="ctr">
                      <a:solidFill>
                        <a:srgbClr val="9FA8C7"/>
                      </a:solidFill>
                      <a:prstDash val="solid"/>
                      <a:round/>
                      <a:headEnd type="none" w="med" len="med"/>
                      <a:tailEnd type="none" w="med" len="med"/>
                    </a:lnR>
                    <a:lnT w="6350" cap="flat" cmpd="sng" algn="ctr">
                      <a:solidFill>
                        <a:srgbClr val="9FA8C7"/>
                      </a:solidFill>
                      <a:prstDash val="solid"/>
                      <a:round/>
                      <a:headEnd type="none" w="med" len="med"/>
                      <a:tailEnd type="none" w="med" len="med"/>
                    </a:lnT>
                    <a:lnB w="6350" cap="flat" cmpd="sng" algn="ctr">
                      <a:solidFill>
                        <a:srgbClr val="9FA8C7"/>
                      </a:solidFill>
                      <a:prstDash val="solid"/>
                      <a:round/>
                      <a:headEnd type="none" w="med" len="med"/>
                      <a:tailEnd type="none" w="med" len="med"/>
                    </a:lnB>
                    <a:solidFill>
                      <a:srgbClr val="E8EAF6"/>
                    </a:solidFill>
                  </a:tcPr>
                </a:tc>
                <a:tc>
                  <a:txBody>
                    <a:bodyPr/>
                    <a:lstStyle/>
                    <a:p>
                      <a:pPr marL="0" indent="0" algn="ctr">
                        <a:buNone/>
                      </a:pPr>
                      <a:r>
                        <a:rPr lang="en-US" sz="1200" dirty="0">
                          <a:solidFill>
                            <a:srgbClr val="000000"/>
                          </a:solidFill>
                          <a:latin typeface="Arial" pitchFamily="34" charset="0"/>
                          <a:ea typeface="Arial" pitchFamily="34" charset="-122"/>
                          <a:cs typeface="Arial" pitchFamily="34" charset="-120"/>
                        </a:rPr>
                        <a:t>Copes better; SMOTE still helps</a:t>
                      </a:r>
                      <a:endParaRPr lang="en-US" sz="1200" dirty="0">
                        <a:latin typeface="Arial" charset="0"/>
                        <a:ea typeface="Arial" charset="0"/>
                        <a:cs typeface="Arial" charset="0"/>
                      </a:endParaRPr>
                    </a:p>
                  </a:txBody>
                  <a:tcPr marL="76200" marR="76200" marT="38100" marB="38100" anchor="ctr">
                    <a:lnL w="6350" cap="flat" cmpd="sng" algn="ctr">
                      <a:solidFill>
                        <a:srgbClr val="9FA8C7"/>
                      </a:solidFill>
                      <a:prstDash val="solid"/>
                      <a:round/>
                      <a:headEnd type="none" w="med" len="med"/>
                      <a:tailEnd type="none" w="med" len="med"/>
                    </a:lnL>
                    <a:lnR w="6350" cap="flat" cmpd="sng" algn="ctr">
                      <a:solidFill>
                        <a:srgbClr val="9FA8C7"/>
                      </a:solidFill>
                      <a:prstDash val="solid"/>
                      <a:round/>
                      <a:headEnd type="none" w="med" len="med"/>
                      <a:tailEnd type="none" w="med" len="med"/>
                    </a:lnR>
                    <a:lnT w="6350" cap="flat" cmpd="sng" algn="ctr">
                      <a:solidFill>
                        <a:srgbClr val="9FA8C7"/>
                      </a:solidFill>
                      <a:prstDash val="solid"/>
                      <a:round/>
                      <a:headEnd type="none" w="med" len="med"/>
                      <a:tailEnd type="none" w="med" len="med"/>
                    </a:lnT>
                    <a:lnB w="6350" cap="flat" cmpd="sng" algn="ctr">
                      <a:solidFill>
                        <a:srgbClr val="9FA8C7"/>
                      </a:solidFill>
                      <a:prstDash val="solid"/>
                      <a:round/>
                      <a:headEnd type="none" w="med" len="med"/>
                      <a:tailEnd type="none" w="med" len="med"/>
                    </a:lnB>
                    <a:solidFill>
                      <a:srgbClr val="E8EAF6"/>
                    </a:solidFill>
                  </a:tcPr>
                </a:tc>
                <a:extLst>
                  <a:ext uri="{0D108BD9-81ED-4DB2-BD59-A6C34878D82A}">
                    <a16:rowId xmlns:a16="http://schemas.microsoft.com/office/drawing/2014/main" val="10005"/>
                  </a:ext>
                </a:extLst>
              </a:tr>
              <a:tr h="402336">
                <a:tc>
                  <a:txBody>
                    <a:bodyPr/>
                    <a:lstStyle/>
                    <a:p>
                      <a:pPr marL="0" indent="0" algn="l">
                        <a:buNone/>
                      </a:pPr>
                      <a:r>
                        <a:rPr lang="en-US" sz="1200" b="1" dirty="0">
                          <a:solidFill>
                            <a:srgbClr val="000000"/>
                          </a:solidFill>
                          <a:latin typeface="Arial" pitchFamily="34" charset="0"/>
                          <a:ea typeface="Arial" pitchFamily="34" charset="-122"/>
                          <a:cs typeface="Arial" pitchFamily="34" charset="-120"/>
                        </a:rPr>
                        <a:t>Speed</a:t>
                      </a:r>
                      <a:endParaRPr lang="en-US" sz="1200" dirty="0">
                        <a:latin typeface="Arial" charset="0"/>
                        <a:ea typeface="Arial" charset="0"/>
                        <a:cs typeface="Arial" charset="0"/>
                      </a:endParaRPr>
                    </a:p>
                  </a:txBody>
                  <a:tcPr marL="76200" marR="76200" marT="38100" marB="38100" anchor="ctr">
                    <a:lnL w="6350" cap="flat" cmpd="sng" algn="ctr">
                      <a:solidFill>
                        <a:srgbClr val="9FA8C7"/>
                      </a:solidFill>
                      <a:prstDash val="solid"/>
                      <a:round/>
                      <a:headEnd type="none" w="med" len="med"/>
                      <a:tailEnd type="none" w="med" len="med"/>
                    </a:lnL>
                    <a:lnR w="6350" cap="flat" cmpd="sng" algn="ctr">
                      <a:solidFill>
                        <a:srgbClr val="9FA8C7"/>
                      </a:solidFill>
                      <a:prstDash val="solid"/>
                      <a:round/>
                      <a:headEnd type="none" w="med" len="med"/>
                      <a:tailEnd type="none" w="med" len="med"/>
                    </a:lnR>
                    <a:lnT w="6350" cap="flat" cmpd="sng" algn="ctr">
                      <a:solidFill>
                        <a:srgbClr val="9FA8C7"/>
                      </a:solidFill>
                      <a:prstDash val="solid"/>
                      <a:round/>
                      <a:headEnd type="none" w="med" len="med"/>
                      <a:tailEnd type="none" w="med" len="med"/>
                    </a:lnT>
                    <a:lnB w="6350" cap="flat" cmpd="sng" algn="ctr">
                      <a:solidFill>
                        <a:srgbClr val="9FA8C7"/>
                      </a:solidFill>
                      <a:prstDash val="solid"/>
                      <a:round/>
                      <a:headEnd type="none" w="med" len="med"/>
                      <a:tailEnd type="none" w="med" len="med"/>
                    </a:lnB>
                    <a:solidFill>
                      <a:srgbClr val="FFFFFF"/>
                    </a:solidFill>
                  </a:tcPr>
                </a:tc>
                <a:tc>
                  <a:txBody>
                    <a:bodyPr/>
                    <a:lstStyle/>
                    <a:p>
                      <a:pPr marL="0" indent="0" algn="ctr">
                        <a:buNone/>
                      </a:pPr>
                      <a:r>
                        <a:rPr lang="en-US" sz="1200" dirty="0">
                          <a:solidFill>
                            <a:srgbClr val="000000"/>
                          </a:solidFill>
                          <a:latin typeface="Arial" pitchFamily="34" charset="0"/>
                          <a:ea typeface="Arial" pitchFamily="34" charset="-122"/>
                          <a:cs typeface="Arial" pitchFamily="34" charset="-120"/>
                        </a:rPr>
                        <a:t>Fastest</a:t>
                      </a:r>
                      <a:endParaRPr lang="en-US" sz="1200" dirty="0">
                        <a:latin typeface="Arial" charset="0"/>
                        <a:ea typeface="Arial" charset="0"/>
                        <a:cs typeface="Arial" charset="0"/>
                      </a:endParaRPr>
                    </a:p>
                  </a:txBody>
                  <a:tcPr marL="76200" marR="76200" marT="38100" marB="38100" anchor="ctr">
                    <a:lnL w="6350" cap="flat" cmpd="sng" algn="ctr">
                      <a:solidFill>
                        <a:srgbClr val="9FA8C7"/>
                      </a:solidFill>
                      <a:prstDash val="solid"/>
                      <a:round/>
                      <a:headEnd type="none" w="med" len="med"/>
                      <a:tailEnd type="none" w="med" len="med"/>
                    </a:lnL>
                    <a:lnR w="6350" cap="flat" cmpd="sng" algn="ctr">
                      <a:solidFill>
                        <a:srgbClr val="9FA8C7"/>
                      </a:solidFill>
                      <a:prstDash val="solid"/>
                      <a:round/>
                      <a:headEnd type="none" w="med" len="med"/>
                      <a:tailEnd type="none" w="med" len="med"/>
                    </a:lnR>
                    <a:lnT w="6350" cap="flat" cmpd="sng" algn="ctr">
                      <a:solidFill>
                        <a:srgbClr val="9FA8C7"/>
                      </a:solidFill>
                      <a:prstDash val="solid"/>
                      <a:round/>
                      <a:headEnd type="none" w="med" len="med"/>
                      <a:tailEnd type="none" w="med" len="med"/>
                    </a:lnT>
                    <a:lnB w="6350" cap="flat" cmpd="sng" algn="ctr">
                      <a:solidFill>
                        <a:srgbClr val="9FA8C7"/>
                      </a:solidFill>
                      <a:prstDash val="solid"/>
                      <a:round/>
                      <a:headEnd type="none" w="med" len="med"/>
                      <a:tailEnd type="none" w="med" len="med"/>
                    </a:lnB>
                    <a:solidFill>
                      <a:srgbClr val="FFFFFF"/>
                    </a:solidFill>
                  </a:tcPr>
                </a:tc>
                <a:tc>
                  <a:txBody>
                    <a:bodyPr/>
                    <a:lstStyle/>
                    <a:p>
                      <a:pPr marL="0" indent="0" algn="ctr">
                        <a:buNone/>
                      </a:pPr>
                      <a:r>
                        <a:rPr lang="en-US" sz="1200" dirty="0">
                          <a:solidFill>
                            <a:srgbClr val="000000"/>
                          </a:solidFill>
                          <a:latin typeface="Arial" pitchFamily="34" charset="0"/>
                          <a:ea typeface="Arial" pitchFamily="34" charset="-122"/>
                          <a:cs typeface="Arial" pitchFamily="34" charset="-120"/>
                        </a:rPr>
                        <a:t>Fast</a:t>
                      </a:r>
                      <a:endParaRPr lang="en-US" sz="1200" dirty="0">
                        <a:latin typeface="Arial" charset="0"/>
                        <a:ea typeface="Arial" charset="0"/>
                        <a:cs typeface="Arial" charset="0"/>
                      </a:endParaRPr>
                    </a:p>
                  </a:txBody>
                  <a:tcPr marL="76200" marR="76200" marT="38100" marB="38100" anchor="ctr">
                    <a:lnL w="6350" cap="flat" cmpd="sng" algn="ctr">
                      <a:solidFill>
                        <a:srgbClr val="9FA8C7"/>
                      </a:solidFill>
                      <a:prstDash val="solid"/>
                      <a:round/>
                      <a:headEnd type="none" w="med" len="med"/>
                      <a:tailEnd type="none" w="med" len="med"/>
                    </a:lnL>
                    <a:lnR w="6350" cap="flat" cmpd="sng" algn="ctr">
                      <a:solidFill>
                        <a:srgbClr val="9FA8C7"/>
                      </a:solidFill>
                      <a:prstDash val="solid"/>
                      <a:round/>
                      <a:headEnd type="none" w="med" len="med"/>
                      <a:tailEnd type="none" w="med" len="med"/>
                    </a:lnR>
                    <a:lnT w="6350" cap="flat" cmpd="sng" algn="ctr">
                      <a:solidFill>
                        <a:srgbClr val="9FA8C7"/>
                      </a:solidFill>
                      <a:prstDash val="solid"/>
                      <a:round/>
                      <a:headEnd type="none" w="med" len="med"/>
                      <a:tailEnd type="none" w="med" len="med"/>
                    </a:lnT>
                    <a:lnB w="6350" cap="flat" cmpd="sng" algn="ctr">
                      <a:solidFill>
                        <a:srgbClr val="9FA8C7"/>
                      </a:solidFill>
                      <a:prstDash val="solid"/>
                      <a:round/>
                      <a:headEnd type="none" w="med" len="med"/>
                      <a:tailEnd type="none" w="med" len="med"/>
                    </a:lnB>
                    <a:solidFill>
                      <a:srgbClr val="FFFFFF"/>
                    </a:solidFill>
                  </a:tcPr>
                </a:tc>
                <a:tc>
                  <a:txBody>
                    <a:bodyPr/>
                    <a:lstStyle/>
                    <a:p>
                      <a:pPr marL="0" indent="0" algn="ctr">
                        <a:buNone/>
                      </a:pPr>
                      <a:r>
                        <a:rPr lang="en-US" sz="1200" dirty="0">
                          <a:solidFill>
                            <a:srgbClr val="000000"/>
                          </a:solidFill>
                          <a:latin typeface="Arial" pitchFamily="34" charset="0"/>
                          <a:ea typeface="Arial" pitchFamily="34" charset="-122"/>
                          <a:cs typeface="Arial" pitchFamily="34" charset="-120"/>
                        </a:rPr>
                        <a:t>Slower</a:t>
                      </a:r>
                      <a:endParaRPr lang="en-US" sz="1200" dirty="0">
                        <a:latin typeface="Arial" charset="0"/>
                        <a:ea typeface="Arial" charset="0"/>
                        <a:cs typeface="Arial" charset="0"/>
                      </a:endParaRPr>
                    </a:p>
                  </a:txBody>
                  <a:tcPr marL="76200" marR="76200" marT="38100" marB="38100" anchor="ctr">
                    <a:lnL w="6350" cap="flat" cmpd="sng" algn="ctr">
                      <a:solidFill>
                        <a:srgbClr val="9FA8C7"/>
                      </a:solidFill>
                      <a:prstDash val="solid"/>
                      <a:round/>
                      <a:headEnd type="none" w="med" len="med"/>
                      <a:tailEnd type="none" w="med" len="med"/>
                    </a:lnL>
                    <a:lnR w="6350" cap="flat" cmpd="sng" algn="ctr">
                      <a:solidFill>
                        <a:srgbClr val="9FA8C7"/>
                      </a:solidFill>
                      <a:prstDash val="solid"/>
                      <a:round/>
                      <a:headEnd type="none" w="med" len="med"/>
                      <a:tailEnd type="none" w="med" len="med"/>
                    </a:lnR>
                    <a:lnT w="6350" cap="flat" cmpd="sng" algn="ctr">
                      <a:solidFill>
                        <a:srgbClr val="9FA8C7"/>
                      </a:solidFill>
                      <a:prstDash val="solid"/>
                      <a:round/>
                      <a:headEnd type="none" w="med" len="med"/>
                      <a:tailEnd type="none" w="med" len="med"/>
                    </a:lnT>
                    <a:lnB w="6350" cap="flat" cmpd="sng" algn="ctr">
                      <a:solidFill>
                        <a:srgbClr val="9FA8C7"/>
                      </a:solidFill>
                      <a:prstDash val="solid"/>
                      <a:round/>
                      <a:headEnd type="none" w="med" len="med"/>
                      <a:tailEnd type="none" w="med" len="med"/>
                    </a:lnB>
                    <a:solidFill>
                      <a:srgbClr val="FFFFFF"/>
                    </a:solidFill>
                  </a:tcPr>
                </a:tc>
                <a:extLst>
                  <a:ext uri="{0D108BD9-81ED-4DB2-BD59-A6C34878D82A}">
                    <a16:rowId xmlns:a16="http://schemas.microsoft.com/office/drawing/2014/main" val="10006"/>
                  </a:ext>
                </a:extLst>
              </a:tr>
              <a:tr h="402336">
                <a:tc>
                  <a:txBody>
                    <a:bodyPr/>
                    <a:lstStyle/>
                    <a:p>
                      <a:pPr marL="0" indent="0" algn="l">
                        <a:buNone/>
                      </a:pPr>
                      <a:r>
                        <a:rPr lang="en-US" sz="1200" b="1" dirty="0">
                          <a:solidFill>
                            <a:srgbClr val="000000"/>
                          </a:solidFill>
                          <a:latin typeface="Arial" pitchFamily="34" charset="0"/>
                          <a:ea typeface="Arial" pitchFamily="34" charset="-122"/>
                          <a:cs typeface="Arial" pitchFamily="34" charset="-120"/>
                        </a:rPr>
                        <a:t>Role in our project</a:t>
                      </a:r>
                      <a:endParaRPr lang="en-US" sz="1200" dirty="0">
                        <a:latin typeface="Arial" charset="0"/>
                        <a:ea typeface="Arial" charset="0"/>
                        <a:cs typeface="Arial" charset="0"/>
                      </a:endParaRPr>
                    </a:p>
                  </a:txBody>
                  <a:tcPr marL="76200" marR="76200" marT="38100" marB="38100" anchor="ctr">
                    <a:lnL w="6350" cap="flat" cmpd="sng" algn="ctr">
                      <a:solidFill>
                        <a:srgbClr val="9FA8C7"/>
                      </a:solidFill>
                      <a:prstDash val="solid"/>
                      <a:round/>
                      <a:headEnd type="none" w="med" len="med"/>
                      <a:tailEnd type="none" w="med" len="med"/>
                    </a:lnL>
                    <a:lnR w="6350" cap="flat" cmpd="sng" algn="ctr">
                      <a:solidFill>
                        <a:srgbClr val="9FA8C7"/>
                      </a:solidFill>
                      <a:prstDash val="solid"/>
                      <a:round/>
                      <a:headEnd type="none" w="med" len="med"/>
                      <a:tailEnd type="none" w="med" len="med"/>
                    </a:lnR>
                    <a:lnT w="6350" cap="flat" cmpd="sng" algn="ctr">
                      <a:solidFill>
                        <a:srgbClr val="9FA8C7"/>
                      </a:solidFill>
                      <a:prstDash val="solid"/>
                      <a:round/>
                      <a:headEnd type="none" w="med" len="med"/>
                      <a:tailEnd type="none" w="med" len="med"/>
                    </a:lnT>
                    <a:lnB w="6350" cap="flat" cmpd="sng" algn="ctr">
                      <a:solidFill>
                        <a:srgbClr val="9FA8C7"/>
                      </a:solidFill>
                      <a:prstDash val="solid"/>
                      <a:round/>
                      <a:headEnd type="none" w="med" len="med"/>
                      <a:tailEnd type="none" w="med" len="med"/>
                    </a:lnB>
                    <a:solidFill>
                      <a:srgbClr val="E8EAF6"/>
                    </a:solidFill>
                  </a:tcPr>
                </a:tc>
                <a:tc>
                  <a:txBody>
                    <a:bodyPr/>
                    <a:lstStyle/>
                    <a:p>
                      <a:pPr marL="0" indent="0" algn="ctr">
                        <a:buNone/>
                      </a:pPr>
                      <a:r>
                        <a:rPr lang="en-US" sz="1200" dirty="0">
                          <a:solidFill>
                            <a:srgbClr val="000000"/>
                          </a:solidFill>
                          <a:latin typeface="Arial" pitchFamily="34" charset="0"/>
                          <a:ea typeface="Arial" pitchFamily="34" charset="-122"/>
                          <a:cs typeface="Arial" pitchFamily="34" charset="-120"/>
                        </a:rPr>
                        <a:t>Baseline model</a:t>
                      </a:r>
                      <a:endParaRPr lang="en-US" sz="1200" dirty="0">
                        <a:latin typeface="Arial" charset="0"/>
                        <a:ea typeface="Arial" charset="0"/>
                        <a:cs typeface="Arial" charset="0"/>
                      </a:endParaRPr>
                    </a:p>
                  </a:txBody>
                  <a:tcPr marL="76200" marR="76200" marT="38100" marB="38100" anchor="ctr">
                    <a:lnL w="6350" cap="flat" cmpd="sng" algn="ctr">
                      <a:solidFill>
                        <a:srgbClr val="9FA8C7"/>
                      </a:solidFill>
                      <a:prstDash val="solid"/>
                      <a:round/>
                      <a:headEnd type="none" w="med" len="med"/>
                      <a:tailEnd type="none" w="med" len="med"/>
                    </a:lnL>
                    <a:lnR w="6350" cap="flat" cmpd="sng" algn="ctr">
                      <a:solidFill>
                        <a:srgbClr val="9FA8C7"/>
                      </a:solidFill>
                      <a:prstDash val="solid"/>
                      <a:round/>
                      <a:headEnd type="none" w="med" len="med"/>
                      <a:tailEnd type="none" w="med" len="med"/>
                    </a:lnR>
                    <a:lnT w="6350" cap="flat" cmpd="sng" algn="ctr">
                      <a:solidFill>
                        <a:srgbClr val="9FA8C7"/>
                      </a:solidFill>
                      <a:prstDash val="solid"/>
                      <a:round/>
                      <a:headEnd type="none" w="med" len="med"/>
                      <a:tailEnd type="none" w="med" len="med"/>
                    </a:lnT>
                    <a:lnB w="6350" cap="flat" cmpd="sng" algn="ctr">
                      <a:solidFill>
                        <a:srgbClr val="9FA8C7"/>
                      </a:solidFill>
                      <a:prstDash val="solid"/>
                      <a:round/>
                      <a:headEnd type="none" w="med" len="med"/>
                      <a:tailEnd type="none" w="med" len="med"/>
                    </a:lnB>
                    <a:solidFill>
                      <a:srgbClr val="E8EAF6"/>
                    </a:solidFill>
                  </a:tcPr>
                </a:tc>
                <a:tc>
                  <a:txBody>
                    <a:bodyPr/>
                    <a:lstStyle/>
                    <a:p>
                      <a:pPr marL="0" indent="0" algn="ctr">
                        <a:buNone/>
                      </a:pPr>
                      <a:r>
                        <a:rPr lang="en-US" sz="1200" dirty="0">
                          <a:solidFill>
                            <a:srgbClr val="000000"/>
                          </a:solidFill>
                          <a:latin typeface="Arial" pitchFamily="34" charset="0"/>
                          <a:ea typeface="Arial" pitchFamily="34" charset="-122"/>
                          <a:cs typeface="Arial" pitchFamily="34" charset="-120"/>
                        </a:rPr>
                        <a:t>Easy-to-explain model</a:t>
                      </a:r>
                      <a:endParaRPr lang="en-US" sz="1200" dirty="0">
                        <a:latin typeface="Arial" charset="0"/>
                        <a:ea typeface="Arial" charset="0"/>
                        <a:cs typeface="Arial" charset="0"/>
                      </a:endParaRPr>
                    </a:p>
                  </a:txBody>
                  <a:tcPr marL="76200" marR="76200" marT="38100" marB="38100" anchor="ctr">
                    <a:lnL w="6350" cap="flat" cmpd="sng" algn="ctr">
                      <a:solidFill>
                        <a:srgbClr val="9FA8C7"/>
                      </a:solidFill>
                      <a:prstDash val="solid"/>
                      <a:round/>
                      <a:headEnd type="none" w="med" len="med"/>
                      <a:tailEnd type="none" w="med" len="med"/>
                    </a:lnL>
                    <a:lnR w="6350" cap="flat" cmpd="sng" algn="ctr">
                      <a:solidFill>
                        <a:srgbClr val="9FA8C7"/>
                      </a:solidFill>
                      <a:prstDash val="solid"/>
                      <a:round/>
                      <a:headEnd type="none" w="med" len="med"/>
                      <a:tailEnd type="none" w="med" len="med"/>
                    </a:lnR>
                    <a:lnT w="6350" cap="flat" cmpd="sng" algn="ctr">
                      <a:solidFill>
                        <a:srgbClr val="9FA8C7"/>
                      </a:solidFill>
                      <a:prstDash val="solid"/>
                      <a:round/>
                      <a:headEnd type="none" w="med" len="med"/>
                      <a:tailEnd type="none" w="med" len="med"/>
                    </a:lnT>
                    <a:lnB w="6350" cap="flat" cmpd="sng" algn="ctr">
                      <a:solidFill>
                        <a:srgbClr val="9FA8C7"/>
                      </a:solidFill>
                      <a:prstDash val="solid"/>
                      <a:round/>
                      <a:headEnd type="none" w="med" len="med"/>
                      <a:tailEnd type="none" w="med" len="med"/>
                    </a:lnB>
                    <a:solidFill>
                      <a:srgbClr val="E8EAF6"/>
                    </a:solidFill>
                  </a:tcPr>
                </a:tc>
                <a:tc>
                  <a:txBody>
                    <a:bodyPr/>
                    <a:lstStyle/>
                    <a:p>
                      <a:pPr marL="0" indent="0" algn="ctr">
                        <a:buNone/>
                      </a:pPr>
                      <a:r>
                        <a:rPr lang="en-US" sz="1200" dirty="0">
                          <a:solidFill>
                            <a:srgbClr val="000000"/>
                          </a:solidFill>
                          <a:latin typeface="Arial" pitchFamily="34" charset="0"/>
                          <a:ea typeface="Arial" pitchFamily="34" charset="-122"/>
                          <a:cs typeface="Arial" pitchFamily="34" charset="-120"/>
                        </a:rPr>
                        <a:t>Stronger comparison model</a:t>
                      </a:r>
                      <a:endParaRPr lang="en-US" sz="1200" dirty="0">
                        <a:latin typeface="Arial" charset="0"/>
                        <a:ea typeface="Arial" charset="0"/>
                        <a:cs typeface="Arial" charset="0"/>
                      </a:endParaRPr>
                    </a:p>
                  </a:txBody>
                  <a:tcPr marL="76200" marR="76200" marT="38100" marB="38100" anchor="ctr">
                    <a:lnL w="6350" cap="flat" cmpd="sng" algn="ctr">
                      <a:solidFill>
                        <a:srgbClr val="9FA8C7"/>
                      </a:solidFill>
                      <a:prstDash val="solid"/>
                      <a:round/>
                      <a:headEnd type="none" w="med" len="med"/>
                      <a:tailEnd type="none" w="med" len="med"/>
                    </a:lnL>
                    <a:lnR w="6350" cap="flat" cmpd="sng" algn="ctr">
                      <a:solidFill>
                        <a:srgbClr val="9FA8C7"/>
                      </a:solidFill>
                      <a:prstDash val="solid"/>
                      <a:round/>
                      <a:headEnd type="none" w="med" len="med"/>
                      <a:tailEnd type="none" w="med" len="med"/>
                    </a:lnR>
                    <a:lnT w="6350" cap="flat" cmpd="sng" algn="ctr">
                      <a:solidFill>
                        <a:srgbClr val="9FA8C7"/>
                      </a:solidFill>
                      <a:prstDash val="solid"/>
                      <a:round/>
                      <a:headEnd type="none" w="med" len="med"/>
                      <a:tailEnd type="none" w="med" len="med"/>
                    </a:lnT>
                    <a:lnB w="6350" cap="flat" cmpd="sng" algn="ctr">
                      <a:solidFill>
                        <a:srgbClr val="9FA8C7"/>
                      </a:solidFill>
                      <a:prstDash val="solid"/>
                      <a:round/>
                      <a:headEnd type="none" w="med" len="med"/>
                      <a:tailEnd type="none" w="med" len="med"/>
                    </a:lnB>
                    <a:solidFill>
                      <a:srgbClr val="E8EAF6"/>
                    </a:solidFill>
                  </a:tcPr>
                </a:tc>
                <a:extLst>
                  <a:ext uri="{0D108BD9-81ED-4DB2-BD59-A6C34878D82A}">
                    <a16:rowId xmlns:a16="http://schemas.microsoft.com/office/drawing/2014/main" val="10007"/>
                  </a:ext>
                </a:extLst>
              </a:tr>
            </a:tbl>
          </a:graphicData>
        </a:graphic>
      </p:graphicFrame>
      <p:sp>
        <p:nvSpPr>
          <p:cNvPr id="4" name="Text 1"/>
          <p:cNvSpPr txBox="1"/>
          <p:nvPr/>
        </p:nvSpPr>
        <p:spPr>
          <a:xfrm>
            <a:off x="388620" y="4343400"/>
            <a:ext cx="8366760" cy="457200"/>
          </a:xfrm>
          <a:prstGeom prst="rect">
            <a:avLst/>
          </a:prstGeom>
          <a:noFill/>
          <a:ln/>
        </p:spPr>
        <p:txBody>
          <a:bodyPr wrap="square" lIns="0" tIns="0" rIns="0" bIns="0" rtlCol="0" anchor="ctr"/>
          <a:lstStyle/>
          <a:p>
            <a:pPr marL="0" indent="0">
              <a:buNone/>
            </a:pPr>
            <a:r>
              <a:rPr lang="en-US" sz="1300" i="1" dirty="0">
                <a:solidFill>
                  <a:srgbClr val="000000"/>
                </a:solidFill>
                <a:latin typeface="Arial" pitchFamily="34" charset="0"/>
                <a:ea typeface="Arial" pitchFamily="34" charset="-122"/>
                <a:cs typeface="Arial" pitchFamily="34" charset="-120"/>
              </a:rPr>
              <a:t>Literature (Jiang, 2025) reports Random Forest strongest in recall on this dataset; we verify this on our own split.</a:t>
            </a:r>
            <a:endParaRPr lang="en-US" sz="13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a:spLocks noGrp="1"/>
          </p:cNvSpPr>
          <p:nvPr>
            <p:ph type="title" idx="102" hasCustomPrompt="1"/>
          </p:nvPr>
        </p:nvSpPr>
        <p:spPr>
          <a:xfrm>
            <a:off x="868680" y="109728"/>
            <a:ext cx="7406640" cy="548640"/>
          </a:xfrm>
          <a:prstGeom prst="rect">
            <a:avLst/>
          </a:prstGeom>
          <a:noFill/>
          <a:ln/>
        </p:spPr>
        <p:txBody>
          <a:bodyPr wrap="square" lIns="0" tIns="0" rIns="0" bIns="0" rtlCol="0" anchor="ctr"/>
          <a:lstStyle/>
          <a:p>
            <a:pPr marL="0" indent="0" algn="ctr">
              <a:buNone/>
            </a:pPr>
            <a:r>
              <a:rPr lang="en-US" sz="2400" b="1" dirty="0">
                <a:solidFill>
                  <a:srgbClr val="FF0000"/>
                </a:solidFill>
                <a:latin typeface="Arial" pitchFamily="34" charset="0"/>
                <a:ea typeface="Arial" pitchFamily="34" charset="-122"/>
                <a:cs typeface="Arial" pitchFamily="34" charset="-120"/>
              </a:rPr>
              <a:t>IMPLEMENTATION IDEA</a:t>
            </a:r>
            <a:endParaRPr lang="en-US" sz="2400" dirty="0"/>
          </a:p>
        </p:txBody>
      </p:sp>
      <p:sp>
        <p:nvSpPr>
          <p:cNvPr id="3" name="Shape 1"/>
          <p:cNvSpPr/>
          <p:nvPr/>
        </p:nvSpPr>
        <p:spPr>
          <a:xfrm>
            <a:off x="388620" y="914400"/>
            <a:ext cx="5257800" cy="658368"/>
          </a:xfrm>
          <a:prstGeom prst="roundRect">
            <a:avLst>
              <a:gd name="adj" fmla="val 11111"/>
            </a:avLst>
          </a:prstGeom>
          <a:solidFill>
            <a:srgbClr val="E8EAF6"/>
          </a:solidFill>
          <a:ln w="12700">
            <a:solidFill>
              <a:srgbClr val="E8EAF6"/>
            </a:solidFill>
            <a:prstDash val="solid"/>
          </a:ln>
        </p:spPr>
      </p:sp>
      <p:sp>
        <p:nvSpPr>
          <p:cNvPr id="4" name="Shape 2"/>
          <p:cNvSpPr/>
          <p:nvPr/>
        </p:nvSpPr>
        <p:spPr>
          <a:xfrm>
            <a:off x="502920" y="1042416"/>
            <a:ext cx="402336" cy="402336"/>
          </a:xfrm>
          <a:prstGeom prst="ellipse">
            <a:avLst/>
          </a:prstGeom>
          <a:solidFill>
            <a:srgbClr val="1F3864"/>
          </a:solidFill>
          <a:ln w="12700">
            <a:solidFill>
              <a:srgbClr val="FFFFFF"/>
            </a:solidFill>
            <a:prstDash val="solid"/>
          </a:ln>
        </p:spPr>
      </p:sp>
      <p:sp>
        <p:nvSpPr>
          <p:cNvPr id="5" name="Text 3"/>
          <p:cNvSpPr txBox="1"/>
          <p:nvPr/>
        </p:nvSpPr>
        <p:spPr>
          <a:xfrm>
            <a:off x="502920" y="1042416"/>
            <a:ext cx="402336" cy="402336"/>
          </a:xfrm>
          <a:prstGeom prst="rect">
            <a:avLst/>
          </a:prstGeom>
          <a:noFill/>
          <a:ln/>
        </p:spPr>
        <p:txBody>
          <a:bodyPr wrap="square" lIns="0" tIns="0" rIns="0" bIns="0" rtlCol="0" anchor="ctr"/>
          <a:lstStyle/>
          <a:p>
            <a:pPr marL="0" indent="0" algn="ctr">
              <a:buNone/>
            </a:pPr>
            <a:r>
              <a:rPr lang="en-US" sz="1400" b="1" dirty="0">
                <a:solidFill>
                  <a:srgbClr val="FFFFFF"/>
                </a:solidFill>
                <a:latin typeface="Arial" pitchFamily="34" charset="0"/>
                <a:ea typeface="Arial" pitchFamily="34" charset="-122"/>
                <a:cs typeface="Arial" pitchFamily="34" charset="-120"/>
              </a:rPr>
              <a:t>1</a:t>
            </a:r>
            <a:endParaRPr lang="en-US" sz="1400" dirty="0"/>
          </a:p>
        </p:txBody>
      </p:sp>
      <p:sp>
        <p:nvSpPr>
          <p:cNvPr id="6" name="Text 4"/>
          <p:cNvSpPr txBox="1"/>
          <p:nvPr/>
        </p:nvSpPr>
        <p:spPr>
          <a:xfrm>
            <a:off x="1005840" y="914400"/>
            <a:ext cx="4526280" cy="658368"/>
          </a:xfrm>
          <a:prstGeom prst="rect">
            <a:avLst/>
          </a:prstGeom>
          <a:noFill/>
          <a:ln/>
        </p:spPr>
        <p:txBody>
          <a:bodyPr wrap="square" lIns="0" tIns="0" rIns="0" bIns="0" rtlCol="0" anchor="ctr"/>
          <a:lstStyle/>
          <a:p>
            <a:pPr marL="0" indent="0">
              <a:buNone/>
            </a:pPr>
            <a:r>
              <a:rPr lang="en-US" sz="1300" dirty="0">
                <a:solidFill>
                  <a:srgbClr val="000000"/>
                </a:solidFill>
                <a:latin typeface="Arial" pitchFamily="34" charset="0"/>
                <a:ea typeface="Arial" pitchFamily="34" charset="-122"/>
                <a:cs typeface="Arial" pitchFamily="34" charset="-120"/>
              </a:rPr>
              <a:t>Load the UCI Online Shoppers dataset into pandas.</a:t>
            </a:r>
            <a:endParaRPr lang="en-US" sz="1300" dirty="0"/>
          </a:p>
        </p:txBody>
      </p:sp>
      <p:sp>
        <p:nvSpPr>
          <p:cNvPr id="7" name="Shape 5"/>
          <p:cNvSpPr/>
          <p:nvPr/>
        </p:nvSpPr>
        <p:spPr>
          <a:xfrm>
            <a:off x="388620" y="1682496"/>
            <a:ext cx="5257800" cy="658368"/>
          </a:xfrm>
          <a:prstGeom prst="roundRect">
            <a:avLst>
              <a:gd name="adj" fmla="val 11111"/>
            </a:avLst>
          </a:prstGeom>
          <a:solidFill>
            <a:srgbClr val="E8EAF6"/>
          </a:solidFill>
          <a:ln w="12700">
            <a:solidFill>
              <a:srgbClr val="E8EAF6"/>
            </a:solidFill>
            <a:prstDash val="solid"/>
          </a:ln>
        </p:spPr>
      </p:sp>
      <p:sp>
        <p:nvSpPr>
          <p:cNvPr id="8" name="Shape 6"/>
          <p:cNvSpPr/>
          <p:nvPr/>
        </p:nvSpPr>
        <p:spPr>
          <a:xfrm>
            <a:off x="502920" y="1810512"/>
            <a:ext cx="402336" cy="402336"/>
          </a:xfrm>
          <a:prstGeom prst="ellipse">
            <a:avLst/>
          </a:prstGeom>
          <a:solidFill>
            <a:srgbClr val="104A9E"/>
          </a:solidFill>
          <a:ln w="12700">
            <a:solidFill>
              <a:srgbClr val="FFFFFF"/>
            </a:solidFill>
            <a:prstDash val="solid"/>
          </a:ln>
        </p:spPr>
      </p:sp>
      <p:sp>
        <p:nvSpPr>
          <p:cNvPr id="9" name="Text 7"/>
          <p:cNvSpPr txBox="1"/>
          <p:nvPr/>
        </p:nvSpPr>
        <p:spPr>
          <a:xfrm>
            <a:off x="502920" y="1810512"/>
            <a:ext cx="402336" cy="402336"/>
          </a:xfrm>
          <a:prstGeom prst="rect">
            <a:avLst/>
          </a:prstGeom>
          <a:noFill/>
          <a:ln/>
        </p:spPr>
        <p:txBody>
          <a:bodyPr wrap="square" lIns="0" tIns="0" rIns="0" bIns="0" rtlCol="0" anchor="ctr"/>
          <a:lstStyle/>
          <a:p>
            <a:pPr marL="0" indent="0" algn="ctr">
              <a:buNone/>
            </a:pPr>
            <a:r>
              <a:rPr lang="en-US" sz="1400" b="1" dirty="0">
                <a:solidFill>
                  <a:srgbClr val="FFFFFF"/>
                </a:solidFill>
                <a:latin typeface="Arial" pitchFamily="34" charset="0"/>
                <a:ea typeface="Arial" pitchFamily="34" charset="-122"/>
                <a:cs typeface="Arial" pitchFamily="34" charset="-120"/>
              </a:rPr>
              <a:t>2</a:t>
            </a:r>
            <a:endParaRPr lang="en-US" sz="1400" dirty="0"/>
          </a:p>
        </p:txBody>
      </p:sp>
      <p:sp>
        <p:nvSpPr>
          <p:cNvPr id="10" name="Text 8"/>
          <p:cNvSpPr txBox="1"/>
          <p:nvPr/>
        </p:nvSpPr>
        <p:spPr>
          <a:xfrm>
            <a:off x="1005840" y="1682496"/>
            <a:ext cx="4526280" cy="658368"/>
          </a:xfrm>
          <a:prstGeom prst="rect">
            <a:avLst/>
          </a:prstGeom>
          <a:noFill/>
          <a:ln/>
        </p:spPr>
        <p:txBody>
          <a:bodyPr wrap="square" lIns="0" tIns="0" rIns="0" bIns="0" rtlCol="0" anchor="ctr"/>
          <a:lstStyle/>
          <a:p>
            <a:pPr marL="0" indent="0">
              <a:buNone/>
            </a:pPr>
            <a:r>
              <a:rPr lang="en-US" sz="1300" dirty="0">
                <a:solidFill>
                  <a:srgbClr val="000000"/>
                </a:solidFill>
                <a:latin typeface="Arial" pitchFamily="34" charset="0"/>
                <a:ea typeface="Arial" pitchFamily="34" charset="-122"/>
                <a:cs typeface="Arial" pitchFamily="34" charset="-120"/>
              </a:rPr>
              <a:t>Clean data, encode Month and VisitorType, scale numeric features.</a:t>
            </a:r>
            <a:endParaRPr lang="en-US" sz="1300" dirty="0"/>
          </a:p>
        </p:txBody>
      </p:sp>
      <p:sp>
        <p:nvSpPr>
          <p:cNvPr id="11" name="Shape 9"/>
          <p:cNvSpPr/>
          <p:nvPr/>
        </p:nvSpPr>
        <p:spPr>
          <a:xfrm>
            <a:off x="388620" y="2450592"/>
            <a:ext cx="5257800" cy="658368"/>
          </a:xfrm>
          <a:prstGeom prst="roundRect">
            <a:avLst>
              <a:gd name="adj" fmla="val 11111"/>
            </a:avLst>
          </a:prstGeom>
          <a:solidFill>
            <a:srgbClr val="E8EAF6"/>
          </a:solidFill>
          <a:ln w="12700">
            <a:solidFill>
              <a:srgbClr val="E8EAF6"/>
            </a:solidFill>
            <a:prstDash val="solid"/>
          </a:ln>
        </p:spPr>
      </p:sp>
      <p:sp>
        <p:nvSpPr>
          <p:cNvPr id="12" name="Shape 10"/>
          <p:cNvSpPr/>
          <p:nvPr/>
        </p:nvSpPr>
        <p:spPr>
          <a:xfrm>
            <a:off x="502920" y="2578608"/>
            <a:ext cx="402336" cy="402336"/>
          </a:xfrm>
          <a:prstGeom prst="ellipse">
            <a:avLst/>
          </a:prstGeom>
          <a:solidFill>
            <a:srgbClr val="0097A7"/>
          </a:solidFill>
          <a:ln w="12700">
            <a:solidFill>
              <a:srgbClr val="FFFFFF"/>
            </a:solidFill>
            <a:prstDash val="solid"/>
          </a:ln>
        </p:spPr>
      </p:sp>
      <p:sp>
        <p:nvSpPr>
          <p:cNvPr id="13" name="Text 11"/>
          <p:cNvSpPr txBox="1"/>
          <p:nvPr/>
        </p:nvSpPr>
        <p:spPr>
          <a:xfrm>
            <a:off x="502920" y="2578608"/>
            <a:ext cx="402336" cy="402336"/>
          </a:xfrm>
          <a:prstGeom prst="rect">
            <a:avLst/>
          </a:prstGeom>
          <a:noFill/>
          <a:ln/>
        </p:spPr>
        <p:txBody>
          <a:bodyPr wrap="square" lIns="0" tIns="0" rIns="0" bIns="0" rtlCol="0" anchor="ctr"/>
          <a:lstStyle/>
          <a:p>
            <a:pPr marL="0" indent="0" algn="ctr">
              <a:buNone/>
            </a:pPr>
            <a:r>
              <a:rPr lang="en-US" sz="1400" b="1" dirty="0">
                <a:solidFill>
                  <a:srgbClr val="FFFFFF"/>
                </a:solidFill>
                <a:latin typeface="Arial" pitchFamily="34" charset="0"/>
                <a:ea typeface="Arial" pitchFamily="34" charset="-122"/>
                <a:cs typeface="Arial" pitchFamily="34" charset="-120"/>
              </a:rPr>
              <a:t>3</a:t>
            </a:r>
            <a:endParaRPr lang="en-US" sz="1400" dirty="0"/>
          </a:p>
        </p:txBody>
      </p:sp>
      <p:sp>
        <p:nvSpPr>
          <p:cNvPr id="14" name="Text 12"/>
          <p:cNvSpPr txBox="1"/>
          <p:nvPr/>
        </p:nvSpPr>
        <p:spPr>
          <a:xfrm>
            <a:off x="1005840" y="2450592"/>
            <a:ext cx="4526280" cy="658368"/>
          </a:xfrm>
          <a:prstGeom prst="rect">
            <a:avLst/>
          </a:prstGeom>
          <a:noFill/>
          <a:ln/>
        </p:spPr>
        <p:txBody>
          <a:bodyPr wrap="square" lIns="0" tIns="0" rIns="0" bIns="0" rtlCol="0" anchor="ctr"/>
          <a:lstStyle/>
          <a:p>
            <a:pPr marL="0" indent="0">
              <a:buNone/>
            </a:pPr>
            <a:r>
              <a:rPr lang="en-US" sz="1300" dirty="0">
                <a:solidFill>
                  <a:srgbClr val="000000"/>
                </a:solidFill>
                <a:latin typeface="Arial" pitchFamily="34" charset="0"/>
                <a:ea typeface="Arial" pitchFamily="34" charset="-122"/>
                <a:cs typeface="Arial" pitchFamily="34" charset="-120"/>
              </a:rPr>
              <a:t>Stratified 80/20 split; apply SMOTE on training data only.</a:t>
            </a:r>
            <a:endParaRPr lang="en-US" sz="1300" dirty="0"/>
          </a:p>
        </p:txBody>
      </p:sp>
      <p:sp>
        <p:nvSpPr>
          <p:cNvPr id="15" name="Shape 13"/>
          <p:cNvSpPr/>
          <p:nvPr/>
        </p:nvSpPr>
        <p:spPr>
          <a:xfrm>
            <a:off x="388620" y="3218688"/>
            <a:ext cx="5257800" cy="658368"/>
          </a:xfrm>
          <a:prstGeom prst="roundRect">
            <a:avLst>
              <a:gd name="adj" fmla="val 11111"/>
            </a:avLst>
          </a:prstGeom>
          <a:solidFill>
            <a:srgbClr val="E8EAF6"/>
          </a:solidFill>
          <a:ln w="12700">
            <a:solidFill>
              <a:srgbClr val="E8EAF6"/>
            </a:solidFill>
            <a:prstDash val="solid"/>
          </a:ln>
        </p:spPr>
      </p:sp>
      <p:sp>
        <p:nvSpPr>
          <p:cNvPr id="16" name="Shape 14"/>
          <p:cNvSpPr/>
          <p:nvPr/>
        </p:nvSpPr>
        <p:spPr>
          <a:xfrm>
            <a:off x="502920" y="3346704"/>
            <a:ext cx="402336" cy="402336"/>
          </a:xfrm>
          <a:prstGeom prst="ellipse">
            <a:avLst/>
          </a:prstGeom>
          <a:solidFill>
            <a:srgbClr val="F79646"/>
          </a:solidFill>
          <a:ln w="12700">
            <a:solidFill>
              <a:srgbClr val="FFFFFF"/>
            </a:solidFill>
            <a:prstDash val="solid"/>
          </a:ln>
        </p:spPr>
      </p:sp>
      <p:sp>
        <p:nvSpPr>
          <p:cNvPr id="17" name="Text 15"/>
          <p:cNvSpPr txBox="1"/>
          <p:nvPr/>
        </p:nvSpPr>
        <p:spPr>
          <a:xfrm>
            <a:off x="502920" y="3346704"/>
            <a:ext cx="402336" cy="402336"/>
          </a:xfrm>
          <a:prstGeom prst="rect">
            <a:avLst/>
          </a:prstGeom>
          <a:noFill/>
          <a:ln/>
        </p:spPr>
        <p:txBody>
          <a:bodyPr wrap="square" lIns="0" tIns="0" rIns="0" bIns="0" rtlCol="0" anchor="ctr"/>
          <a:lstStyle/>
          <a:p>
            <a:pPr marL="0" indent="0" algn="ctr">
              <a:buNone/>
            </a:pPr>
            <a:r>
              <a:rPr lang="en-US" sz="1400" b="1" dirty="0">
                <a:solidFill>
                  <a:srgbClr val="FFFFFF"/>
                </a:solidFill>
                <a:latin typeface="Arial" pitchFamily="34" charset="0"/>
                <a:ea typeface="Arial" pitchFamily="34" charset="-122"/>
                <a:cs typeface="Arial" pitchFamily="34" charset="-120"/>
              </a:rPr>
              <a:t>4</a:t>
            </a:r>
            <a:endParaRPr lang="en-US" sz="1400" dirty="0"/>
          </a:p>
        </p:txBody>
      </p:sp>
      <p:sp>
        <p:nvSpPr>
          <p:cNvPr id="18" name="Text 16"/>
          <p:cNvSpPr txBox="1"/>
          <p:nvPr/>
        </p:nvSpPr>
        <p:spPr>
          <a:xfrm>
            <a:off x="1005840" y="3218688"/>
            <a:ext cx="4526280" cy="658368"/>
          </a:xfrm>
          <a:prstGeom prst="rect">
            <a:avLst/>
          </a:prstGeom>
          <a:noFill/>
          <a:ln/>
        </p:spPr>
        <p:txBody>
          <a:bodyPr wrap="square" lIns="0" tIns="0" rIns="0" bIns="0" rtlCol="0" anchor="ctr"/>
          <a:lstStyle/>
          <a:p>
            <a:pPr marL="0" indent="0">
              <a:buNone/>
            </a:pPr>
            <a:r>
              <a:rPr lang="en-US" sz="1300" dirty="0">
                <a:solidFill>
                  <a:srgbClr val="000000"/>
                </a:solidFill>
                <a:latin typeface="Arial" pitchFamily="34" charset="0"/>
                <a:ea typeface="Arial" pitchFamily="34" charset="-122"/>
                <a:cs typeface="Arial" pitchFamily="34" charset="-120"/>
              </a:rPr>
              <a:t>Train LR, Decision Tree and Random Forest; tune with cross-validation.</a:t>
            </a:r>
            <a:endParaRPr lang="en-US" sz="1300" dirty="0"/>
          </a:p>
        </p:txBody>
      </p:sp>
      <p:sp>
        <p:nvSpPr>
          <p:cNvPr id="19" name="Shape 17"/>
          <p:cNvSpPr/>
          <p:nvPr/>
        </p:nvSpPr>
        <p:spPr>
          <a:xfrm>
            <a:off x="388620" y="3986784"/>
            <a:ext cx="5257800" cy="658368"/>
          </a:xfrm>
          <a:prstGeom prst="roundRect">
            <a:avLst>
              <a:gd name="adj" fmla="val 11111"/>
            </a:avLst>
          </a:prstGeom>
          <a:solidFill>
            <a:srgbClr val="E8EAF6"/>
          </a:solidFill>
          <a:ln w="12700">
            <a:solidFill>
              <a:srgbClr val="E8EAF6"/>
            </a:solidFill>
            <a:prstDash val="solid"/>
          </a:ln>
        </p:spPr>
      </p:sp>
      <p:sp>
        <p:nvSpPr>
          <p:cNvPr id="20" name="Shape 18"/>
          <p:cNvSpPr/>
          <p:nvPr/>
        </p:nvSpPr>
        <p:spPr>
          <a:xfrm>
            <a:off x="502920" y="4114800"/>
            <a:ext cx="402336" cy="402336"/>
          </a:xfrm>
          <a:prstGeom prst="ellipse">
            <a:avLst/>
          </a:prstGeom>
          <a:solidFill>
            <a:srgbClr val="FF0000"/>
          </a:solidFill>
          <a:ln w="12700">
            <a:solidFill>
              <a:srgbClr val="FFFFFF"/>
            </a:solidFill>
            <a:prstDash val="solid"/>
          </a:ln>
        </p:spPr>
      </p:sp>
      <p:sp>
        <p:nvSpPr>
          <p:cNvPr id="21" name="Text 19"/>
          <p:cNvSpPr txBox="1"/>
          <p:nvPr/>
        </p:nvSpPr>
        <p:spPr>
          <a:xfrm>
            <a:off x="502920" y="4114800"/>
            <a:ext cx="402336" cy="402336"/>
          </a:xfrm>
          <a:prstGeom prst="rect">
            <a:avLst/>
          </a:prstGeom>
          <a:noFill/>
          <a:ln/>
        </p:spPr>
        <p:txBody>
          <a:bodyPr wrap="square" lIns="0" tIns="0" rIns="0" bIns="0" rtlCol="0" anchor="ctr"/>
          <a:lstStyle/>
          <a:p>
            <a:pPr marL="0" indent="0" algn="ctr">
              <a:buNone/>
            </a:pPr>
            <a:r>
              <a:rPr lang="en-US" sz="1400" b="1" dirty="0">
                <a:solidFill>
                  <a:srgbClr val="FFFFFF"/>
                </a:solidFill>
                <a:latin typeface="Arial" pitchFamily="34" charset="0"/>
                <a:ea typeface="Arial" pitchFamily="34" charset="-122"/>
                <a:cs typeface="Arial" pitchFamily="34" charset="-120"/>
              </a:rPr>
              <a:t>5</a:t>
            </a:r>
            <a:endParaRPr lang="en-US" sz="1400" dirty="0"/>
          </a:p>
        </p:txBody>
      </p:sp>
      <p:sp>
        <p:nvSpPr>
          <p:cNvPr id="22" name="Text 20"/>
          <p:cNvSpPr txBox="1"/>
          <p:nvPr/>
        </p:nvSpPr>
        <p:spPr>
          <a:xfrm>
            <a:off x="1005840" y="3986784"/>
            <a:ext cx="4526280" cy="658368"/>
          </a:xfrm>
          <a:prstGeom prst="rect">
            <a:avLst/>
          </a:prstGeom>
          <a:noFill/>
          <a:ln/>
        </p:spPr>
        <p:txBody>
          <a:bodyPr wrap="square" lIns="0" tIns="0" rIns="0" bIns="0" rtlCol="0" anchor="ctr"/>
          <a:lstStyle/>
          <a:p>
            <a:pPr marL="0" indent="0">
              <a:buNone/>
            </a:pPr>
            <a:r>
              <a:rPr lang="en-US" sz="1300" dirty="0">
                <a:solidFill>
                  <a:srgbClr val="000000"/>
                </a:solidFill>
                <a:latin typeface="Arial" pitchFamily="34" charset="0"/>
                <a:ea typeface="Arial" pitchFamily="34" charset="-122"/>
                <a:cs typeface="Arial" pitchFamily="34" charset="-120"/>
              </a:rPr>
              <a:t>Compare metrics, pick the best model, show predictions in a small demo app.</a:t>
            </a:r>
            <a:endParaRPr lang="en-US" sz="1300" dirty="0"/>
          </a:p>
        </p:txBody>
      </p:sp>
      <p:sp>
        <p:nvSpPr>
          <p:cNvPr id="23" name="Shape 21"/>
          <p:cNvSpPr/>
          <p:nvPr/>
        </p:nvSpPr>
        <p:spPr>
          <a:xfrm>
            <a:off x="5852160" y="914400"/>
            <a:ext cx="2926080" cy="3840480"/>
          </a:xfrm>
          <a:prstGeom prst="roundRect">
            <a:avLst>
              <a:gd name="adj" fmla="val 2500"/>
            </a:avLst>
          </a:prstGeom>
          <a:solidFill>
            <a:srgbClr val="1F3864"/>
          </a:solidFill>
          <a:ln w="12700">
            <a:solidFill>
              <a:srgbClr val="1F3864"/>
            </a:solidFill>
            <a:prstDash val="solid"/>
          </a:ln>
        </p:spPr>
      </p:sp>
      <p:sp>
        <p:nvSpPr>
          <p:cNvPr id="24" name="Text 22"/>
          <p:cNvSpPr txBox="1"/>
          <p:nvPr/>
        </p:nvSpPr>
        <p:spPr>
          <a:xfrm>
            <a:off x="6035040" y="1005840"/>
            <a:ext cx="2560320" cy="411480"/>
          </a:xfrm>
          <a:prstGeom prst="rect">
            <a:avLst/>
          </a:prstGeom>
          <a:noFill/>
          <a:ln/>
        </p:spPr>
        <p:txBody>
          <a:bodyPr wrap="square" lIns="0" tIns="0" rIns="0" bIns="0" rtlCol="0" anchor="ctr"/>
          <a:lstStyle/>
          <a:p>
            <a:pPr marL="0" indent="0">
              <a:buNone/>
            </a:pPr>
            <a:r>
              <a:rPr lang="en-US" sz="1700" b="1" dirty="0">
                <a:solidFill>
                  <a:srgbClr val="FFFFFF"/>
                </a:solidFill>
                <a:latin typeface="Arial" pitchFamily="34" charset="0"/>
                <a:ea typeface="Arial" pitchFamily="34" charset="-122"/>
                <a:cs typeface="Arial" pitchFamily="34" charset="-120"/>
              </a:rPr>
              <a:t>Tools &amp; setup</a:t>
            </a:r>
            <a:endParaRPr lang="en-US" sz="1700" dirty="0"/>
          </a:p>
        </p:txBody>
      </p:sp>
      <p:sp>
        <p:nvSpPr>
          <p:cNvPr id="25" name="Text 23"/>
          <p:cNvSpPr txBox="1"/>
          <p:nvPr/>
        </p:nvSpPr>
        <p:spPr>
          <a:xfrm>
            <a:off x="6035040" y="1463040"/>
            <a:ext cx="2606040" cy="3154680"/>
          </a:xfrm>
          <a:prstGeom prst="rect">
            <a:avLst/>
          </a:prstGeom>
          <a:noFill/>
          <a:ln/>
        </p:spPr>
        <p:txBody>
          <a:bodyPr wrap="square" lIns="0" tIns="0" rIns="0" bIns="0" rtlCol="0" anchor="t"/>
          <a:lstStyle/>
          <a:p>
            <a:pPr marL="342900" indent="-342900">
              <a:spcAft>
                <a:spcPts val="700"/>
              </a:spcAft>
              <a:buSzPct val="100000"/>
              <a:buChar char="•"/>
            </a:pPr>
            <a:r>
              <a:rPr lang="en-US" sz="1300" dirty="0">
                <a:solidFill>
                  <a:srgbClr val="FFFFFF"/>
                </a:solidFill>
                <a:latin typeface="Arial" pitchFamily="34" charset="0"/>
                <a:ea typeface="Arial" pitchFamily="34" charset="-122"/>
                <a:cs typeface="Arial" pitchFamily="34" charset="-120"/>
              </a:rPr>
              <a:t>Python in Jupyter or Google Colab</a:t>
            </a:r>
            <a:endParaRPr lang="en-US" sz="1300" dirty="0"/>
          </a:p>
          <a:p>
            <a:pPr marL="342900" indent="-342900">
              <a:spcAft>
                <a:spcPts val="700"/>
              </a:spcAft>
              <a:buSzPct val="100000"/>
              <a:buChar char="•"/>
            </a:pPr>
            <a:r>
              <a:rPr lang="en-US" sz="1300" dirty="0">
                <a:solidFill>
                  <a:srgbClr val="FFFFFF"/>
                </a:solidFill>
                <a:latin typeface="Arial" pitchFamily="34" charset="0"/>
                <a:ea typeface="Arial" pitchFamily="34" charset="-122"/>
                <a:cs typeface="Arial" pitchFamily="34" charset="-120"/>
              </a:rPr>
              <a:t>pandas and NumPy for data</a:t>
            </a:r>
            <a:endParaRPr lang="en-US" sz="1300" dirty="0"/>
          </a:p>
          <a:p>
            <a:pPr marL="342900" indent="-342900">
              <a:spcAft>
                <a:spcPts val="700"/>
              </a:spcAft>
              <a:buSzPct val="100000"/>
              <a:buChar char="•"/>
            </a:pPr>
            <a:r>
              <a:rPr lang="en-US" sz="1300" dirty="0">
                <a:solidFill>
                  <a:srgbClr val="FFFFFF"/>
                </a:solidFill>
                <a:latin typeface="Arial" pitchFamily="34" charset="0"/>
                <a:ea typeface="Arial" pitchFamily="34" charset="-122"/>
                <a:cs typeface="Arial" pitchFamily="34" charset="-120"/>
              </a:rPr>
              <a:t>scikit-learn for LR, DT, RF</a:t>
            </a:r>
            <a:endParaRPr lang="en-US" sz="1300" dirty="0"/>
          </a:p>
          <a:p>
            <a:pPr marL="342900" indent="-342900">
              <a:spcAft>
                <a:spcPts val="700"/>
              </a:spcAft>
              <a:buSzPct val="100000"/>
              <a:buChar char="•"/>
            </a:pPr>
            <a:r>
              <a:rPr lang="en-US" sz="1300" dirty="0">
                <a:solidFill>
                  <a:srgbClr val="FFFFFF"/>
                </a:solidFill>
                <a:latin typeface="Arial" pitchFamily="34" charset="0"/>
                <a:ea typeface="Arial" pitchFamily="34" charset="-122"/>
                <a:cs typeface="Arial" pitchFamily="34" charset="-120"/>
              </a:rPr>
              <a:t>imbalanced-learn for SMOTE</a:t>
            </a:r>
            <a:endParaRPr lang="en-US" sz="1300" dirty="0"/>
          </a:p>
          <a:p>
            <a:pPr marL="342900" indent="-342900">
              <a:spcAft>
                <a:spcPts val="700"/>
              </a:spcAft>
              <a:buSzPct val="100000"/>
              <a:buChar char="•"/>
            </a:pPr>
            <a:r>
              <a:rPr lang="en-US" sz="1300" dirty="0">
                <a:solidFill>
                  <a:srgbClr val="FFFFFF"/>
                </a:solidFill>
                <a:latin typeface="Arial" pitchFamily="34" charset="0"/>
                <a:ea typeface="Arial" pitchFamily="34" charset="-122"/>
                <a:cs typeface="Arial" pitchFamily="34" charset="-120"/>
              </a:rPr>
              <a:t>Matplotlib and Seaborn for charts</a:t>
            </a:r>
            <a:endParaRPr lang="en-US" sz="1300" dirty="0"/>
          </a:p>
          <a:p>
            <a:pPr marL="342900" indent="-342900">
              <a:spcAft>
                <a:spcPts val="700"/>
              </a:spcAft>
              <a:buSzPct val="100000"/>
              <a:buChar char="•"/>
            </a:pPr>
            <a:r>
              <a:rPr lang="en-US" sz="1300" dirty="0">
                <a:solidFill>
                  <a:srgbClr val="FFFFFF"/>
                </a:solidFill>
                <a:latin typeface="Arial" pitchFamily="34" charset="0"/>
                <a:ea typeface="Arial" pitchFamily="34" charset="-122"/>
                <a:cs typeface="Arial" pitchFamily="34" charset="-120"/>
              </a:rPr>
              <a:t>Optional: Streamlit demo page</a:t>
            </a:r>
            <a:endParaRPr lang="en-US" sz="13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a:spLocks noGrp="1"/>
          </p:cNvSpPr>
          <p:nvPr>
            <p:ph type="title" idx="102" hasCustomPrompt="1"/>
          </p:nvPr>
        </p:nvSpPr>
        <p:spPr>
          <a:xfrm>
            <a:off x="868680" y="109728"/>
            <a:ext cx="7406640" cy="548640"/>
          </a:xfrm>
          <a:prstGeom prst="rect">
            <a:avLst/>
          </a:prstGeom>
          <a:noFill/>
          <a:ln/>
        </p:spPr>
        <p:txBody>
          <a:bodyPr wrap="square" lIns="0" tIns="0" rIns="0" bIns="0" rtlCol="0" anchor="ctr"/>
          <a:lstStyle/>
          <a:p>
            <a:pPr marL="0" indent="0" algn="ctr">
              <a:buNone/>
            </a:pPr>
            <a:r>
              <a:rPr lang="en-US" sz="2400" b="1" dirty="0">
                <a:solidFill>
                  <a:srgbClr val="FF0000"/>
                </a:solidFill>
                <a:latin typeface="Arial" pitchFamily="34" charset="0"/>
                <a:ea typeface="Arial" pitchFamily="34" charset="-122"/>
                <a:cs typeface="Arial" pitchFamily="34" charset="-120"/>
              </a:rPr>
              <a:t>IDENTIFIED MODULES</a:t>
            </a:r>
            <a:endParaRPr lang="en-US" sz="2400" dirty="0"/>
          </a:p>
        </p:txBody>
      </p:sp>
      <p:sp>
        <p:nvSpPr>
          <p:cNvPr id="3" name="Shape 1"/>
          <p:cNvSpPr/>
          <p:nvPr/>
        </p:nvSpPr>
        <p:spPr>
          <a:xfrm>
            <a:off x="434340" y="914400"/>
            <a:ext cx="2606040" cy="1828800"/>
          </a:xfrm>
          <a:prstGeom prst="roundRect">
            <a:avLst>
              <a:gd name="adj" fmla="val 5000"/>
            </a:avLst>
          </a:prstGeom>
          <a:solidFill>
            <a:srgbClr val="E8F4F8"/>
          </a:solidFill>
          <a:ln w="12700">
            <a:solidFill>
              <a:srgbClr val="0097A7"/>
            </a:solidFill>
            <a:prstDash val="solid"/>
          </a:ln>
        </p:spPr>
      </p:sp>
      <p:sp>
        <p:nvSpPr>
          <p:cNvPr id="4" name="Text 2"/>
          <p:cNvSpPr txBox="1"/>
          <p:nvPr/>
        </p:nvSpPr>
        <p:spPr>
          <a:xfrm>
            <a:off x="544068" y="987552"/>
            <a:ext cx="2386584" cy="1682496"/>
          </a:xfrm>
          <a:prstGeom prst="rect">
            <a:avLst/>
          </a:prstGeom>
          <a:noFill/>
          <a:ln/>
        </p:spPr>
        <p:txBody>
          <a:bodyPr wrap="square" lIns="0" tIns="0" rIns="0" bIns="0" rtlCol="0" anchor="t"/>
          <a:lstStyle/>
          <a:p>
            <a:pPr marL="0" indent="0">
              <a:spcAft>
                <a:spcPts val="600"/>
              </a:spcAft>
              <a:buNone/>
            </a:pPr>
            <a:r>
              <a:rPr lang="en-US" sz="1100" b="1" dirty="0">
                <a:solidFill>
                  <a:srgbClr val="FF0000"/>
                </a:solidFill>
                <a:latin typeface="Arial" pitchFamily="34" charset="0"/>
                <a:ea typeface="Arial" pitchFamily="34" charset="-122"/>
                <a:cs typeface="Arial" pitchFamily="34" charset="-120"/>
              </a:rPr>
              <a:t>MODULE 1</a:t>
            </a:r>
            <a:endParaRPr lang="en-US" sz="1100" dirty="0"/>
          </a:p>
          <a:p>
            <a:pPr marL="0" indent="0">
              <a:spcAft>
                <a:spcPts val="600"/>
              </a:spcAft>
              <a:buNone/>
            </a:pPr>
            <a:r>
              <a:rPr lang="en-US" sz="1500" b="1" dirty="0">
                <a:solidFill>
                  <a:srgbClr val="000000"/>
                </a:solidFill>
                <a:latin typeface="Arial" pitchFamily="34" charset="0"/>
                <a:ea typeface="Arial" pitchFamily="34" charset="-122"/>
                <a:cs typeface="Arial" pitchFamily="34" charset="-120"/>
              </a:rPr>
              <a:t>Data Collection &amp; Cleaning</a:t>
            </a:r>
            <a:endParaRPr lang="en-US" sz="1100" dirty="0"/>
          </a:p>
          <a:p>
            <a:pPr marL="0" indent="0">
              <a:spcAft>
                <a:spcPts val="600"/>
              </a:spcAft>
              <a:buNone/>
            </a:pPr>
            <a:r>
              <a:rPr lang="en-US" sz="1300" dirty="0">
                <a:solidFill>
                  <a:srgbClr val="000000"/>
                </a:solidFill>
                <a:latin typeface="Arial" pitchFamily="34" charset="0"/>
                <a:ea typeface="Arial" pitchFamily="34" charset="-122"/>
                <a:cs typeface="Arial" pitchFamily="34" charset="-120"/>
              </a:rPr>
              <a:t>Load the dataset, remove missing values, fix data types.</a:t>
            </a:r>
            <a:endParaRPr lang="en-US" sz="1100" dirty="0"/>
          </a:p>
        </p:txBody>
      </p:sp>
      <p:sp>
        <p:nvSpPr>
          <p:cNvPr id="5" name="Shape 3"/>
          <p:cNvSpPr/>
          <p:nvPr/>
        </p:nvSpPr>
        <p:spPr>
          <a:xfrm>
            <a:off x="3268980" y="914400"/>
            <a:ext cx="2606040" cy="1828800"/>
          </a:xfrm>
          <a:prstGeom prst="roundRect">
            <a:avLst>
              <a:gd name="adj" fmla="val 5000"/>
            </a:avLst>
          </a:prstGeom>
          <a:solidFill>
            <a:srgbClr val="E8F4F8"/>
          </a:solidFill>
          <a:ln w="12700">
            <a:solidFill>
              <a:srgbClr val="0097A7"/>
            </a:solidFill>
            <a:prstDash val="solid"/>
          </a:ln>
        </p:spPr>
      </p:sp>
      <p:sp>
        <p:nvSpPr>
          <p:cNvPr id="6" name="Text 4"/>
          <p:cNvSpPr txBox="1"/>
          <p:nvPr/>
        </p:nvSpPr>
        <p:spPr>
          <a:xfrm>
            <a:off x="3378708" y="987552"/>
            <a:ext cx="2386584" cy="1682496"/>
          </a:xfrm>
          <a:prstGeom prst="rect">
            <a:avLst/>
          </a:prstGeom>
          <a:noFill/>
          <a:ln/>
        </p:spPr>
        <p:txBody>
          <a:bodyPr wrap="square" lIns="0" tIns="0" rIns="0" bIns="0" rtlCol="0" anchor="t"/>
          <a:lstStyle/>
          <a:p>
            <a:pPr marL="0" indent="0">
              <a:spcAft>
                <a:spcPts val="600"/>
              </a:spcAft>
              <a:buNone/>
            </a:pPr>
            <a:r>
              <a:rPr lang="en-US" sz="1100" b="1" dirty="0">
                <a:solidFill>
                  <a:srgbClr val="FF0000"/>
                </a:solidFill>
                <a:latin typeface="Arial" pitchFamily="34" charset="0"/>
                <a:ea typeface="Arial" pitchFamily="34" charset="-122"/>
                <a:cs typeface="Arial" pitchFamily="34" charset="-120"/>
              </a:rPr>
              <a:t>MODULE 2</a:t>
            </a:r>
            <a:endParaRPr lang="en-US" sz="1100" dirty="0"/>
          </a:p>
          <a:p>
            <a:pPr marL="0" indent="0">
              <a:spcAft>
                <a:spcPts val="600"/>
              </a:spcAft>
              <a:buNone/>
            </a:pPr>
            <a:r>
              <a:rPr lang="en-US" sz="1500" b="1" dirty="0">
                <a:solidFill>
                  <a:srgbClr val="000000"/>
                </a:solidFill>
                <a:latin typeface="Arial" pitchFamily="34" charset="0"/>
                <a:ea typeface="Arial" pitchFamily="34" charset="-122"/>
                <a:cs typeface="Arial" pitchFamily="34" charset="-120"/>
              </a:rPr>
              <a:t>EDA &amp; Visualization</a:t>
            </a:r>
            <a:endParaRPr lang="en-US" sz="1100" dirty="0"/>
          </a:p>
          <a:p>
            <a:pPr marL="0" indent="0">
              <a:spcAft>
                <a:spcPts val="600"/>
              </a:spcAft>
              <a:buNone/>
            </a:pPr>
            <a:r>
              <a:rPr lang="en-US" sz="1300" dirty="0">
                <a:solidFill>
                  <a:srgbClr val="000000"/>
                </a:solidFill>
                <a:latin typeface="Arial" pitchFamily="34" charset="0"/>
                <a:ea typeface="Arial" pitchFamily="34" charset="-122"/>
                <a:cs typeface="Arial" pitchFamily="34" charset="-120"/>
              </a:rPr>
              <a:t>Pie, heatmap and line charts reveal buying patterns.</a:t>
            </a:r>
            <a:endParaRPr lang="en-US" sz="1100" dirty="0"/>
          </a:p>
        </p:txBody>
      </p:sp>
      <p:sp>
        <p:nvSpPr>
          <p:cNvPr id="7" name="Shape 5"/>
          <p:cNvSpPr/>
          <p:nvPr/>
        </p:nvSpPr>
        <p:spPr>
          <a:xfrm>
            <a:off x="6103620" y="914400"/>
            <a:ext cx="2606040" cy="1828800"/>
          </a:xfrm>
          <a:prstGeom prst="roundRect">
            <a:avLst>
              <a:gd name="adj" fmla="val 5000"/>
            </a:avLst>
          </a:prstGeom>
          <a:solidFill>
            <a:srgbClr val="E8F4F8"/>
          </a:solidFill>
          <a:ln w="12700">
            <a:solidFill>
              <a:srgbClr val="0097A7"/>
            </a:solidFill>
            <a:prstDash val="solid"/>
          </a:ln>
        </p:spPr>
      </p:sp>
      <p:sp>
        <p:nvSpPr>
          <p:cNvPr id="8" name="Text 6"/>
          <p:cNvSpPr txBox="1"/>
          <p:nvPr/>
        </p:nvSpPr>
        <p:spPr>
          <a:xfrm>
            <a:off x="6213348" y="987552"/>
            <a:ext cx="2386584" cy="1682496"/>
          </a:xfrm>
          <a:prstGeom prst="rect">
            <a:avLst/>
          </a:prstGeom>
          <a:noFill/>
          <a:ln/>
        </p:spPr>
        <p:txBody>
          <a:bodyPr wrap="square" lIns="0" tIns="0" rIns="0" bIns="0" rtlCol="0" anchor="t"/>
          <a:lstStyle/>
          <a:p>
            <a:pPr marL="0" indent="0">
              <a:spcAft>
                <a:spcPts val="600"/>
              </a:spcAft>
              <a:buNone/>
            </a:pPr>
            <a:r>
              <a:rPr lang="en-US" sz="1100" b="1" dirty="0">
                <a:solidFill>
                  <a:srgbClr val="FF0000"/>
                </a:solidFill>
                <a:latin typeface="Arial" pitchFamily="34" charset="0"/>
                <a:ea typeface="Arial" pitchFamily="34" charset="-122"/>
                <a:cs typeface="Arial" pitchFamily="34" charset="-120"/>
              </a:rPr>
              <a:t>MODULE 3</a:t>
            </a:r>
            <a:endParaRPr lang="en-US" sz="1100" dirty="0"/>
          </a:p>
          <a:p>
            <a:pPr marL="0" indent="0">
              <a:spcAft>
                <a:spcPts val="600"/>
              </a:spcAft>
              <a:buNone/>
            </a:pPr>
            <a:r>
              <a:rPr lang="en-US" sz="1500" b="1" dirty="0">
                <a:solidFill>
                  <a:srgbClr val="000000"/>
                </a:solidFill>
                <a:latin typeface="Arial" pitchFamily="34" charset="0"/>
                <a:ea typeface="Arial" pitchFamily="34" charset="-122"/>
                <a:cs typeface="Arial" pitchFamily="34" charset="-120"/>
              </a:rPr>
              <a:t>Feature Engineering</a:t>
            </a:r>
            <a:endParaRPr lang="en-US" sz="1100" dirty="0"/>
          </a:p>
          <a:p>
            <a:pPr marL="0" indent="0">
              <a:spcAft>
                <a:spcPts val="600"/>
              </a:spcAft>
              <a:buNone/>
            </a:pPr>
            <a:r>
              <a:rPr lang="en-US" sz="1300" dirty="0">
                <a:solidFill>
                  <a:srgbClr val="000000"/>
                </a:solidFill>
                <a:latin typeface="Arial" pitchFamily="34" charset="0"/>
                <a:ea typeface="Arial" pitchFamily="34" charset="-122"/>
                <a:cs typeface="Arial" pitchFamily="34" charset="-120"/>
              </a:rPr>
              <a:t>Encode categories, scale numbers, balance with SMOTE.</a:t>
            </a:r>
            <a:endParaRPr lang="en-US" sz="1100" dirty="0"/>
          </a:p>
        </p:txBody>
      </p:sp>
      <p:sp>
        <p:nvSpPr>
          <p:cNvPr id="9" name="Shape 7"/>
          <p:cNvSpPr/>
          <p:nvPr/>
        </p:nvSpPr>
        <p:spPr>
          <a:xfrm>
            <a:off x="1851660" y="2926080"/>
            <a:ext cx="2606040" cy="1828800"/>
          </a:xfrm>
          <a:prstGeom prst="roundRect">
            <a:avLst>
              <a:gd name="adj" fmla="val 5000"/>
            </a:avLst>
          </a:prstGeom>
          <a:solidFill>
            <a:srgbClr val="E8F4F8"/>
          </a:solidFill>
          <a:ln w="12700">
            <a:solidFill>
              <a:srgbClr val="0097A7"/>
            </a:solidFill>
            <a:prstDash val="solid"/>
          </a:ln>
        </p:spPr>
      </p:sp>
      <p:sp>
        <p:nvSpPr>
          <p:cNvPr id="10" name="Text 8"/>
          <p:cNvSpPr txBox="1"/>
          <p:nvPr/>
        </p:nvSpPr>
        <p:spPr>
          <a:xfrm>
            <a:off x="1961388" y="2999232"/>
            <a:ext cx="2386584" cy="1682496"/>
          </a:xfrm>
          <a:prstGeom prst="rect">
            <a:avLst/>
          </a:prstGeom>
          <a:noFill/>
          <a:ln/>
        </p:spPr>
        <p:txBody>
          <a:bodyPr wrap="square" lIns="0" tIns="0" rIns="0" bIns="0" rtlCol="0" anchor="t"/>
          <a:lstStyle/>
          <a:p>
            <a:pPr marL="0" indent="0">
              <a:spcAft>
                <a:spcPts val="600"/>
              </a:spcAft>
              <a:buNone/>
            </a:pPr>
            <a:r>
              <a:rPr lang="en-US" sz="1100" b="1" dirty="0">
                <a:solidFill>
                  <a:srgbClr val="FF0000"/>
                </a:solidFill>
                <a:latin typeface="Arial" pitchFamily="34" charset="0"/>
                <a:ea typeface="Arial" pitchFamily="34" charset="-122"/>
                <a:cs typeface="Arial" pitchFamily="34" charset="-120"/>
              </a:rPr>
              <a:t>MODULE 4</a:t>
            </a:r>
            <a:endParaRPr lang="en-US" sz="1100" dirty="0"/>
          </a:p>
          <a:p>
            <a:pPr marL="0" indent="0">
              <a:spcAft>
                <a:spcPts val="600"/>
              </a:spcAft>
              <a:buNone/>
            </a:pPr>
            <a:r>
              <a:rPr lang="en-US" sz="1500" b="1" dirty="0">
                <a:solidFill>
                  <a:srgbClr val="000000"/>
                </a:solidFill>
                <a:latin typeface="Arial" pitchFamily="34" charset="0"/>
                <a:ea typeface="Arial" pitchFamily="34" charset="-122"/>
                <a:cs typeface="Arial" pitchFamily="34" charset="-120"/>
              </a:rPr>
              <a:t>Model Building</a:t>
            </a:r>
            <a:endParaRPr lang="en-US" sz="1100" dirty="0"/>
          </a:p>
          <a:p>
            <a:pPr marL="0" indent="0">
              <a:spcAft>
                <a:spcPts val="600"/>
              </a:spcAft>
              <a:buNone/>
            </a:pPr>
            <a:r>
              <a:rPr lang="en-US" sz="1300" dirty="0">
                <a:solidFill>
                  <a:srgbClr val="000000"/>
                </a:solidFill>
                <a:latin typeface="Arial" pitchFamily="34" charset="0"/>
                <a:ea typeface="Arial" pitchFamily="34" charset="-122"/>
                <a:cs typeface="Arial" pitchFamily="34" charset="-120"/>
              </a:rPr>
              <a:t>Train Logistic Regression, Decision Tree and Random Forest.</a:t>
            </a:r>
            <a:endParaRPr lang="en-US" sz="1100" dirty="0"/>
          </a:p>
        </p:txBody>
      </p:sp>
      <p:sp>
        <p:nvSpPr>
          <p:cNvPr id="11" name="Shape 9"/>
          <p:cNvSpPr/>
          <p:nvPr/>
        </p:nvSpPr>
        <p:spPr>
          <a:xfrm>
            <a:off x="4686300" y="2926080"/>
            <a:ext cx="2606040" cy="1828800"/>
          </a:xfrm>
          <a:prstGeom prst="roundRect">
            <a:avLst>
              <a:gd name="adj" fmla="val 5000"/>
            </a:avLst>
          </a:prstGeom>
          <a:solidFill>
            <a:srgbClr val="E8F4F8"/>
          </a:solidFill>
          <a:ln w="12700">
            <a:solidFill>
              <a:srgbClr val="0097A7"/>
            </a:solidFill>
            <a:prstDash val="solid"/>
          </a:ln>
        </p:spPr>
      </p:sp>
      <p:sp>
        <p:nvSpPr>
          <p:cNvPr id="12" name="Text 10"/>
          <p:cNvSpPr txBox="1"/>
          <p:nvPr/>
        </p:nvSpPr>
        <p:spPr>
          <a:xfrm>
            <a:off x="4796028" y="2999232"/>
            <a:ext cx="2386584" cy="1682496"/>
          </a:xfrm>
          <a:prstGeom prst="rect">
            <a:avLst/>
          </a:prstGeom>
          <a:noFill/>
          <a:ln/>
        </p:spPr>
        <p:txBody>
          <a:bodyPr wrap="square" lIns="0" tIns="0" rIns="0" bIns="0" rtlCol="0" anchor="t"/>
          <a:lstStyle/>
          <a:p>
            <a:pPr marL="0" indent="0">
              <a:spcAft>
                <a:spcPts val="600"/>
              </a:spcAft>
              <a:buNone/>
            </a:pPr>
            <a:r>
              <a:rPr lang="en-US" sz="1100" b="1" dirty="0">
                <a:solidFill>
                  <a:srgbClr val="FF0000"/>
                </a:solidFill>
                <a:latin typeface="Arial" pitchFamily="34" charset="0"/>
                <a:ea typeface="Arial" pitchFamily="34" charset="-122"/>
                <a:cs typeface="Arial" pitchFamily="34" charset="-120"/>
              </a:rPr>
              <a:t>MODULE 5</a:t>
            </a:r>
            <a:endParaRPr lang="en-US" sz="1100" dirty="0"/>
          </a:p>
          <a:p>
            <a:pPr marL="0" indent="0">
              <a:spcAft>
                <a:spcPts val="600"/>
              </a:spcAft>
              <a:buNone/>
            </a:pPr>
            <a:r>
              <a:rPr lang="en-US" sz="1500" b="1" dirty="0">
                <a:solidFill>
                  <a:srgbClr val="000000"/>
                </a:solidFill>
                <a:latin typeface="Arial" pitchFamily="34" charset="0"/>
                <a:ea typeface="Arial" pitchFamily="34" charset="-122"/>
                <a:cs typeface="Arial" pitchFamily="34" charset="-120"/>
              </a:rPr>
              <a:t>Evaluation &amp; Prediction</a:t>
            </a:r>
            <a:endParaRPr lang="en-US" sz="1100" dirty="0"/>
          </a:p>
          <a:p>
            <a:pPr marL="0" indent="0">
              <a:spcAft>
                <a:spcPts val="600"/>
              </a:spcAft>
              <a:buNone/>
            </a:pPr>
            <a:r>
              <a:rPr lang="en-US" sz="1300" dirty="0">
                <a:solidFill>
                  <a:srgbClr val="000000"/>
                </a:solidFill>
                <a:latin typeface="Arial" pitchFamily="34" charset="0"/>
                <a:ea typeface="Arial" pitchFamily="34" charset="-122"/>
                <a:cs typeface="Arial" pitchFamily="34" charset="-120"/>
              </a:rPr>
              <a:t>Check accuracy, precision, recall, F1; predict Buy or Won’t Buy.</a:t>
            </a:r>
            <a:endParaRPr lang="en-US" sz="11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a:spLocks noGrp="1"/>
          </p:cNvSpPr>
          <p:nvPr>
            <p:ph type="title" idx="102" hasCustomPrompt="1"/>
          </p:nvPr>
        </p:nvSpPr>
        <p:spPr>
          <a:xfrm>
            <a:off x="868680" y="109728"/>
            <a:ext cx="7406640" cy="548640"/>
          </a:xfrm>
          <a:prstGeom prst="rect">
            <a:avLst/>
          </a:prstGeom>
          <a:noFill/>
          <a:ln/>
        </p:spPr>
        <p:txBody>
          <a:bodyPr wrap="square" lIns="0" tIns="0" rIns="0" bIns="0" rtlCol="0" anchor="ctr"/>
          <a:lstStyle/>
          <a:p>
            <a:pPr marL="0" indent="0" algn="ctr">
              <a:buNone/>
            </a:pPr>
            <a:r>
              <a:rPr lang="en-US" sz="2400" b="1" dirty="0">
                <a:solidFill>
                  <a:srgbClr val="FF0000"/>
                </a:solidFill>
                <a:latin typeface="Arial" pitchFamily="34" charset="0"/>
                <a:ea typeface="Arial" pitchFamily="34" charset="-122"/>
                <a:cs typeface="Arial" pitchFamily="34" charset="-120"/>
              </a:rPr>
              <a:t>CONCLUSION</a:t>
            </a:r>
            <a:endParaRPr lang="en-US" sz="2400" dirty="0"/>
          </a:p>
        </p:txBody>
      </p:sp>
      <p:sp>
        <p:nvSpPr>
          <p:cNvPr id="3" name="Text 1"/>
          <p:cNvSpPr txBox="1"/>
          <p:nvPr/>
        </p:nvSpPr>
        <p:spPr>
          <a:xfrm>
            <a:off x="502920" y="1005840"/>
            <a:ext cx="8138160" cy="3657600"/>
          </a:xfrm>
          <a:prstGeom prst="rect">
            <a:avLst/>
          </a:prstGeom>
          <a:noFill/>
          <a:ln/>
        </p:spPr>
        <p:txBody>
          <a:bodyPr wrap="square" lIns="0" tIns="0" rIns="0" bIns="0" rtlCol="0" anchor="t"/>
          <a:lstStyle/>
          <a:p>
            <a:pPr marL="0" indent="0">
              <a:lnSpc>
                <a:spcPct val="110000"/>
              </a:lnSpc>
              <a:buNone/>
            </a:pPr>
            <a:r>
              <a:rPr lang="en-US" sz="1700" dirty="0">
                <a:solidFill>
                  <a:srgbClr val="000000"/>
                </a:solidFill>
                <a:latin typeface="Arial" pitchFamily="34" charset="0"/>
                <a:ea typeface="Arial" pitchFamily="34" charset="-122"/>
                <a:cs typeface="Arial" pitchFamily="34" charset="-120"/>
              </a:rPr>
              <a:t>The Online Shopping Purchase Prediction system provides a practical way to find out, in advance, whether a visitor is going to buy. Only about 15% of visits end in a purchase, so early prediction lets online stores act in time instead of showing the same offer to everyone. Product-page time, weekend visits (20% vs 14%), low bounce rate and returning visits are strong signals of buying. Logistic Regression, Decision Tree and Random Forest are compared on the UCI data across five clear modules, with SMOTE handling the class imbalance. The next step is to implement the models, judge them with recall and F1-score, and present a simple demo of the best model.</a:t>
            </a:r>
            <a:endParaRPr lang="en-US" sz="17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txBox="1"/>
          <p:nvPr/>
        </p:nvSpPr>
        <p:spPr>
          <a:xfrm>
            <a:off x="0" y="1920240"/>
            <a:ext cx="9144000" cy="1097280"/>
          </a:xfrm>
          <a:prstGeom prst="rect">
            <a:avLst/>
          </a:prstGeom>
          <a:noFill/>
          <a:ln/>
        </p:spPr>
        <p:txBody>
          <a:bodyPr wrap="square" rtlCol="0" anchor="ctr"/>
          <a:lstStyle/>
          <a:p>
            <a:pPr marL="0" indent="0" algn="ctr">
              <a:buNone/>
            </a:pPr>
            <a:r>
              <a:rPr lang="en-US" sz="3200" b="1" dirty="0">
                <a:solidFill>
                  <a:srgbClr val="000000"/>
                </a:solidFill>
                <a:latin typeface="Arial" pitchFamily="34" charset="0"/>
                <a:ea typeface="Arial" pitchFamily="34" charset="-122"/>
                <a:cs typeface="Arial" pitchFamily="34" charset="-120"/>
              </a:rPr>
              <a:t>THANK YOU</a:t>
            </a:r>
            <a:endParaRPr lang="en-US" sz="3200" dirty="0"/>
          </a:p>
        </p:txBody>
      </p:sp>
    </p:spTree>
  </p:cSld>
  <p:clrMapOvr>
    <a:masterClrMapping/>
  </p:clrMapOvr>
</p:sld>
</file>

<file path=ppt/theme/theme1.xml><?xml version="1.0" encoding="utf-8"?>
<a:theme xmlns:a="http://schemas.openxmlformats.org/drawingml/2006/main" name="KRCT Review">
  <a:themeElements>
    <a:clrScheme name="KRCT Review">
      <a:dk1>
        <a:srgbClr val="000000"/>
      </a:dk1>
      <a:lt1>
        <a:srgbClr val="FFFFFF"/>
      </a:lt1>
      <a:dk2>
        <a:srgbClr val="1F3864"/>
      </a:dk2>
      <a:lt2>
        <a:srgbClr val="FDE9D9"/>
      </a:lt2>
      <a:accent1>
        <a:srgbClr val="FF0000"/>
      </a:accent1>
      <a:accent2>
        <a:srgbClr val="F79646"/>
      </a:accent2>
      <a:accent3>
        <a:srgbClr val="104A9E"/>
      </a:accent3>
      <a:accent4>
        <a:srgbClr val="0097A7"/>
      </a:accent4>
      <a:accent5>
        <a:srgbClr val="4285F4"/>
      </a:accent5>
      <a:accent6>
        <a:srgbClr val="595959"/>
      </a:accent6>
      <a:hlink>
        <a:srgbClr val="0097A7"/>
      </a:hlink>
      <a:folHlink>
        <a:srgbClr val="595959"/>
      </a:folHlink>
    </a:clrScheme>
    <a:fontScheme name="KRCT Review">
      <a:majorFont>
        <a:latin typeface="Ari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rial"/>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15</Slides>
  <Notes>15</Notes>
  <HiddenSlides>0</HiddenSlides>
  <MMClips>0</MMClips>
  <ScaleCrop>false</ScaleCrop>
  <HeadingPairs>
    <vt:vector size="4" baseType="variant">
      <vt:variant>
        <vt:lpstr>Theme</vt:lpstr>
      </vt:variant>
      <vt:variant>
        <vt:i4>1</vt:i4>
      </vt:variant>
      <vt:variant>
        <vt:lpstr>Slide Titles</vt:lpstr>
      </vt:variant>
      <vt:variant>
        <vt:i4>15</vt:i4>
      </vt:variant>
    </vt:vector>
  </HeadingPairs>
  <TitlesOfParts>
    <vt:vector size="16" baseType="lpstr">
      <vt:lpstr>KRCT Review</vt:lpstr>
      <vt:lpstr>PowerPoint Presentation</vt:lpstr>
      <vt:lpstr>PRESENTATION OVERVIEW</vt:lpstr>
      <vt:lpstr>OBJECTIVE</vt:lpstr>
      <vt:lpstr>PROBLEM IDENTIFICATION</vt:lpstr>
      <vt:lpstr>FLOW DIAGRAM</vt:lpstr>
      <vt:lpstr>LITERATURE SURVEY</vt:lpstr>
      <vt:lpstr>LITERATURE SURVEY</vt:lpstr>
      <vt:lpstr>LITERATURE SURVEY</vt:lpstr>
      <vt:lpstr>RESEARCH METHODOLOGY</vt:lpstr>
      <vt:lpstr>ALGORITHM EXPLANATION</vt:lpstr>
      <vt:lpstr>COMPARE ALGORITHMS</vt:lpstr>
      <vt:lpstr>IMPLEMENTATION IDEA</vt:lpstr>
      <vt:lpstr>IDENTIFIED MODULES</vt:lpstr>
      <vt:lpstr>CONCLUSION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Online Shopping Purchase Prediction - CIA2 Review</dc:title>
  <dc:subject>PptxGenJS Presentation</dc:subject>
  <dc:creator>PptxGenJS</dc:creator>
  <cp:lastModifiedBy>Sree Vaishnavi V</cp:lastModifiedBy>
  <cp:revision>2</cp:revision>
  <dcterms:created xsi:type="dcterms:W3CDTF">2026-10-05T03:18:23Z</dcterms:created>
  <dcterms:modified xsi:type="dcterms:W3CDTF">2026-10-05T03:19:54Z</dcterms:modified>
</cp:coreProperties>
</file>